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embeddedFontLst>
    <p:embeddedFont>
      <p:font typeface="Atkinson Hyperlegible" panose="020B0604020202020204" charset="0"/>
      <p:regular r:id="rId27"/>
      <p:bold r:id="rId28"/>
      <p:italic r:id="rId29"/>
      <p:boldItalic r:id="rId30"/>
    </p:embeddedFont>
    <p:embeddedFont>
      <p:font typeface="Spectral" panose="020B0604020202020204" charset="0"/>
      <p:regular r:id="rId31"/>
      <p:bold r:id="rId32"/>
      <p:italic r:id="rId33"/>
      <p:boldItalic r:id="rId3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1" d="100"/>
          <a:sy n="101" d="100"/>
        </p:scale>
        <p:origin x="95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5042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Lezione 2: 50 minuti di teoria, 35 di pratica, 5 di diario. Nessun codice da scrivere: si discute, si guardano siti, si fissano le parole del corso.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Anticipare la domanda di fondo del corso: che cosa significa progettare, e non solo usare, uno strumento digitale.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Chiedere agli studenti quali strumenti digitali usano già per studiare.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Insistere sul fatto che non è una disciplina solo tecnica: la parte critica è altrettanto importante.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Busa, gesuita, è considerato il padre dell’informatica umanistica: un esempio italiano da valorizzare. Le date degli ultimi punti sono indicative.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Ognuna di queste attività è un modulo o una lezione del corso: fare il collegamento esplicito con il programma.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termine artifact viene sia dal lessico delle digital humanities sia da claude.ai, dove Scrinium è pubblicato.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Domanda per la classe: un catalogo può contenere una tesi? Sì: nella scelta di che cosa registrare e di che cosa collegare.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Mostrare anche la documentazione di Scrinium: il passo 5 è parte del lavoro quanto il codice.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Messaggio chiave del corso: l’IA può scrivere il codice, non può decidere al posto tuo che cosa conta in una collezione.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Risposta: tre per scrivere il sito, altri cinque per i dati, i testi, la grafica e la documentazione.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 bisogna padroneggiarli tutti: bisogna saper riconoscere ciascuno e sapere a che cosa serve.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distinzione aiuta a capire gli errori: un errore di markup rompe la struttura, un errore di programmazione rompe il comportamento.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Aprire ogni sito dal vivo: bastano due o tre minuti ciascuno.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Indirizzi: catalogo.beniculturali.it, europeana.eu, catalogo.fondazionezeri.unibo.it, perseus.tufts.edu, republicofletters.stanford.edu, voyant-tools.org. Verificarli prima della lezione.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Collegare alle scelte di Scrinium: un solo file, senza librerie esterne, dati esportabili in formati standard. Sono scelte di sostenibilità.</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È la parte di discussione: lasciare più spazio alle domande che alle slide.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Molti siti mostrano solo visualizzazioni: senza i dati non si può verificare né riusare.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Principi diffusi nella ricerca per i dati scientifici. Far valutare Scrinium: dove è FAIR e dove no (per esempio gli URI segnaposto).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servizio è ciò che rende i dati utili a qualcun altro, anche a un altro programma.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Esempio da Scrinium: la cronologia mostra oggetti e testi ma non dice nulla di ciò che non è stato catalogato. Il problema della scala si affronta nella lezione 12.</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pochi studenti, due o tre coppie possono presentare la loro scheda in due minuti; con classi numerose si salta la presentazione. Le schede entrano poi nel repository di ciascuno e possono diventare un materiale condiviso del corso.</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diario è stato presentato nella lezione 1: oggi la seconda riga, sulla collezione.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Chiedere di installare Visual Studio Code prima della lezione 3 e di creare l’account GitHub prima della lezione 5, con un nome utente che si possa mettere in un curriculum.</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CEEE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97" y="812797"/>
            <a:ext cx="10566362" cy="447064"/>
          </a:xfrm>
          <a:prstGeom prst="rect">
            <a:avLst/>
          </a:prstGeom>
          <a:noFill/>
          <a:ln/>
        </p:spPr>
        <p:txBody>
          <a:bodyPr wrap="square" lIns="0" tIns="0" rIns="0" bIns="0" rtlCol="0" anchor="t"/>
          <a:lstStyle>
            <a:lvl1pPr marL="0" indent="0" algn="l">
              <a:lnSpc>
                <a:spcPct val="115000"/>
              </a:lnSpc>
              <a:buNone/>
              <a:defRPr lang="en-US" sz="3200" dirty="0">
                <a:solidFill>
                  <a:srgbClr val="1D2420"/>
                </a:solidFill>
                <a:latin typeface="Spectral" pitchFamily="34" charset="0"/>
                <a:ea typeface="Spectral" pitchFamily="34" charset="-122"/>
                <a:cs typeface="Spectr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97" y="1564661"/>
            <a:ext cx="10566403" cy="4480539"/>
          </a:xfrm>
          <a:prstGeom prst="rect">
            <a:avLst/>
          </a:prstGeom>
          <a:noFill/>
          <a:ln/>
        </p:spPr>
        <p:txBody>
          <a:bodyPr wrap="square" lIns="0" tIns="0" rIns="0" bIns="0" rtlCol="0" anchor="t"/>
          <a:lstStyle>
            <a:lvl1pPr marL="0" indent="0" algn="l">
              <a:lnSpc>
                <a:spcPct val="140000"/>
              </a:lnSpc>
              <a:buNone/>
              <a:defRPr lang="en-US" sz="1600" dirty="0">
                <a:solidFill>
                  <a:srgbClr val="1D2420"/>
                </a:solidFill>
                <a:latin typeface="Atkinson Hyperlegible" pitchFamily="34" charset="0"/>
                <a:ea typeface="Atkinson Hyperlegible" pitchFamily="34" charset="-122"/>
                <a:cs typeface="Atkinson Hyperlegible"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CEEE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97" y="812797"/>
            <a:ext cx="10566362" cy="447064"/>
          </a:xfrm>
          <a:prstGeom prst="rect">
            <a:avLst/>
          </a:prstGeom>
          <a:noFill/>
          <a:ln/>
        </p:spPr>
        <p:txBody>
          <a:bodyPr wrap="square" lIns="0" tIns="0" rIns="0" bIns="0" rtlCol="0" anchor="t"/>
          <a:lstStyle>
            <a:lvl1pPr marL="0" indent="0" algn="l">
              <a:lnSpc>
                <a:spcPct val="115000"/>
              </a:lnSpc>
              <a:buNone/>
              <a:defRPr lang="en-US" sz="3200" dirty="0">
                <a:solidFill>
                  <a:srgbClr val="1D2420"/>
                </a:solidFill>
                <a:latin typeface="Spectral" pitchFamily="34" charset="0"/>
                <a:ea typeface="Spectral" pitchFamily="34" charset="-122"/>
                <a:cs typeface="Spectr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97" y="1564661"/>
            <a:ext cx="10566403" cy="4480539"/>
          </a:xfrm>
          <a:prstGeom prst="rect">
            <a:avLst/>
          </a:prstGeom>
          <a:noFill/>
          <a:ln/>
        </p:spPr>
        <p:txBody>
          <a:bodyPr wrap="square" lIns="0" tIns="0" rIns="0" bIns="0" rtlCol="0" anchor="t"/>
          <a:lstStyle>
            <a:lvl1pPr marL="0" indent="0" algn="l">
              <a:lnSpc>
                <a:spcPct val="140000"/>
              </a:lnSpc>
              <a:buNone/>
              <a:defRPr lang="en-US" sz="1600" dirty="0">
                <a:solidFill>
                  <a:srgbClr val="1D2420"/>
                </a:solidFill>
                <a:latin typeface="Atkinson Hyperlegible" pitchFamily="34" charset="0"/>
                <a:ea typeface="Atkinson Hyperlegible" pitchFamily="34" charset="-122"/>
                <a:cs typeface="Atkinson Hyperlegible"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francescatomasi1973.github.io/scrinium/scrinium-completo/"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2420"/>
        </a:solidFill>
        <a:effectLst/>
      </p:bgPr>
    </p:bg>
    <p:spTree>
      <p:nvGrpSpPr>
        <p:cNvPr id="1" name=""/>
        <p:cNvGrpSpPr/>
        <p:nvPr/>
      </p:nvGrpSpPr>
      <p:grpSpPr>
        <a:xfrm>
          <a:off x="0" y="0"/>
          <a:ext cx="0" cy="0"/>
          <a:chOff x="0" y="0"/>
          <a:chExt cx="0" cy="0"/>
        </a:xfrm>
      </p:grpSpPr>
      <p:sp>
        <p:nvSpPr>
          <p:cNvPr id="2" name="Text 0"/>
          <p:cNvSpPr/>
          <p:nvPr/>
        </p:nvSpPr>
        <p:spPr>
          <a:xfrm>
            <a:off x="812797" y="2309986"/>
            <a:ext cx="10883353" cy="309875"/>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1D57E"/>
                </a:solidFill>
                <a:latin typeface="Atkinson Hyperlegible" pitchFamily="34" charset="0"/>
                <a:ea typeface="Atkinson Hyperlegible" pitchFamily="34" charset="-122"/>
                <a:cs typeface="Atkinson Hyperlegible" pitchFamily="34" charset="-120"/>
              </a:rPr>
              <a:t>Informatica umanistica, modulo 0</a:t>
            </a:r>
            <a:endParaRPr lang="en-US" sz="1600" dirty="0"/>
          </a:p>
        </p:txBody>
      </p:sp>
      <p:sp>
        <p:nvSpPr>
          <p:cNvPr id="3" name="Text 1"/>
          <p:cNvSpPr>
            <a:spLocks noGrp="1"/>
          </p:cNvSpPr>
          <p:nvPr>
            <p:ph type="title"/>
          </p:nvPr>
        </p:nvSpPr>
        <p:spPr>
          <a:xfrm>
            <a:off x="812797" y="2797607"/>
            <a:ext cx="10883353" cy="683720"/>
          </a:xfrm>
          <a:prstGeom prst="rect">
            <a:avLst/>
          </a:prstGeom>
          <a:noFill/>
          <a:ln/>
        </p:spPr>
        <p:txBody>
          <a:bodyPr wrap="square" lIns="0" tIns="0" rIns="0" bIns="0" rtlCol="0" anchor="t">
            <a:normAutofit/>
          </a:bodyPr>
          <a:lstStyle/>
          <a:p>
            <a:pPr marL="0" indent="0" algn="l">
              <a:lnSpc>
                <a:spcPts val="5184"/>
              </a:lnSpc>
              <a:buNone/>
            </a:pPr>
            <a:r>
              <a:rPr lang="en-US" sz="4800" b="1" i="0" dirty="0">
                <a:solidFill>
                  <a:srgbClr val="E8ECE6"/>
                </a:solidFill>
                <a:latin typeface="Spectral" pitchFamily="18" charset="0"/>
                <a:ea typeface="Spectral" pitchFamily="18" charset="-122"/>
                <a:cs typeface="Spectral" pitchFamily="18" charset="-120"/>
              </a:rPr>
              <a:t>Che cos’è l’informatica umanistica</a:t>
            </a:r>
            <a:endParaRPr lang="en-US" sz="4800" dirty="0"/>
          </a:p>
        </p:txBody>
      </p:sp>
      <p:sp>
        <p:nvSpPr>
          <p:cNvPr id="4" name="Text 2"/>
          <p:cNvSpPr/>
          <p:nvPr/>
        </p:nvSpPr>
        <p:spPr>
          <a:xfrm>
            <a:off x="812797" y="3659072"/>
            <a:ext cx="8502650" cy="711096"/>
          </a:xfrm>
          <a:prstGeom prst="rect">
            <a:avLst/>
          </a:prstGeom>
          <a:noFill/>
          <a:ln/>
        </p:spPr>
        <p:txBody>
          <a:bodyPr wrap="square" lIns="0" tIns="0" rIns="0" bIns="0" rtlCol="0" anchor="t">
            <a:normAutofit/>
          </a:bodyPr>
          <a:lstStyle/>
          <a:p>
            <a:pPr marL="0" indent="0" algn="l">
              <a:lnSpc>
                <a:spcPts val="2700"/>
              </a:lnSpc>
              <a:buNone/>
            </a:pPr>
            <a:r>
              <a:rPr lang="en-US" sz="2000" i="1" dirty="0">
                <a:solidFill>
                  <a:srgbClr val="A9B3AD"/>
                </a:solidFill>
                <a:latin typeface="Spectral" pitchFamily="18" charset="0"/>
                <a:ea typeface="Spectral" pitchFamily="18" charset="-122"/>
                <a:cs typeface="Spectral" pitchFamily="18" charset="-120"/>
              </a:rPr>
              <a:t>Prima di scrivere codice: che cosa si costruisce, con quali linguaggi, per quali lettori.</a:t>
            </a:r>
            <a:endParaRPr lang="en-US" sz="2000" dirty="0"/>
          </a:p>
        </p:txBody>
      </p:sp>
      <p:sp>
        <p:nvSpPr>
          <p:cNvPr id="5" name="Text 3"/>
          <p:cNvSpPr/>
          <p:nvPr/>
        </p:nvSpPr>
        <p:spPr>
          <a:xfrm>
            <a:off x="812797" y="6238325"/>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3AD"/>
                </a:solidFill>
                <a:latin typeface="Atkinson Hyperlegible" pitchFamily="34" charset="0"/>
                <a:ea typeface="Atkinson Hyperlegible" pitchFamily="34" charset="-122"/>
                <a:cs typeface="Atkinson Hyperlegible" pitchFamily="34" charset="-120"/>
              </a:rPr>
              <a:t>Lezione 2, 2 ore. Caso di studio: il catalogo Scrinium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D2420"/>
        </a:solidFill>
        <a:effectLst/>
      </p:bgPr>
    </p:bg>
    <p:spTree>
      <p:nvGrpSpPr>
        <p:cNvPr id="1" name=""/>
        <p:cNvGrpSpPr/>
        <p:nvPr/>
      </p:nvGrpSpPr>
      <p:grpSpPr>
        <a:xfrm>
          <a:off x="0" y="0"/>
          <a:ext cx="0" cy="0"/>
          <a:chOff x="0" y="0"/>
          <a:chExt cx="0" cy="0"/>
        </a:xfrm>
      </p:grpSpPr>
      <p:sp>
        <p:nvSpPr>
          <p:cNvPr id="2" name="Text 0"/>
          <p:cNvSpPr/>
          <p:nvPr/>
        </p:nvSpPr>
        <p:spPr>
          <a:xfrm>
            <a:off x="812797" y="2326643"/>
            <a:ext cx="10883353" cy="309875"/>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1D57E"/>
                </a:solidFill>
                <a:latin typeface="Atkinson Hyperlegible" pitchFamily="34" charset="0"/>
                <a:ea typeface="Atkinson Hyperlegible" pitchFamily="34" charset="-122"/>
                <a:cs typeface="Atkinson Hyperlegible" pitchFamily="34" charset="-120"/>
              </a:rPr>
              <a:t>Obiettivo della lezione</a:t>
            </a:r>
            <a:endParaRPr lang="en-US" sz="1600" dirty="0"/>
          </a:p>
        </p:txBody>
      </p:sp>
      <p:sp>
        <p:nvSpPr>
          <p:cNvPr id="3" name="Text 1"/>
          <p:cNvSpPr/>
          <p:nvPr/>
        </p:nvSpPr>
        <p:spPr>
          <a:xfrm>
            <a:off x="812797" y="2865104"/>
            <a:ext cx="9810750" cy="1488478"/>
          </a:xfrm>
          <a:prstGeom prst="rect">
            <a:avLst/>
          </a:prstGeom>
          <a:noFill/>
          <a:ln/>
        </p:spPr>
        <p:txBody>
          <a:bodyPr wrap="square" lIns="0" tIns="0" rIns="0" bIns="0" rtlCol="0" anchor="t">
            <a:normAutofit/>
          </a:bodyPr>
          <a:lstStyle/>
          <a:p>
            <a:pPr marL="0" indent="0" algn="l">
              <a:lnSpc>
                <a:spcPts val="3840"/>
              </a:lnSpc>
              <a:buNone/>
            </a:pPr>
            <a:r>
              <a:rPr lang="en-US" sz="3200" dirty="0">
                <a:solidFill>
                  <a:srgbClr val="E8ECE6"/>
                </a:solidFill>
                <a:latin typeface="Spectral" pitchFamily="18" charset="0"/>
                <a:ea typeface="Spectral" pitchFamily="18" charset="-122"/>
                <a:cs typeface="Spectral" pitchFamily="18" charset="-120"/>
              </a:rPr>
              <a:t>Capire che cosa fa un umanista quando costruisce un oggetto digitale, e quali scelte restano sue anche quando il codice lo scrive una macchina.</a:t>
            </a:r>
            <a:endParaRPr lang="en-US" sz="3200" dirty="0"/>
          </a:p>
        </p:txBody>
      </p:sp>
      <p:sp>
        <p:nvSpPr>
          <p:cNvPr id="4" name="Text 2"/>
          <p:cNvSpPr/>
          <p:nvPr/>
        </p:nvSpPr>
        <p:spPr>
          <a:xfrm>
            <a:off x="812797" y="6238324"/>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3AD"/>
                </a:solidFill>
                <a:latin typeface="Atkinson Hyperlegible" pitchFamily="34" charset="0"/>
                <a:ea typeface="Atkinson Hyperlegible" pitchFamily="34" charset="-122"/>
                <a:cs typeface="Atkinson Hyperlegible" pitchFamily="34" charset="-120"/>
              </a:rPr>
              <a:t>Modulo 0, lezione 2: introduzione all’informatica umanistica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A685A"/>
        </a:solidFill>
        <a:effectLst/>
      </p:bgPr>
    </p:bg>
    <p:spTree>
      <p:nvGrpSpPr>
        <p:cNvPr id="1" name=""/>
        <p:cNvGrpSpPr/>
        <p:nvPr/>
      </p:nvGrpSpPr>
      <p:grpSpPr>
        <a:xfrm>
          <a:off x="0" y="0"/>
          <a:ext cx="0" cy="0"/>
          <a:chOff x="0" y="0"/>
          <a:chExt cx="0" cy="0"/>
        </a:xfrm>
      </p:grpSpPr>
      <p:sp>
        <p:nvSpPr>
          <p:cNvPr id="2" name="Text 0"/>
          <p:cNvSpPr/>
          <p:nvPr/>
        </p:nvSpPr>
        <p:spPr>
          <a:xfrm>
            <a:off x="812797" y="2481410"/>
            <a:ext cx="10883353" cy="309875"/>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1D57E"/>
                </a:solidFill>
                <a:latin typeface="Atkinson Hyperlegible" pitchFamily="34" charset="0"/>
                <a:ea typeface="Atkinson Hyperlegible" pitchFamily="34" charset="-122"/>
                <a:cs typeface="Atkinson Hyperlegible" pitchFamily="34" charset="-120"/>
              </a:rPr>
              <a:t>Parte 1</a:t>
            </a:r>
            <a:endParaRPr lang="en-US" sz="1600" dirty="0"/>
          </a:p>
        </p:txBody>
      </p:sp>
      <p:sp>
        <p:nvSpPr>
          <p:cNvPr id="3" name="Text 1"/>
          <p:cNvSpPr>
            <a:spLocks noGrp="1"/>
          </p:cNvSpPr>
          <p:nvPr>
            <p:ph type="title"/>
          </p:nvPr>
        </p:nvSpPr>
        <p:spPr>
          <a:xfrm>
            <a:off x="812797" y="2969030"/>
            <a:ext cx="10883353" cy="683720"/>
          </a:xfrm>
          <a:prstGeom prst="rect">
            <a:avLst/>
          </a:prstGeom>
          <a:noFill/>
          <a:ln/>
        </p:spPr>
        <p:txBody>
          <a:bodyPr wrap="square" lIns="0" tIns="0" rIns="0" bIns="0" rtlCol="0" anchor="t">
            <a:normAutofit/>
          </a:bodyPr>
          <a:lstStyle/>
          <a:p>
            <a:pPr marL="0" indent="0" algn="l">
              <a:lnSpc>
                <a:spcPts val="5184"/>
              </a:lnSpc>
              <a:buNone/>
            </a:pPr>
            <a:r>
              <a:rPr lang="en-US" sz="4800" b="1" i="0" dirty="0">
                <a:solidFill>
                  <a:srgbClr val="F3F5F1"/>
                </a:solidFill>
                <a:latin typeface="Spectral" pitchFamily="18" charset="0"/>
                <a:ea typeface="Spectral" pitchFamily="18" charset="-122"/>
                <a:cs typeface="Spectral" pitchFamily="18" charset="-120"/>
              </a:rPr>
              <a:t>Informatica umanistica</a:t>
            </a:r>
            <a:endParaRPr lang="en-US" sz="4800" dirty="0"/>
          </a:p>
        </p:txBody>
      </p:sp>
      <p:sp>
        <p:nvSpPr>
          <p:cNvPr id="4" name="Text 2"/>
          <p:cNvSpPr/>
          <p:nvPr/>
        </p:nvSpPr>
        <p:spPr>
          <a:xfrm>
            <a:off x="812797" y="3830495"/>
            <a:ext cx="9906000" cy="368248"/>
          </a:xfrm>
          <a:prstGeom prst="rect">
            <a:avLst/>
          </a:prstGeom>
          <a:noFill/>
          <a:ln/>
        </p:spPr>
        <p:txBody>
          <a:bodyPr wrap="square" lIns="0" tIns="0" rIns="0" bIns="0" rtlCol="0" anchor="t">
            <a:normAutofit/>
          </a:bodyPr>
          <a:lstStyle/>
          <a:p>
            <a:pPr marL="0" indent="0" algn="l">
              <a:lnSpc>
                <a:spcPts val="2700"/>
              </a:lnSpc>
              <a:buNone/>
            </a:pPr>
            <a:r>
              <a:rPr lang="en-US" sz="2000" i="1" dirty="0">
                <a:solidFill>
                  <a:srgbClr val="D3E3DD"/>
                </a:solidFill>
                <a:latin typeface="Spectral" pitchFamily="18" charset="0"/>
                <a:ea typeface="Spectral" pitchFamily="18" charset="-122"/>
                <a:cs typeface="Spectral" pitchFamily="18" charset="-120"/>
              </a:rPr>
              <a:t>Una disciplina, due direzioni: che cosa ci fanno i computer nelle scienze umane?</a:t>
            </a:r>
            <a:endParaRPr lang="en-US" sz="2000" dirty="0"/>
          </a:p>
        </p:txBody>
      </p:sp>
      <p:sp>
        <p:nvSpPr>
          <p:cNvPr id="5" name="Text 3"/>
          <p:cNvSpPr/>
          <p:nvPr/>
        </p:nvSpPr>
        <p:spPr>
          <a:xfrm>
            <a:off x="812797" y="6238325"/>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3AD"/>
                </a:solidFill>
                <a:latin typeface="Atkinson Hyperlegible" pitchFamily="34" charset="0"/>
                <a:ea typeface="Atkinson Hyperlegible" pitchFamily="34" charset="-122"/>
                <a:cs typeface="Atkinson Hyperlegible" pitchFamily="34" charset="-120"/>
              </a:rPr>
              <a:t>Modulo 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CEEE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97" y="812797"/>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Due direzioni di uno stesso campo</a:t>
            </a:r>
            <a:endParaRPr lang="en-US" sz="3200" dirty="0"/>
          </a:p>
        </p:txBody>
      </p:sp>
      <p:sp>
        <p:nvSpPr>
          <p:cNvPr id="3" name="Shape 1"/>
          <p:cNvSpPr/>
          <p:nvPr/>
        </p:nvSpPr>
        <p:spPr>
          <a:xfrm>
            <a:off x="815972" y="1567790"/>
            <a:ext cx="5149838" cy="2156619"/>
          </a:xfrm>
          <a:prstGeom prst="roundRect">
            <a:avLst>
              <a:gd name="adj" fmla="val 3386"/>
            </a:avLst>
          </a:prstGeom>
          <a:solidFill>
            <a:srgbClr val="F8F9F6"/>
          </a:solidFill>
          <a:ln w="6350">
            <a:solidFill>
              <a:srgbClr val="C6CDC6"/>
            </a:solidFill>
            <a:prstDash val="solid"/>
          </a:ln>
        </p:spPr>
        <p:txBody>
          <a:bodyPr/>
          <a:lstStyle/>
          <a:p>
            <a:endParaRPr lang="it-IT"/>
          </a:p>
        </p:txBody>
      </p:sp>
      <p:sp>
        <p:nvSpPr>
          <p:cNvPr id="4" name="Text 2"/>
          <p:cNvSpPr/>
          <p:nvPr/>
        </p:nvSpPr>
        <p:spPr>
          <a:xfrm>
            <a:off x="1045997" y="1797814"/>
            <a:ext cx="4830481"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A685A"/>
                </a:solidFill>
                <a:latin typeface="Atkinson Hyperlegible" pitchFamily="34" charset="0"/>
                <a:ea typeface="Atkinson Hyperlegible" pitchFamily="34" charset="-122"/>
                <a:cs typeface="Atkinson Hyperlegible" pitchFamily="34" charset="-120"/>
              </a:rPr>
              <a:t>Strumenti</a:t>
            </a:r>
            <a:endParaRPr lang="en-US" sz="1200" dirty="0"/>
          </a:p>
        </p:txBody>
      </p:sp>
      <p:sp>
        <p:nvSpPr>
          <p:cNvPr id="5" name="Text 3"/>
          <p:cNvSpPr/>
          <p:nvPr/>
        </p:nvSpPr>
        <p:spPr>
          <a:xfrm>
            <a:off x="1045997" y="2087287"/>
            <a:ext cx="4830481" cy="609559"/>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Il computer al servizio delle domande umanistiche</a:t>
            </a:r>
            <a:endParaRPr lang="en-US" sz="2000" dirty="0"/>
          </a:p>
        </p:txBody>
      </p:sp>
      <p:sp>
        <p:nvSpPr>
          <p:cNvPr id="6" name="Text 4"/>
          <p:cNvSpPr/>
          <p:nvPr/>
        </p:nvSpPr>
        <p:spPr>
          <a:xfrm>
            <a:off x="1045997" y="2747635"/>
            <a:ext cx="4830481" cy="77214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Digitalizzare, codificare, cercare, contare, confrontare: strumenti nuovi per domande antiche su testi, oggetti, documenti.</a:t>
            </a:r>
            <a:endParaRPr lang="en-US" sz="1400" dirty="0"/>
          </a:p>
        </p:txBody>
      </p:sp>
      <p:sp>
        <p:nvSpPr>
          <p:cNvPr id="7" name="Shape 5"/>
          <p:cNvSpPr/>
          <p:nvPr/>
        </p:nvSpPr>
        <p:spPr>
          <a:xfrm>
            <a:off x="6226146" y="1567790"/>
            <a:ext cx="5149838" cy="2156619"/>
          </a:xfrm>
          <a:prstGeom prst="roundRect">
            <a:avLst>
              <a:gd name="adj" fmla="val 3386"/>
            </a:avLst>
          </a:prstGeom>
          <a:solidFill>
            <a:srgbClr val="F8F9F6"/>
          </a:solidFill>
          <a:ln w="6350">
            <a:solidFill>
              <a:srgbClr val="C6CDC6"/>
            </a:solidFill>
            <a:prstDash val="solid"/>
          </a:ln>
        </p:spPr>
        <p:txBody>
          <a:bodyPr/>
          <a:lstStyle/>
          <a:p>
            <a:endParaRPr lang="it-IT"/>
          </a:p>
        </p:txBody>
      </p:sp>
      <p:sp>
        <p:nvSpPr>
          <p:cNvPr id="8" name="Text 6"/>
          <p:cNvSpPr/>
          <p:nvPr/>
        </p:nvSpPr>
        <p:spPr>
          <a:xfrm>
            <a:off x="6456171" y="1797814"/>
            <a:ext cx="4830481"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4889"/>
                </a:solidFill>
                <a:latin typeface="Atkinson Hyperlegible" pitchFamily="34" charset="0"/>
                <a:ea typeface="Atkinson Hyperlegible" pitchFamily="34" charset="-122"/>
                <a:cs typeface="Atkinson Hyperlegible" pitchFamily="34" charset="-120"/>
              </a:rPr>
              <a:t>Riflessione</a:t>
            </a:r>
            <a:endParaRPr lang="en-US" sz="1200" dirty="0"/>
          </a:p>
        </p:txBody>
      </p:sp>
      <p:sp>
        <p:nvSpPr>
          <p:cNvPr id="9" name="Text 7"/>
          <p:cNvSpPr/>
          <p:nvPr/>
        </p:nvSpPr>
        <p:spPr>
          <a:xfrm>
            <a:off x="6456171" y="2087287"/>
            <a:ext cx="4830481"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Le domande umanistiche sul digitale</a:t>
            </a:r>
            <a:endParaRPr lang="en-US" sz="2000" dirty="0"/>
          </a:p>
        </p:txBody>
      </p:sp>
      <p:sp>
        <p:nvSpPr>
          <p:cNvPr id="10" name="Text 8"/>
          <p:cNvSpPr/>
          <p:nvPr/>
        </p:nvSpPr>
        <p:spPr>
          <a:xfrm>
            <a:off x="6456171" y="2455556"/>
            <a:ext cx="4830481" cy="77214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Che cosa cambia quando un testo diventa dato? Chi decide come si descrive una collezione? Che cosa resta fuori da un catalogo?</a:t>
            </a:r>
            <a:endParaRPr lang="en-US" sz="1400" dirty="0"/>
          </a:p>
        </p:txBody>
      </p:sp>
      <p:sp>
        <p:nvSpPr>
          <p:cNvPr id="11" name="Text 9"/>
          <p:cNvSpPr/>
          <p:nvPr/>
        </p:nvSpPr>
        <p:spPr>
          <a:xfrm>
            <a:off x="812797" y="4032337"/>
            <a:ext cx="10883353" cy="59435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6605B"/>
                </a:solidFill>
                <a:latin typeface="Atkinson Hyperlegible" pitchFamily="34" charset="0"/>
                <a:ea typeface="Atkinson Hyperlegible" pitchFamily="34" charset="-122"/>
                <a:cs typeface="Atkinson Hyperlegible" pitchFamily="34" charset="-120"/>
              </a:rPr>
              <a:t>In Italia si parla di </a:t>
            </a:r>
            <a:r>
              <a:rPr lang="en-US" sz="1600" b="1" dirty="0">
                <a:solidFill>
                  <a:srgbClr val="56605B"/>
                </a:solidFill>
                <a:latin typeface="Atkinson Hyperlegible" pitchFamily="34" charset="0"/>
                <a:ea typeface="Atkinson Hyperlegible" pitchFamily="34" charset="-122"/>
                <a:cs typeface="Atkinson Hyperlegible" pitchFamily="34" charset="-120"/>
              </a:rPr>
              <a:t>informatica umanistica</a:t>
            </a:r>
            <a:r>
              <a:rPr lang="en-US" sz="1600" dirty="0">
                <a:solidFill>
                  <a:srgbClr val="56605B"/>
                </a:solidFill>
                <a:latin typeface="Atkinson Hyperlegible" pitchFamily="34" charset="0"/>
                <a:ea typeface="Atkinson Hyperlegible" pitchFamily="34" charset="-122"/>
                <a:cs typeface="Atkinson Hyperlegible" pitchFamily="34" charset="-120"/>
              </a:rPr>
              <a:t>; nel mondo anglofono di </a:t>
            </a:r>
            <a:r>
              <a:rPr lang="en-US" sz="1600" b="1" dirty="0">
                <a:solidFill>
                  <a:srgbClr val="56605B"/>
                </a:solidFill>
                <a:latin typeface="Atkinson Hyperlegible" pitchFamily="34" charset="0"/>
                <a:ea typeface="Atkinson Hyperlegible" pitchFamily="34" charset="-122"/>
                <a:cs typeface="Atkinson Hyperlegible" pitchFamily="34" charset="-120"/>
              </a:rPr>
              <a:t>digital humanities</a:t>
            </a:r>
            <a:r>
              <a:rPr lang="en-US" sz="1600" dirty="0">
                <a:solidFill>
                  <a:srgbClr val="56605B"/>
                </a:solidFill>
                <a:latin typeface="Atkinson Hyperlegible" pitchFamily="34" charset="0"/>
                <a:ea typeface="Atkinson Hyperlegible" pitchFamily="34" charset="-122"/>
                <a:cs typeface="Atkinson Hyperlegible" pitchFamily="34" charset="-120"/>
              </a:rPr>
              <a:t>. Il corso tiene insieme le due direzioni.</a:t>
            </a:r>
            <a:endParaRPr lang="en-US" sz="1600" dirty="0"/>
          </a:p>
        </p:txBody>
      </p:sp>
      <p:sp>
        <p:nvSpPr>
          <p:cNvPr id="12" name="Text 10"/>
          <p:cNvSpPr/>
          <p:nvPr/>
        </p:nvSpPr>
        <p:spPr>
          <a:xfrm>
            <a:off x="812797" y="6238323"/>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Modulo 0, lezione 2: introduzione all’informatica umanistica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EE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97" y="812797"/>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Una storia breve</a:t>
            </a:r>
            <a:endParaRPr lang="en-US" sz="3200" dirty="0"/>
          </a:p>
        </p:txBody>
      </p:sp>
      <p:sp>
        <p:nvSpPr>
          <p:cNvPr id="3" name="Shape 1"/>
          <p:cNvSpPr/>
          <p:nvPr/>
        </p:nvSpPr>
        <p:spPr>
          <a:xfrm>
            <a:off x="812797" y="1583665"/>
            <a:ext cx="1634068" cy="0"/>
          </a:xfrm>
          <a:prstGeom prst="line">
            <a:avLst/>
          </a:prstGeom>
          <a:noFill/>
          <a:ln w="38100">
            <a:solidFill>
              <a:srgbClr val="2A685A"/>
            </a:solidFill>
            <a:prstDash val="solid"/>
          </a:ln>
        </p:spPr>
        <p:txBody>
          <a:bodyPr/>
          <a:lstStyle/>
          <a:p>
            <a:endParaRPr lang="it-IT"/>
          </a:p>
        </p:txBody>
      </p:sp>
      <p:sp>
        <p:nvSpPr>
          <p:cNvPr id="4" name="Text 2"/>
          <p:cNvSpPr/>
          <p:nvPr/>
        </p:nvSpPr>
        <p:spPr>
          <a:xfrm>
            <a:off x="812797" y="1728651"/>
            <a:ext cx="1684868" cy="380922"/>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A685A"/>
                </a:solidFill>
                <a:latin typeface="Spectral" pitchFamily="18" charset="0"/>
                <a:ea typeface="Spectral" pitchFamily="18" charset="-122"/>
                <a:cs typeface="Spectral" pitchFamily="18" charset="-120"/>
              </a:rPr>
              <a:t>1949</a:t>
            </a:r>
            <a:endParaRPr lang="en-US" sz="2000" dirty="0"/>
          </a:p>
        </p:txBody>
      </p:sp>
      <p:sp>
        <p:nvSpPr>
          <p:cNvPr id="5" name="Text 3"/>
          <p:cNvSpPr/>
          <p:nvPr/>
        </p:nvSpPr>
        <p:spPr>
          <a:xfrm>
            <a:off x="812797" y="2160361"/>
            <a:ext cx="1684868" cy="1518896"/>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Roberto Busa avvia con IBM l’Index Thomisticus, il lessico delle opere di Tommaso d’Aquino.</a:t>
            </a:r>
            <a:endParaRPr lang="en-US" sz="1400" dirty="0"/>
          </a:p>
        </p:txBody>
      </p:sp>
      <p:sp>
        <p:nvSpPr>
          <p:cNvPr id="6" name="Shape 4"/>
          <p:cNvSpPr/>
          <p:nvPr/>
        </p:nvSpPr>
        <p:spPr>
          <a:xfrm>
            <a:off x="2599242" y="1583665"/>
            <a:ext cx="1634140" cy="0"/>
          </a:xfrm>
          <a:prstGeom prst="line">
            <a:avLst/>
          </a:prstGeom>
          <a:noFill/>
          <a:ln w="38100">
            <a:solidFill>
              <a:srgbClr val="2D4889"/>
            </a:solidFill>
            <a:prstDash val="solid"/>
          </a:ln>
        </p:spPr>
        <p:txBody>
          <a:bodyPr/>
          <a:lstStyle/>
          <a:p>
            <a:endParaRPr lang="it-IT"/>
          </a:p>
        </p:txBody>
      </p:sp>
      <p:sp>
        <p:nvSpPr>
          <p:cNvPr id="7" name="Text 5"/>
          <p:cNvSpPr/>
          <p:nvPr/>
        </p:nvSpPr>
        <p:spPr>
          <a:xfrm>
            <a:off x="2599242" y="1728651"/>
            <a:ext cx="1684940" cy="380922"/>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D4889"/>
                </a:solidFill>
                <a:latin typeface="Spectral" pitchFamily="18" charset="0"/>
                <a:ea typeface="Spectral" pitchFamily="18" charset="-122"/>
                <a:cs typeface="Spectral" pitchFamily="18" charset="-120"/>
              </a:rPr>
              <a:t>1987</a:t>
            </a:r>
            <a:endParaRPr lang="en-US" sz="2000" dirty="0"/>
          </a:p>
        </p:txBody>
      </p:sp>
      <p:sp>
        <p:nvSpPr>
          <p:cNvPr id="8" name="Text 6"/>
          <p:cNvSpPr/>
          <p:nvPr/>
        </p:nvSpPr>
        <p:spPr>
          <a:xfrm>
            <a:off x="2599242" y="2160361"/>
            <a:ext cx="1684940" cy="102106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Nasce la Text Encoding Initiative: regole comuni per codificare i testi.</a:t>
            </a:r>
            <a:endParaRPr lang="en-US" sz="1400" dirty="0"/>
          </a:p>
        </p:txBody>
      </p:sp>
      <p:sp>
        <p:nvSpPr>
          <p:cNvPr id="9" name="Shape 7"/>
          <p:cNvSpPr/>
          <p:nvPr/>
        </p:nvSpPr>
        <p:spPr>
          <a:xfrm>
            <a:off x="4385758" y="1583665"/>
            <a:ext cx="1634068" cy="0"/>
          </a:xfrm>
          <a:prstGeom prst="line">
            <a:avLst/>
          </a:prstGeom>
          <a:noFill/>
          <a:ln w="38100">
            <a:solidFill>
              <a:srgbClr val="7A560E"/>
            </a:solidFill>
            <a:prstDash val="solid"/>
          </a:ln>
        </p:spPr>
        <p:txBody>
          <a:bodyPr/>
          <a:lstStyle/>
          <a:p>
            <a:endParaRPr lang="it-IT"/>
          </a:p>
        </p:txBody>
      </p:sp>
      <p:sp>
        <p:nvSpPr>
          <p:cNvPr id="10" name="Text 8"/>
          <p:cNvSpPr/>
          <p:nvPr/>
        </p:nvSpPr>
        <p:spPr>
          <a:xfrm>
            <a:off x="4385758" y="1728651"/>
            <a:ext cx="1684868" cy="380922"/>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7A560E"/>
                </a:solidFill>
                <a:latin typeface="Spectral" pitchFamily="18" charset="0"/>
                <a:ea typeface="Spectral" pitchFamily="18" charset="-122"/>
                <a:cs typeface="Spectral" pitchFamily="18" charset="-120"/>
              </a:rPr>
              <a:t>Anni ’90</a:t>
            </a:r>
            <a:endParaRPr lang="en-US" sz="2000" dirty="0"/>
          </a:p>
        </p:txBody>
      </p:sp>
      <p:sp>
        <p:nvSpPr>
          <p:cNvPr id="11" name="Text 9"/>
          <p:cNvSpPr/>
          <p:nvPr/>
        </p:nvSpPr>
        <p:spPr>
          <a:xfrm>
            <a:off x="4385758" y="2160361"/>
            <a:ext cx="1684868" cy="77214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Il web: biblioteche digitali, archivi e cataloghi online.</a:t>
            </a:r>
            <a:endParaRPr lang="en-US" sz="1400" dirty="0"/>
          </a:p>
        </p:txBody>
      </p:sp>
      <p:sp>
        <p:nvSpPr>
          <p:cNvPr id="12" name="Shape 10"/>
          <p:cNvSpPr/>
          <p:nvPr/>
        </p:nvSpPr>
        <p:spPr>
          <a:xfrm>
            <a:off x="6172203" y="1583665"/>
            <a:ext cx="1634068" cy="0"/>
          </a:xfrm>
          <a:prstGeom prst="line">
            <a:avLst/>
          </a:prstGeom>
          <a:noFill/>
          <a:ln w="38100">
            <a:solidFill>
              <a:srgbClr val="8A3849"/>
            </a:solidFill>
            <a:prstDash val="solid"/>
          </a:ln>
        </p:spPr>
        <p:txBody>
          <a:bodyPr/>
          <a:lstStyle/>
          <a:p>
            <a:endParaRPr lang="it-IT"/>
          </a:p>
        </p:txBody>
      </p:sp>
      <p:sp>
        <p:nvSpPr>
          <p:cNvPr id="13" name="Text 11"/>
          <p:cNvSpPr/>
          <p:nvPr/>
        </p:nvSpPr>
        <p:spPr>
          <a:xfrm>
            <a:off x="6172203" y="1728651"/>
            <a:ext cx="1684868" cy="380922"/>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8A3849"/>
                </a:solidFill>
                <a:latin typeface="Spectral" pitchFamily="18" charset="0"/>
                <a:ea typeface="Spectral" pitchFamily="18" charset="-122"/>
                <a:cs typeface="Spectral" pitchFamily="18" charset="-120"/>
              </a:rPr>
              <a:t>Anni 2000</a:t>
            </a:r>
            <a:endParaRPr lang="en-US" sz="2000" dirty="0"/>
          </a:p>
        </p:txBody>
      </p:sp>
      <p:sp>
        <p:nvSpPr>
          <p:cNvPr id="14" name="Text 12"/>
          <p:cNvSpPr/>
          <p:nvPr/>
        </p:nvSpPr>
        <p:spPr>
          <a:xfrm>
            <a:off x="6172203" y="2160361"/>
            <a:ext cx="1684868" cy="77214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Si diffonde l’espressione digital humanities.</a:t>
            </a:r>
            <a:endParaRPr lang="en-US" sz="1400" dirty="0"/>
          </a:p>
        </p:txBody>
      </p:sp>
      <p:sp>
        <p:nvSpPr>
          <p:cNvPr id="15" name="Shape 13"/>
          <p:cNvSpPr/>
          <p:nvPr/>
        </p:nvSpPr>
        <p:spPr>
          <a:xfrm>
            <a:off x="7958648" y="1583665"/>
            <a:ext cx="1634068" cy="0"/>
          </a:xfrm>
          <a:prstGeom prst="line">
            <a:avLst/>
          </a:prstGeom>
          <a:noFill/>
          <a:ln w="38100">
            <a:solidFill>
              <a:srgbClr val="2A685A"/>
            </a:solidFill>
            <a:prstDash val="solid"/>
          </a:ln>
        </p:spPr>
        <p:txBody>
          <a:bodyPr/>
          <a:lstStyle/>
          <a:p>
            <a:endParaRPr lang="it-IT"/>
          </a:p>
        </p:txBody>
      </p:sp>
      <p:sp>
        <p:nvSpPr>
          <p:cNvPr id="16" name="Text 14"/>
          <p:cNvSpPr/>
          <p:nvPr/>
        </p:nvSpPr>
        <p:spPr>
          <a:xfrm>
            <a:off x="7958648" y="1728651"/>
            <a:ext cx="1684868" cy="380922"/>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A685A"/>
                </a:solidFill>
                <a:latin typeface="Spectral" pitchFamily="18" charset="0"/>
                <a:ea typeface="Spectral" pitchFamily="18" charset="-122"/>
                <a:cs typeface="Spectral" pitchFamily="18" charset="-120"/>
              </a:rPr>
              <a:t>Anni 2010</a:t>
            </a:r>
            <a:endParaRPr lang="en-US" sz="2000" dirty="0"/>
          </a:p>
        </p:txBody>
      </p:sp>
      <p:sp>
        <p:nvSpPr>
          <p:cNvPr id="17" name="Text 15"/>
          <p:cNvSpPr/>
          <p:nvPr/>
        </p:nvSpPr>
        <p:spPr>
          <a:xfrm>
            <a:off x="7958648" y="2160361"/>
            <a:ext cx="1684868" cy="77214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Linked Open Data e immagini interoperabili IIIF.</a:t>
            </a:r>
            <a:endParaRPr lang="en-US" sz="1400" dirty="0"/>
          </a:p>
        </p:txBody>
      </p:sp>
      <p:sp>
        <p:nvSpPr>
          <p:cNvPr id="18" name="Shape 16"/>
          <p:cNvSpPr/>
          <p:nvPr/>
        </p:nvSpPr>
        <p:spPr>
          <a:xfrm>
            <a:off x="9745092" y="1583665"/>
            <a:ext cx="1634068" cy="0"/>
          </a:xfrm>
          <a:prstGeom prst="line">
            <a:avLst/>
          </a:prstGeom>
          <a:noFill/>
          <a:ln w="38100">
            <a:solidFill>
              <a:srgbClr val="2D4889"/>
            </a:solidFill>
            <a:prstDash val="solid"/>
          </a:ln>
        </p:spPr>
        <p:txBody>
          <a:bodyPr/>
          <a:lstStyle/>
          <a:p>
            <a:endParaRPr lang="it-IT"/>
          </a:p>
        </p:txBody>
      </p:sp>
      <p:sp>
        <p:nvSpPr>
          <p:cNvPr id="19" name="Text 17"/>
          <p:cNvSpPr/>
          <p:nvPr/>
        </p:nvSpPr>
        <p:spPr>
          <a:xfrm>
            <a:off x="9745092" y="1728651"/>
            <a:ext cx="1684868" cy="380922"/>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D4889"/>
                </a:solidFill>
                <a:latin typeface="Spectral" pitchFamily="18" charset="0"/>
                <a:ea typeface="Spectral" pitchFamily="18" charset="-122"/>
                <a:cs typeface="Spectral" pitchFamily="18" charset="-120"/>
              </a:rPr>
              <a:t>Oggi</a:t>
            </a:r>
            <a:endParaRPr lang="en-US" sz="2000" dirty="0"/>
          </a:p>
        </p:txBody>
      </p:sp>
      <p:sp>
        <p:nvSpPr>
          <p:cNvPr id="20" name="Text 18"/>
          <p:cNvSpPr/>
          <p:nvPr/>
        </p:nvSpPr>
        <p:spPr>
          <a:xfrm>
            <a:off x="9745092" y="2160361"/>
            <a:ext cx="1684868" cy="77214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L’intelligenza artificiale scrive codice e legge testi.</a:t>
            </a:r>
            <a:endParaRPr lang="en-US" sz="1400" dirty="0"/>
          </a:p>
        </p:txBody>
      </p:sp>
      <p:sp>
        <p:nvSpPr>
          <p:cNvPr id="21" name="Text 19"/>
          <p:cNvSpPr/>
          <p:nvPr/>
        </p:nvSpPr>
        <p:spPr>
          <a:xfrm>
            <a:off x="812797" y="6238323"/>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Modulo 0, lezione 2: introduzione all’informatica umanistica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CEEE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97" y="812797"/>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Che cosa si fa, in pratica</a:t>
            </a:r>
            <a:endParaRPr lang="en-US" sz="3200" dirty="0"/>
          </a:p>
        </p:txBody>
      </p:sp>
      <p:sp>
        <p:nvSpPr>
          <p:cNvPr id="3" name="Shape 1"/>
          <p:cNvSpPr/>
          <p:nvPr/>
        </p:nvSpPr>
        <p:spPr>
          <a:xfrm>
            <a:off x="815972" y="1567790"/>
            <a:ext cx="3414162" cy="1326151"/>
          </a:xfrm>
          <a:prstGeom prst="roundRect">
            <a:avLst>
              <a:gd name="adj" fmla="val 5507"/>
            </a:avLst>
          </a:prstGeom>
          <a:solidFill>
            <a:srgbClr val="F8F9F6"/>
          </a:solidFill>
          <a:ln w="6350">
            <a:solidFill>
              <a:srgbClr val="C6CDC6"/>
            </a:solidFill>
            <a:prstDash val="solid"/>
          </a:ln>
        </p:spPr>
        <p:txBody>
          <a:bodyPr/>
          <a:lstStyle/>
          <a:p>
            <a:endParaRPr lang="it-IT"/>
          </a:p>
        </p:txBody>
      </p:sp>
      <p:sp>
        <p:nvSpPr>
          <p:cNvPr id="4" name="Text 2"/>
          <p:cNvSpPr/>
          <p:nvPr/>
        </p:nvSpPr>
        <p:spPr>
          <a:xfrm>
            <a:off x="1045997" y="1797816"/>
            <a:ext cx="3042735"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Digitalizzare</a:t>
            </a:r>
            <a:endParaRPr lang="en-US" sz="2000" dirty="0"/>
          </a:p>
        </p:txBody>
      </p:sp>
      <p:sp>
        <p:nvSpPr>
          <p:cNvPr id="5" name="Text 3"/>
          <p:cNvSpPr/>
          <p:nvPr/>
        </p:nvSpPr>
        <p:spPr>
          <a:xfrm>
            <a:off x="1045997" y="2166085"/>
            <a:ext cx="3042735" cy="52323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Trasformare documenti e oggetti in immagini e testi.</a:t>
            </a:r>
            <a:endParaRPr lang="en-US" sz="1400" dirty="0"/>
          </a:p>
        </p:txBody>
      </p:sp>
      <p:sp>
        <p:nvSpPr>
          <p:cNvPr id="6" name="Shape 4"/>
          <p:cNvSpPr/>
          <p:nvPr/>
        </p:nvSpPr>
        <p:spPr>
          <a:xfrm>
            <a:off x="4388861" y="1567790"/>
            <a:ext cx="3414162" cy="1326151"/>
          </a:xfrm>
          <a:prstGeom prst="roundRect">
            <a:avLst>
              <a:gd name="adj" fmla="val 5507"/>
            </a:avLst>
          </a:prstGeom>
          <a:solidFill>
            <a:srgbClr val="F8F9F6"/>
          </a:solidFill>
          <a:ln w="6350">
            <a:solidFill>
              <a:srgbClr val="C6CDC6"/>
            </a:solidFill>
            <a:prstDash val="solid"/>
          </a:ln>
        </p:spPr>
        <p:txBody>
          <a:bodyPr/>
          <a:lstStyle/>
          <a:p>
            <a:endParaRPr lang="it-IT"/>
          </a:p>
        </p:txBody>
      </p:sp>
      <p:sp>
        <p:nvSpPr>
          <p:cNvPr id="7" name="Text 5"/>
          <p:cNvSpPr/>
          <p:nvPr/>
        </p:nvSpPr>
        <p:spPr>
          <a:xfrm>
            <a:off x="4618886" y="1797816"/>
            <a:ext cx="3042735"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Codificare</a:t>
            </a:r>
            <a:endParaRPr lang="en-US" sz="2000" dirty="0"/>
          </a:p>
        </p:txBody>
      </p:sp>
      <p:sp>
        <p:nvSpPr>
          <p:cNvPr id="8" name="Text 6"/>
          <p:cNvSpPr/>
          <p:nvPr/>
        </p:nvSpPr>
        <p:spPr>
          <a:xfrm>
            <a:off x="4618886" y="2166085"/>
            <a:ext cx="3042735" cy="52323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Annotare la struttura e il significato di un testo.</a:t>
            </a:r>
            <a:endParaRPr lang="en-US" sz="1400" dirty="0"/>
          </a:p>
        </p:txBody>
      </p:sp>
      <p:sp>
        <p:nvSpPr>
          <p:cNvPr id="9" name="Shape 7"/>
          <p:cNvSpPr/>
          <p:nvPr/>
        </p:nvSpPr>
        <p:spPr>
          <a:xfrm>
            <a:off x="7961750" y="1567790"/>
            <a:ext cx="3414162" cy="1326151"/>
          </a:xfrm>
          <a:prstGeom prst="roundRect">
            <a:avLst>
              <a:gd name="adj" fmla="val 5507"/>
            </a:avLst>
          </a:prstGeom>
          <a:solidFill>
            <a:srgbClr val="F8F9F6"/>
          </a:solidFill>
          <a:ln w="6350">
            <a:solidFill>
              <a:srgbClr val="C6CDC6"/>
            </a:solidFill>
            <a:prstDash val="solid"/>
          </a:ln>
        </p:spPr>
        <p:txBody>
          <a:bodyPr/>
          <a:lstStyle/>
          <a:p>
            <a:endParaRPr lang="it-IT"/>
          </a:p>
        </p:txBody>
      </p:sp>
      <p:sp>
        <p:nvSpPr>
          <p:cNvPr id="10" name="Text 8"/>
          <p:cNvSpPr/>
          <p:nvPr/>
        </p:nvSpPr>
        <p:spPr>
          <a:xfrm>
            <a:off x="8191775" y="1797816"/>
            <a:ext cx="3042735"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Modellare</a:t>
            </a:r>
            <a:endParaRPr lang="en-US" sz="2000" dirty="0"/>
          </a:p>
        </p:txBody>
      </p:sp>
      <p:sp>
        <p:nvSpPr>
          <p:cNvPr id="11" name="Text 9"/>
          <p:cNvSpPr/>
          <p:nvPr/>
        </p:nvSpPr>
        <p:spPr>
          <a:xfrm>
            <a:off x="8191775" y="2166085"/>
            <a:ext cx="3042735" cy="52323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Decidere quali informazioni registrare e come.</a:t>
            </a:r>
            <a:endParaRPr lang="en-US" sz="1400" dirty="0"/>
          </a:p>
        </p:txBody>
      </p:sp>
      <p:sp>
        <p:nvSpPr>
          <p:cNvPr id="12" name="Shape 10"/>
          <p:cNvSpPr/>
          <p:nvPr/>
        </p:nvSpPr>
        <p:spPr>
          <a:xfrm>
            <a:off x="815972" y="3052666"/>
            <a:ext cx="3414162" cy="1326151"/>
          </a:xfrm>
          <a:prstGeom prst="roundRect">
            <a:avLst>
              <a:gd name="adj" fmla="val 5507"/>
            </a:avLst>
          </a:prstGeom>
          <a:solidFill>
            <a:srgbClr val="F8F9F6"/>
          </a:solidFill>
          <a:ln w="6350">
            <a:solidFill>
              <a:srgbClr val="C6CDC6"/>
            </a:solidFill>
            <a:prstDash val="solid"/>
          </a:ln>
        </p:spPr>
        <p:txBody>
          <a:bodyPr/>
          <a:lstStyle/>
          <a:p>
            <a:endParaRPr lang="it-IT"/>
          </a:p>
        </p:txBody>
      </p:sp>
      <p:sp>
        <p:nvSpPr>
          <p:cNvPr id="13" name="Text 11"/>
          <p:cNvSpPr/>
          <p:nvPr/>
        </p:nvSpPr>
        <p:spPr>
          <a:xfrm>
            <a:off x="1045997" y="3282693"/>
            <a:ext cx="3042735"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Analizzare</a:t>
            </a:r>
            <a:endParaRPr lang="en-US" sz="2000" dirty="0"/>
          </a:p>
        </p:txBody>
      </p:sp>
      <p:sp>
        <p:nvSpPr>
          <p:cNvPr id="14" name="Text 12"/>
          <p:cNvSpPr/>
          <p:nvPr/>
        </p:nvSpPr>
        <p:spPr>
          <a:xfrm>
            <a:off x="1045997" y="3650962"/>
            <a:ext cx="3042735" cy="52323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Contare, confrontare, cercare regolarità.</a:t>
            </a:r>
            <a:endParaRPr lang="en-US" sz="1400" dirty="0"/>
          </a:p>
        </p:txBody>
      </p:sp>
      <p:sp>
        <p:nvSpPr>
          <p:cNvPr id="15" name="Shape 13"/>
          <p:cNvSpPr/>
          <p:nvPr/>
        </p:nvSpPr>
        <p:spPr>
          <a:xfrm>
            <a:off x="4388861" y="3052666"/>
            <a:ext cx="3414162" cy="1326151"/>
          </a:xfrm>
          <a:prstGeom prst="roundRect">
            <a:avLst>
              <a:gd name="adj" fmla="val 5507"/>
            </a:avLst>
          </a:prstGeom>
          <a:solidFill>
            <a:srgbClr val="F8F9F6"/>
          </a:solidFill>
          <a:ln w="6350">
            <a:solidFill>
              <a:srgbClr val="C6CDC6"/>
            </a:solidFill>
            <a:prstDash val="solid"/>
          </a:ln>
        </p:spPr>
        <p:txBody>
          <a:bodyPr/>
          <a:lstStyle/>
          <a:p>
            <a:endParaRPr lang="it-IT"/>
          </a:p>
        </p:txBody>
      </p:sp>
      <p:sp>
        <p:nvSpPr>
          <p:cNvPr id="16" name="Text 14"/>
          <p:cNvSpPr/>
          <p:nvPr/>
        </p:nvSpPr>
        <p:spPr>
          <a:xfrm>
            <a:off x="4618886" y="3282693"/>
            <a:ext cx="3042735"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Visualizzare</a:t>
            </a:r>
            <a:endParaRPr lang="en-US" sz="2000" dirty="0"/>
          </a:p>
        </p:txBody>
      </p:sp>
      <p:sp>
        <p:nvSpPr>
          <p:cNvPr id="17" name="Text 15"/>
          <p:cNvSpPr/>
          <p:nvPr/>
        </p:nvSpPr>
        <p:spPr>
          <a:xfrm>
            <a:off x="4618886" y="3650962"/>
            <a:ext cx="3042735" cy="52323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Mostrare dati nel tempo, nello spazio, in rete.</a:t>
            </a:r>
            <a:endParaRPr lang="en-US" sz="1400" dirty="0"/>
          </a:p>
        </p:txBody>
      </p:sp>
      <p:sp>
        <p:nvSpPr>
          <p:cNvPr id="18" name="Shape 16"/>
          <p:cNvSpPr/>
          <p:nvPr/>
        </p:nvSpPr>
        <p:spPr>
          <a:xfrm>
            <a:off x="7961750" y="3052666"/>
            <a:ext cx="3414162" cy="1326151"/>
          </a:xfrm>
          <a:prstGeom prst="roundRect">
            <a:avLst>
              <a:gd name="adj" fmla="val 5507"/>
            </a:avLst>
          </a:prstGeom>
          <a:solidFill>
            <a:srgbClr val="F8F9F6"/>
          </a:solidFill>
          <a:ln w="6350">
            <a:solidFill>
              <a:srgbClr val="C6CDC6"/>
            </a:solidFill>
            <a:prstDash val="solid"/>
          </a:ln>
        </p:spPr>
        <p:txBody>
          <a:bodyPr/>
          <a:lstStyle/>
          <a:p>
            <a:endParaRPr lang="it-IT"/>
          </a:p>
        </p:txBody>
      </p:sp>
      <p:sp>
        <p:nvSpPr>
          <p:cNvPr id="19" name="Text 17"/>
          <p:cNvSpPr/>
          <p:nvPr/>
        </p:nvSpPr>
        <p:spPr>
          <a:xfrm>
            <a:off x="8191775" y="3282693"/>
            <a:ext cx="3042735"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Pubblicare</a:t>
            </a:r>
            <a:endParaRPr lang="en-US" sz="2000" dirty="0"/>
          </a:p>
        </p:txBody>
      </p:sp>
      <p:sp>
        <p:nvSpPr>
          <p:cNvPr id="20" name="Text 18"/>
          <p:cNvSpPr/>
          <p:nvPr/>
        </p:nvSpPr>
        <p:spPr>
          <a:xfrm>
            <a:off x="8191775" y="3650962"/>
            <a:ext cx="3042735" cy="52323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Rendere accessibile, citabile e duraturo il lavoro.</a:t>
            </a:r>
            <a:endParaRPr lang="en-US" sz="1400" dirty="0"/>
          </a:p>
        </p:txBody>
      </p:sp>
      <p:sp>
        <p:nvSpPr>
          <p:cNvPr id="21" name="Text 19"/>
          <p:cNvSpPr/>
          <p:nvPr/>
        </p:nvSpPr>
        <p:spPr>
          <a:xfrm>
            <a:off x="812797" y="6238326"/>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Modulo 0, lezione 2: introduzione all’informatica umanistica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A685A"/>
        </a:solidFill>
        <a:effectLst/>
      </p:bgPr>
    </p:bg>
    <p:spTree>
      <p:nvGrpSpPr>
        <p:cNvPr id="1" name=""/>
        <p:cNvGrpSpPr/>
        <p:nvPr/>
      </p:nvGrpSpPr>
      <p:grpSpPr>
        <a:xfrm>
          <a:off x="0" y="0"/>
          <a:ext cx="0" cy="0"/>
          <a:chOff x="0" y="0"/>
          <a:chExt cx="0" cy="0"/>
        </a:xfrm>
      </p:grpSpPr>
      <p:sp>
        <p:nvSpPr>
          <p:cNvPr id="2" name="Text 0"/>
          <p:cNvSpPr/>
          <p:nvPr/>
        </p:nvSpPr>
        <p:spPr>
          <a:xfrm>
            <a:off x="812797" y="2481411"/>
            <a:ext cx="10883353" cy="309875"/>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1D57E"/>
                </a:solidFill>
                <a:latin typeface="Atkinson Hyperlegible" pitchFamily="34" charset="0"/>
                <a:ea typeface="Atkinson Hyperlegible" pitchFamily="34" charset="-122"/>
                <a:cs typeface="Atkinson Hyperlegible" pitchFamily="34" charset="-120"/>
              </a:rPr>
              <a:t>Parte 2</a:t>
            </a:r>
            <a:endParaRPr lang="en-US" sz="1600" dirty="0"/>
          </a:p>
        </p:txBody>
      </p:sp>
      <p:sp>
        <p:nvSpPr>
          <p:cNvPr id="3" name="Text 1"/>
          <p:cNvSpPr>
            <a:spLocks noGrp="1"/>
          </p:cNvSpPr>
          <p:nvPr>
            <p:ph type="title"/>
          </p:nvPr>
        </p:nvSpPr>
        <p:spPr>
          <a:xfrm>
            <a:off x="812797" y="2969031"/>
            <a:ext cx="10883353" cy="683720"/>
          </a:xfrm>
          <a:prstGeom prst="rect">
            <a:avLst/>
          </a:prstGeom>
          <a:noFill/>
          <a:ln/>
        </p:spPr>
        <p:txBody>
          <a:bodyPr wrap="square" lIns="0" tIns="0" rIns="0" bIns="0" rtlCol="0" anchor="t">
            <a:normAutofit/>
          </a:bodyPr>
          <a:lstStyle/>
          <a:p>
            <a:pPr marL="0" indent="0" algn="l">
              <a:lnSpc>
                <a:spcPts val="5184"/>
              </a:lnSpc>
              <a:buNone/>
            </a:pPr>
            <a:r>
              <a:rPr lang="en-US" sz="4800" b="1" i="0" dirty="0">
                <a:solidFill>
                  <a:srgbClr val="F3F5F1"/>
                </a:solidFill>
                <a:latin typeface="Spectral" pitchFamily="18" charset="0"/>
                <a:ea typeface="Spectral" pitchFamily="18" charset="-122"/>
                <a:cs typeface="Spectral" pitchFamily="18" charset="-120"/>
              </a:rPr>
              <a:t>Creare un </a:t>
            </a:r>
            <a:r>
              <a:rPr lang="en-US" sz="4800" b="1" i="0" dirty="0" err="1">
                <a:solidFill>
                  <a:srgbClr val="F3F5F1"/>
                </a:solidFill>
                <a:latin typeface="Spectral" pitchFamily="18" charset="0"/>
                <a:ea typeface="Spectral" pitchFamily="18" charset="-122"/>
                <a:cs typeface="Spectral" pitchFamily="18" charset="-120"/>
              </a:rPr>
              <a:t>oggetto</a:t>
            </a:r>
            <a:r>
              <a:rPr lang="en-US" sz="4800" b="1" i="0" dirty="0">
                <a:solidFill>
                  <a:srgbClr val="F3F5F1"/>
                </a:solidFill>
                <a:latin typeface="Spectral" pitchFamily="18" charset="0"/>
                <a:ea typeface="Spectral" pitchFamily="18" charset="-122"/>
                <a:cs typeface="Spectral" pitchFamily="18" charset="-120"/>
              </a:rPr>
              <a:t>/</a:t>
            </a:r>
            <a:r>
              <a:rPr lang="en-US" sz="4800" b="1" i="0" dirty="0" err="1">
                <a:solidFill>
                  <a:srgbClr val="F3F5F1"/>
                </a:solidFill>
                <a:latin typeface="Spectral" pitchFamily="18" charset="0"/>
                <a:ea typeface="Spectral" pitchFamily="18" charset="-122"/>
                <a:cs typeface="Spectral" pitchFamily="18" charset="-120"/>
              </a:rPr>
              <a:t>artefatto</a:t>
            </a:r>
            <a:r>
              <a:rPr lang="en-US" sz="4800" b="1" i="0" dirty="0">
                <a:solidFill>
                  <a:srgbClr val="F3F5F1"/>
                </a:solidFill>
                <a:latin typeface="Spectral" pitchFamily="18" charset="0"/>
                <a:ea typeface="Spectral" pitchFamily="18" charset="-122"/>
                <a:cs typeface="Spectral" pitchFamily="18" charset="-120"/>
              </a:rPr>
              <a:t> digitale</a:t>
            </a:r>
            <a:endParaRPr lang="en-US" sz="4800" dirty="0"/>
          </a:p>
        </p:txBody>
      </p:sp>
      <p:sp>
        <p:nvSpPr>
          <p:cNvPr id="4" name="Text 2"/>
          <p:cNvSpPr/>
          <p:nvPr/>
        </p:nvSpPr>
        <p:spPr>
          <a:xfrm>
            <a:off x="812797" y="3830495"/>
            <a:ext cx="8502650" cy="368248"/>
          </a:xfrm>
          <a:prstGeom prst="rect">
            <a:avLst/>
          </a:prstGeom>
          <a:noFill/>
          <a:ln/>
        </p:spPr>
        <p:txBody>
          <a:bodyPr wrap="square" lIns="0" tIns="0" rIns="0" bIns="0" rtlCol="0" anchor="t">
            <a:normAutofit/>
          </a:bodyPr>
          <a:lstStyle/>
          <a:p>
            <a:pPr marL="0" indent="0" algn="l">
              <a:lnSpc>
                <a:spcPts val="2700"/>
              </a:lnSpc>
              <a:buNone/>
            </a:pPr>
            <a:r>
              <a:rPr lang="en-US" sz="2000" i="1" dirty="0">
                <a:solidFill>
                  <a:srgbClr val="D3E3DD"/>
                </a:solidFill>
                <a:latin typeface="Spectral" pitchFamily="18" charset="0"/>
                <a:ea typeface="Spectral" pitchFamily="18" charset="-122"/>
                <a:cs typeface="Spectral" pitchFamily="18" charset="-120"/>
              </a:rPr>
              <a:t>Che differenza c’è tra scrivere un articolo e costruire un catalogo?</a:t>
            </a:r>
            <a:endParaRPr lang="en-US" sz="2000" dirty="0"/>
          </a:p>
        </p:txBody>
      </p:sp>
      <p:sp>
        <p:nvSpPr>
          <p:cNvPr id="5" name="Text 3"/>
          <p:cNvSpPr/>
          <p:nvPr/>
        </p:nvSpPr>
        <p:spPr>
          <a:xfrm>
            <a:off x="812797" y="6238323"/>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3AD"/>
                </a:solidFill>
                <a:latin typeface="Atkinson Hyperlegible" pitchFamily="34" charset="0"/>
                <a:ea typeface="Atkinson Hyperlegible" pitchFamily="34" charset="-122"/>
                <a:cs typeface="Atkinson Hyperlegible" pitchFamily="34" charset="-120"/>
              </a:rPr>
              <a:t>Modulo 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CEEE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97" y="812797"/>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Un artefatto digitale è un prodotto della ricerca</a:t>
            </a:r>
            <a:endParaRPr lang="en-US" sz="3200" dirty="0"/>
          </a:p>
        </p:txBody>
      </p:sp>
      <p:sp>
        <p:nvSpPr>
          <p:cNvPr id="3" name="Shape 1"/>
          <p:cNvSpPr/>
          <p:nvPr/>
        </p:nvSpPr>
        <p:spPr>
          <a:xfrm>
            <a:off x="815972" y="1567786"/>
            <a:ext cx="5149838" cy="1864539"/>
          </a:xfrm>
          <a:prstGeom prst="roundRect">
            <a:avLst>
              <a:gd name="adj" fmla="val 3917"/>
            </a:avLst>
          </a:prstGeom>
          <a:solidFill>
            <a:srgbClr val="F8F9F6"/>
          </a:solidFill>
          <a:ln w="6350">
            <a:solidFill>
              <a:srgbClr val="C6CDC6"/>
            </a:solidFill>
            <a:prstDash val="solid"/>
          </a:ln>
        </p:spPr>
        <p:txBody>
          <a:bodyPr/>
          <a:lstStyle/>
          <a:p>
            <a:endParaRPr lang="it-IT"/>
          </a:p>
        </p:txBody>
      </p:sp>
      <p:sp>
        <p:nvSpPr>
          <p:cNvPr id="4" name="Text 2"/>
          <p:cNvSpPr/>
          <p:nvPr/>
        </p:nvSpPr>
        <p:spPr>
          <a:xfrm>
            <a:off x="1045997" y="1797813"/>
            <a:ext cx="4830481"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4889"/>
                </a:solidFill>
                <a:latin typeface="Atkinson Hyperlegible" pitchFamily="34" charset="0"/>
                <a:ea typeface="Atkinson Hyperlegible" pitchFamily="34" charset="-122"/>
                <a:cs typeface="Atkinson Hyperlegible" pitchFamily="34" charset="-120"/>
              </a:rPr>
              <a:t>Si legge</a:t>
            </a:r>
            <a:endParaRPr lang="en-US" sz="1200" dirty="0"/>
          </a:p>
        </p:txBody>
      </p:sp>
      <p:sp>
        <p:nvSpPr>
          <p:cNvPr id="5" name="Text 3"/>
          <p:cNvSpPr/>
          <p:nvPr/>
        </p:nvSpPr>
        <p:spPr>
          <a:xfrm>
            <a:off x="1045997" y="2087287"/>
            <a:ext cx="4830481"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L’articolo</a:t>
            </a:r>
            <a:endParaRPr lang="en-US" sz="2000" dirty="0"/>
          </a:p>
        </p:txBody>
      </p:sp>
      <p:sp>
        <p:nvSpPr>
          <p:cNvPr id="6" name="Text 4"/>
          <p:cNvSpPr/>
          <p:nvPr/>
        </p:nvSpPr>
        <p:spPr>
          <a:xfrm>
            <a:off x="1045997" y="2455552"/>
            <a:ext cx="4830481" cy="274316"/>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Si legge dall’inizio alla fine. Argomenta con le parole.</a:t>
            </a:r>
            <a:endParaRPr lang="en-US" sz="1400" dirty="0"/>
          </a:p>
        </p:txBody>
      </p:sp>
      <p:sp>
        <p:nvSpPr>
          <p:cNvPr id="7" name="Shape 5"/>
          <p:cNvSpPr/>
          <p:nvPr/>
        </p:nvSpPr>
        <p:spPr>
          <a:xfrm>
            <a:off x="6226146" y="1567786"/>
            <a:ext cx="5149838" cy="1864539"/>
          </a:xfrm>
          <a:prstGeom prst="roundRect">
            <a:avLst>
              <a:gd name="adj" fmla="val 3917"/>
            </a:avLst>
          </a:prstGeom>
          <a:solidFill>
            <a:srgbClr val="F8F9F6"/>
          </a:solidFill>
          <a:ln w="6350">
            <a:solidFill>
              <a:srgbClr val="C6CDC6"/>
            </a:solidFill>
            <a:prstDash val="solid"/>
          </a:ln>
        </p:spPr>
        <p:txBody>
          <a:bodyPr/>
          <a:lstStyle/>
          <a:p>
            <a:endParaRPr lang="it-IT"/>
          </a:p>
        </p:txBody>
      </p:sp>
      <p:sp>
        <p:nvSpPr>
          <p:cNvPr id="8" name="Text 6"/>
          <p:cNvSpPr/>
          <p:nvPr/>
        </p:nvSpPr>
        <p:spPr>
          <a:xfrm>
            <a:off x="6456171" y="1797813"/>
            <a:ext cx="4830481"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A685A"/>
                </a:solidFill>
                <a:latin typeface="Atkinson Hyperlegible" pitchFamily="34" charset="0"/>
                <a:ea typeface="Atkinson Hyperlegible" pitchFamily="34" charset="-122"/>
                <a:cs typeface="Atkinson Hyperlegible" pitchFamily="34" charset="-120"/>
              </a:rPr>
              <a:t>Si usa</a:t>
            </a:r>
            <a:endParaRPr lang="en-US" sz="1200" dirty="0"/>
          </a:p>
        </p:txBody>
      </p:sp>
      <p:sp>
        <p:nvSpPr>
          <p:cNvPr id="9" name="Text 7"/>
          <p:cNvSpPr/>
          <p:nvPr/>
        </p:nvSpPr>
        <p:spPr>
          <a:xfrm>
            <a:off x="6456171" y="2087287"/>
            <a:ext cx="4830481"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L’artefatto</a:t>
            </a:r>
            <a:endParaRPr lang="en-US" sz="2000" dirty="0"/>
          </a:p>
        </p:txBody>
      </p:sp>
      <p:sp>
        <p:nvSpPr>
          <p:cNvPr id="10" name="Text 8"/>
          <p:cNvSpPr/>
          <p:nvPr/>
        </p:nvSpPr>
        <p:spPr>
          <a:xfrm>
            <a:off x="6456171" y="2455552"/>
            <a:ext cx="4830481" cy="77214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Un catalogo, un’edizione, una mappa, un archivio. Si usa, si interroga, si cita. Argomenta con la sua struttura: quali campi, quali collegamenti, quale interfaccia.</a:t>
            </a:r>
            <a:endParaRPr lang="en-US" sz="1400" dirty="0"/>
          </a:p>
        </p:txBody>
      </p:sp>
      <p:sp>
        <p:nvSpPr>
          <p:cNvPr id="11" name="Text 9"/>
          <p:cNvSpPr/>
          <p:nvPr/>
        </p:nvSpPr>
        <p:spPr>
          <a:xfrm>
            <a:off x="812797" y="3740255"/>
            <a:ext cx="10883353" cy="309875"/>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6605B"/>
                </a:solidFill>
                <a:latin typeface="Atkinson Hyperlegible" pitchFamily="34" charset="0"/>
                <a:ea typeface="Atkinson Hyperlegible" pitchFamily="34" charset="-122"/>
                <a:cs typeface="Atkinson Hyperlegible" pitchFamily="34" charset="-120"/>
              </a:rPr>
              <a:t>Costruire un artefatto è un modo di studiare la sua collezione: per descriverla devi capirla.</a:t>
            </a:r>
            <a:endParaRPr lang="en-US" sz="1600" dirty="0"/>
          </a:p>
        </p:txBody>
      </p:sp>
      <p:sp>
        <p:nvSpPr>
          <p:cNvPr id="12" name="Text 10"/>
          <p:cNvSpPr/>
          <p:nvPr/>
        </p:nvSpPr>
        <p:spPr>
          <a:xfrm>
            <a:off x="812797" y="6238320"/>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Modulo 0, lezione 2: introduzione all’informatica umanistica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EEE9"/>
        </a:solidFill>
        <a:effectLst/>
      </p:bgPr>
    </p:bg>
    <p:spTree>
      <p:nvGrpSpPr>
        <p:cNvPr id="1" name=""/>
        <p:cNvGrpSpPr/>
        <p:nvPr/>
      </p:nvGrpSpPr>
      <p:grpSpPr>
        <a:xfrm>
          <a:off x="0" y="0"/>
          <a:ext cx="0" cy="0"/>
          <a:chOff x="0" y="0"/>
          <a:chExt cx="0" cy="0"/>
        </a:xfrm>
      </p:grpSpPr>
      <p:sp>
        <p:nvSpPr>
          <p:cNvPr id="2" name="Text 0"/>
          <p:cNvSpPr/>
          <p:nvPr/>
        </p:nvSpPr>
        <p:spPr>
          <a:xfrm>
            <a:off x="812797" y="812794"/>
            <a:ext cx="1708011" cy="314820"/>
          </a:xfrm>
          <a:prstGeom prst="roundRect">
            <a:avLst>
              <a:gd name="adj" fmla="val 50000"/>
            </a:avLst>
          </a:prstGeom>
          <a:solidFill>
            <a:srgbClr val="2D4889"/>
          </a:solidFill>
          <a:ln/>
        </p:spPr>
        <p:txBody>
          <a:bodyPr wrap="none" lIns="0" tIns="0" rIns="0" bIns="0" rtlCol="0" anchor="ctr">
            <a:normAutofit/>
          </a:bodyPr>
          <a:lstStyle/>
          <a:p>
            <a:pPr marL="0" indent="0" algn="ctr">
              <a:lnSpc>
                <a:spcPts val="1680"/>
              </a:lnSpc>
              <a:buNone/>
            </a:pPr>
            <a:r>
              <a:rPr lang="en-US" sz="1200" b="1" dirty="0">
                <a:solidFill>
                  <a:srgbClr val="F3F5F1"/>
                </a:solidFill>
                <a:latin typeface="Atkinson Hyperlegible" pitchFamily="34" charset="0"/>
                <a:ea typeface="Atkinson Hyperlegible" pitchFamily="34" charset="-122"/>
                <a:cs typeface="Atkinson Hyperlegible" pitchFamily="34" charset="-120"/>
              </a:rPr>
              <a:t>Osserva in Scrinium</a:t>
            </a:r>
            <a:endParaRPr lang="en-US" sz="1200" dirty="0"/>
          </a:p>
        </p:txBody>
      </p:sp>
      <p:sp>
        <p:nvSpPr>
          <p:cNvPr id="3" name="Text 1"/>
          <p:cNvSpPr>
            <a:spLocks noGrp="1"/>
          </p:cNvSpPr>
          <p:nvPr>
            <p:ph type="title"/>
          </p:nvPr>
        </p:nvSpPr>
        <p:spPr>
          <a:xfrm>
            <a:off x="812797" y="1381602"/>
            <a:ext cx="10883353" cy="919527"/>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Scrinium: un artefatto costruito con l’intelligenza artificiale</a:t>
            </a:r>
            <a:endParaRPr lang="en-US" sz="3200" dirty="0"/>
          </a:p>
        </p:txBody>
      </p:sp>
      <p:sp>
        <p:nvSpPr>
          <p:cNvPr id="4" name="Shape 2"/>
          <p:cNvSpPr/>
          <p:nvPr/>
        </p:nvSpPr>
        <p:spPr>
          <a:xfrm>
            <a:off x="812797" y="2534347"/>
            <a:ext cx="10566362" cy="0"/>
          </a:xfrm>
          <a:prstGeom prst="line">
            <a:avLst/>
          </a:prstGeom>
          <a:noFill/>
          <a:ln w="9270">
            <a:solidFill>
              <a:srgbClr val="141413">
                <a:alpha val="22000"/>
              </a:srgbClr>
            </a:solidFill>
            <a:prstDash val="solid"/>
          </a:ln>
        </p:spPr>
        <p:txBody>
          <a:bodyPr/>
          <a:lstStyle/>
          <a:p>
            <a:endParaRPr lang="it-IT"/>
          </a:p>
        </p:txBody>
      </p:sp>
      <p:sp>
        <p:nvSpPr>
          <p:cNvPr id="5" name="Shape 3"/>
          <p:cNvSpPr/>
          <p:nvPr/>
        </p:nvSpPr>
        <p:spPr>
          <a:xfrm>
            <a:off x="817432" y="2529712"/>
            <a:ext cx="0" cy="2482641"/>
          </a:xfrm>
          <a:prstGeom prst="line">
            <a:avLst/>
          </a:prstGeom>
          <a:noFill/>
          <a:ln w="9270">
            <a:solidFill>
              <a:srgbClr val="141413">
                <a:alpha val="22000"/>
              </a:srgbClr>
            </a:solidFill>
            <a:prstDash val="solid"/>
          </a:ln>
        </p:spPr>
        <p:txBody>
          <a:bodyPr/>
          <a:lstStyle/>
          <a:p>
            <a:endParaRPr lang="it-IT"/>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36367" y="2627882"/>
          <a:ext cx="10328492" cy="2295648"/>
        </p:xfrm>
        <a:graphic>
          <a:graphicData uri="http://schemas.openxmlformats.org/drawingml/2006/table">
            <a:tbl>
              <a:tblPr/>
              <a:tblGrid>
                <a:gridCol w="2685408">
                  <a:extLst>
                    <a:ext uri="{9D8B030D-6E8A-4147-A177-3AD203B41FA5}">
                      <a16:colId xmlns:a16="http://schemas.microsoft.com/office/drawing/2014/main" val="20000"/>
                    </a:ext>
                  </a:extLst>
                </a:gridCol>
                <a:gridCol w="7643084">
                  <a:extLst>
                    <a:ext uri="{9D8B030D-6E8A-4147-A177-3AD203B41FA5}">
                      <a16:colId xmlns:a16="http://schemas.microsoft.com/office/drawing/2014/main" val="20001"/>
                    </a:ext>
                  </a:extLst>
                </a:gridCol>
              </a:tblGrid>
              <a:tr h="382608">
                <a:tc>
                  <a:txBody>
                    <a:bodyPr/>
                    <a:lstStyle/>
                    <a:p>
                      <a:pPr marL="0" indent="0">
                        <a:lnSpc>
                          <a:spcPts val="1960"/>
                        </a:lnSpc>
                        <a:buNone/>
                      </a:pPr>
                      <a:r>
                        <a:rPr lang="en-US" sz="1400" b="1" dirty="0">
                          <a:solidFill>
                            <a:srgbClr val="1D2420"/>
                          </a:solidFill>
                          <a:latin typeface="Atkinson Hyperlegible" pitchFamily="34" charset="0"/>
                          <a:ea typeface="Atkinson Hyperlegible" pitchFamily="34" charset="-122"/>
                          <a:cs typeface="Atkinson Hyperlegible" pitchFamily="34" charset="-120"/>
                        </a:rPr>
                        <a:t>Passo</a:t>
                      </a:r>
                      <a:endParaRPr lang="en-US" sz="1400" dirty="0">
                        <a:latin typeface="Atkinson Hyperlegible" charset="0"/>
                        <a:ea typeface="Atkinson Hyperlegible" charset="0"/>
                        <a:cs typeface="Atkinson Hyperlegible" charset="0"/>
                      </a:endParaRPr>
                    </a:p>
                  </a:txBody>
                  <a:tcPr marL="62230" marR="62230" marT="62230" marB="62230">
                    <a:lnL w="0" cap="flat" cmpd="sng" algn="ctr">
                      <a:noFill/>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tc>
                  <a:txBody>
                    <a:bodyPr/>
                    <a:lstStyle/>
                    <a:p>
                      <a:pPr marL="0" indent="0">
                        <a:lnSpc>
                          <a:spcPts val="1960"/>
                        </a:lnSpc>
                        <a:buNone/>
                      </a:pPr>
                      <a:r>
                        <a:rPr lang="en-US" sz="1400" b="1" dirty="0">
                          <a:solidFill>
                            <a:srgbClr val="1D2420"/>
                          </a:solidFill>
                          <a:latin typeface="Atkinson Hyperlegible" pitchFamily="34" charset="0"/>
                          <a:ea typeface="Atkinson Hyperlegible" pitchFamily="34" charset="-122"/>
                          <a:cs typeface="Atkinson Hyperlegible" pitchFamily="34" charset="-120"/>
                        </a:rPr>
                        <a:t>Che cosa succede</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1B5B0"/>
                      </a:solidFill>
                      <a:prstDash val="solid"/>
                      <a:round/>
                      <a:headEnd type="none" w="med" len="med"/>
                      <a:tailEnd type="none" w="med" len="med"/>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extLst>
                  <a:ext uri="{0D108BD9-81ED-4DB2-BD59-A6C34878D82A}">
                    <a16:rowId xmlns:a16="http://schemas.microsoft.com/office/drawing/2014/main" val="10000"/>
                  </a:ext>
                </a:extLst>
              </a:tr>
              <a:tr h="382608">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1. Richiesta</a:t>
                      </a:r>
                      <a:endParaRPr lang="en-US" sz="1400" dirty="0">
                        <a:latin typeface="Atkinson Hyperlegible" charset="0"/>
                        <a:ea typeface="Atkinson Hyperlegible" charset="0"/>
                        <a:cs typeface="Atkinson Hyperlegible" charset="0"/>
                      </a:endParaRPr>
                    </a:p>
                  </a:txBody>
                  <a:tcPr marL="62230" marR="62230" marT="62230" marB="62230">
                    <a:lnL w="0" cap="flat" cmpd="sng" algn="ctr">
                      <a:noFill/>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Una descrizione in italiano di che cosa deve fare il catalogo</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1"/>
                  </a:ext>
                </a:extLst>
              </a:tr>
              <a:tr h="382608">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2. Codice</a:t>
                      </a:r>
                      <a:endParaRPr lang="en-US" sz="1400" dirty="0">
                        <a:latin typeface="Atkinson Hyperlegible" charset="0"/>
                        <a:ea typeface="Atkinson Hyperlegible" charset="0"/>
                        <a:cs typeface="Atkinson Hyperlegible" charset="0"/>
                      </a:endParaRPr>
                    </a:p>
                  </a:txBody>
                  <a:tcPr marL="62230" marR="62230" marT="62230" marB="6223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Un assistente, Claude, scrive HTML, CSS e JavaScript</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2"/>
                  </a:ext>
                </a:extLst>
              </a:tr>
              <a:tr h="382608">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3. Verifica</a:t>
                      </a:r>
                      <a:endParaRPr lang="en-US" sz="1400" dirty="0">
                        <a:latin typeface="Atkinson Hyperlegible" charset="0"/>
                        <a:ea typeface="Atkinson Hyperlegible" charset="0"/>
                        <a:cs typeface="Atkinson Hyperlegible" charset="0"/>
                      </a:endParaRPr>
                    </a:p>
                  </a:txBody>
                  <a:tcPr marL="62230" marR="62230" marT="62230" marB="6223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Test automatici e lettura: si trovano e si correggono errori</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3"/>
                  </a:ext>
                </a:extLst>
              </a:tr>
              <a:tr h="382608">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4. Pubblicazione</a:t>
                      </a:r>
                      <a:endParaRPr lang="en-US" sz="1400" dirty="0">
                        <a:latin typeface="Atkinson Hyperlegible" charset="0"/>
                        <a:ea typeface="Atkinson Hyperlegible" charset="0"/>
                        <a:cs typeface="Atkinson Hyperlegible" charset="0"/>
                      </a:endParaRPr>
                    </a:p>
                  </a:txBody>
                  <a:tcPr marL="62230" marR="62230" marT="62230" marB="6223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La pagina va online su claude.ai, privata finché non la condividi</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4"/>
                  </a:ext>
                </a:extLst>
              </a:tr>
              <a:tr h="382608">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5. Documentazione</a:t>
                      </a:r>
                      <a:endParaRPr lang="en-US" sz="1400" dirty="0">
                        <a:latin typeface="Atkinson Hyperlegible" charset="0"/>
                        <a:ea typeface="Atkinson Hyperlegible" charset="0"/>
                        <a:cs typeface="Atkinson Hyperlegible" charset="0"/>
                      </a:endParaRPr>
                    </a:p>
                  </a:txBody>
                  <a:tcPr marL="62230" marR="62230" marT="62230" marB="6223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Si spiega che cosa è stato fatto e perché</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4"/>
          <p:cNvSpPr/>
          <p:nvPr/>
        </p:nvSpPr>
        <p:spPr>
          <a:xfrm>
            <a:off x="812797" y="5266339"/>
            <a:ext cx="10883353" cy="292059"/>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6605B"/>
                </a:solidFill>
                <a:latin typeface="Atkinson Hyperlegible" pitchFamily="34" charset="0"/>
                <a:ea typeface="Atkinson Hyperlegible" pitchFamily="34" charset="-122"/>
                <a:cs typeface="Atkinson Hyperlegible" pitchFamily="34" charset="-120"/>
              </a:rPr>
              <a:t>Su claude.ai un </a:t>
            </a:r>
            <a:r>
              <a:rPr lang="en-US" sz="1500" i="1" dirty="0">
                <a:solidFill>
                  <a:srgbClr val="56605B"/>
                </a:solidFill>
                <a:latin typeface="Atkinson Hyperlegible" pitchFamily="34" charset="0"/>
                <a:ea typeface="Atkinson Hyperlegible" pitchFamily="34" charset="-122"/>
                <a:cs typeface="Atkinson Hyperlegible" pitchFamily="34" charset="-120"/>
              </a:rPr>
              <a:t>artifact</a:t>
            </a:r>
            <a:r>
              <a:rPr lang="en-US" sz="1500" dirty="0">
                <a:solidFill>
                  <a:srgbClr val="56605B"/>
                </a:solidFill>
                <a:latin typeface="Atkinson Hyperlegible" pitchFamily="34" charset="0"/>
                <a:ea typeface="Atkinson Hyperlegible" pitchFamily="34" charset="-122"/>
                <a:cs typeface="Atkinson Hyperlegible" pitchFamily="34" charset="-120"/>
              </a:rPr>
              <a:t> è una pagina web pubblicata a un indirizzo, con eventuale archivio condiviso. </a:t>
            </a:r>
            <a:r>
              <a:rPr lang="en-US" sz="1500" u="sng" dirty="0">
                <a:solidFill>
                  <a:srgbClr val="56605B"/>
                </a:solidFill>
                <a:latin typeface="Atkinson Hyperlegible" pitchFamily="34" charset="0"/>
                <a:ea typeface="Atkinson Hyperlegible" pitchFamily="34" charset="-122"/>
                <a:cs typeface="Atkinson Hyperlegible" pitchFamily="34" charset="-120"/>
                <a:hlinkClick r:id="rId3">
                  <a:extLst>
                    <a:ext uri="{A12FA001-AC4F-418D-AE19-62706E023703}">
                      <ahyp:hlinkClr xmlns:ahyp="http://schemas.microsoft.com/office/drawing/2018/hyperlinkcolor" val="tx"/>
                    </a:ext>
                  </a:extLst>
                </a:hlinkClick>
              </a:rPr>
              <a:t>Apri Scrinium</a:t>
            </a:r>
            <a:endParaRPr lang="en-US" sz="1500" dirty="0"/>
          </a:p>
        </p:txBody>
      </p:sp>
      <p:sp>
        <p:nvSpPr>
          <p:cNvPr id="8" name="Text 5"/>
          <p:cNvSpPr/>
          <p:nvPr/>
        </p:nvSpPr>
        <p:spPr>
          <a:xfrm>
            <a:off x="812797" y="6238323"/>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Modulo 0, lezione 2: introduzione all’informatica umanistica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CEEE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97" y="812794"/>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Che cosa resta a te</a:t>
            </a:r>
            <a:endParaRPr lang="en-US" sz="3200" dirty="0"/>
          </a:p>
        </p:txBody>
      </p:sp>
      <p:sp>
        <p:nvSpPr>
          <p:cNvPr id="3" name="Shape 1"/>
          <p:cNvSpPr/>
          <p:nvPr/>
        </p:nvSpPr>
        <p:spPr>
          <a:xfrm>
            <a:off x="812797" y="1569246"/>
            <a:ext cx="10566362" cy="0"/>
          </a:xfrm>
          <a:prstGeom prst="line">
            <a:avLst/>
          </a:prstGeom>
          <a:noFill/>
          <a:ln w="9270">
            <a:solidFill>
              <a:srgbClr val="141413">
                <a:alpha val="22000"/>
              </a:srgbClr>
            </a:solidFill>
            <a:prstDash val="solid"/>
          </a:ln>
        </p:spPr>
        <p:txBody>
          <a:bodyPr/>
          <a:lstStyle/>
          <a:p>
            <a:endParaRPr lang="it-IT"/>
          </a:p>
        </p:txBody>
      </p:sp>
      <p:sp>
        <p:nvSpPr>
          <p:cNvPr id="4" name="Shape 2"/>
          <p:cNvSpPr/>
          <p:nvPr/>
        </p:nvSpPr>
        <p:spPr>
          <a:xfrm>
            <a:off x="817432" y="1564611"/>
            <a:ext cx="0" cy="2642116"/>
          </a:xfrm>
          <a:prstGeom prst="line">
            <a:avLst/>
          </a:prstGeom>
          <a:noFill/>
          <a:ln w="9270">
            <a:solidFill>
              <a:srgbClr val="141413">
                <a:alpha val="22000"/>
              </a:srgbClr>
            </a:solidFill>
            <a:prstDash val="solid"/>
          </a:ln>
        </p:spPr>
        <p:txBody>
          <a:bodyPr/>
          <a:lstStyle/>
          <a:p>
            <a:endParaRPr lang="it-IT"/>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36367" y="1662782"/>
          <a:ext cx="10328492" cy="2455122"/>
        </p:xfrm>
        <a:graphic>
          <a:graphicData uri="http://schemas.openxmlformats.org/drawingml/2006/table">
            <a:tbl>
              <a:tblPr/>
              <a:tblGrid>
                <a:gridCol w="6403665">
                  <a:extLst>
                    <a:ext uri="{9D8B030D-6E8A-4147-A177-3AD203B41FA5}">
                      <a16:colId xmlns:a16="http://schemas.microsoft.com/office/drawing/2014/main" val="20000"/>
                    </a:ext>
                  </a:extLst>
                </a:gridCol>
                <a:gridCol w="3924827">
                  <a:extLst>
                    <a:ext uri="{9D8B030D-6E8A-4147-A177-3AD203B41FA5}">
                      <a16:colId xmlns:a16="http://schemas.microsoft.com/office/drawing/2014/main" val="20001"/>
                    </a:ext>
                  </a:extLst>
                </a:gridCol>
              </a:tblGrid>
              <a:tr h="409187">
                <a:tc>
                  <a:txBody>
                    <a:bodyPr/>
                    <a:lstStyle/>
                    <a:p>
                      <a:pPr marL="0" indent="0">
                        <a:lnSpc>
                          <a:spcPts val="2100"/>
                        </a:lnSpc>
                        <a:buNone/>
                      </a:pPr>
                      <a:r>
                        <a:rPr lang="en-US" sz="1500" b="1" dirty="0">
                          <a:solidFill>
                            <a:srgbClr val="1D2420"/>
                          </a:solidFill>
                          <a:latin typeface="Atkinson Hyperlegible" pitchFamily="34" charset="0"/>
                          <a:ea typeface="Atkinson Hyperlegible" pitchFamily="34" charset="-122"/>
                          <a:cs typeface="Atkinson Hyperlegible" pitchFamily="34" charset="-120"/>
                        </a:rPr>
                        <a:t>Decisione</a:t>
                      </a:r>
                      <a:endParaRPr lang="en-US" sz="1500" dirty="0">
                        <a:latin typeface="Atkinson Hyperlegible" charset="0"/>
                        <a:ea typeface="Atkinson Hyperlegible" charset="0"/>
                        <a:cs typeface="Atkinson Hyperlegible" charset="0"/>
                      </a:endParaRPr>
                    </a:p>
                  </a:txBody>
                  <a:tcPr marL="66675" marR="66675" marT="66675" marB="66675">
                    <a:lnL w="0" cap="flat" cmpd="sng" algn="ctr">
                      <a:noFill/>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tc>
                  <a:txBody>
                    <a:bodyPr/>
                    <a:lstStyle/>
                    <a:p>
                      <a:pPr marL="0" indent="0">
                        <a:lnSpc>
                          <a:spcPts val="2100"/>
                        </a:lnSpc>
                        <a:buNone/>
                      </a:pPr>
                      <a:r>
                        <a:rPr lang="en-US" sz="1500" b="1" dirty="0">
                          <a:solidFill>
                            <a:srgbClr val="1D2420"/>
                          </a:solidFill>
                          <a:latin typeface="Atkinson Hyperlegible" pitchFamily="34" charset="0"/>
                          <a:ea typeface="Atkinson Hyperlegible" pitchFamily="34" charset="-122"/>
                          <a:cs typeface="Atkinson Hyperlegible" pitchFamily="34" charset="-120"/>
                        </a:rPr>
                        <a:t>Chi la prende</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1B5B0"/>
                      </a:solidFill>
                      <a:prstDash val="solid"/>
                      <a:round/>
                      <a:headEnd type="none" w="med" len="med"/>
                      <a:tailEnd type="none" w="med" len="med"/>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extLst>
                  <a:ext uri="{0D108BD9-81ED-4DB2-BD59-A6C34878D82A}">
                    <a16:rowId xmlns:a16="http://schemas.microsoft.com/office/drawing/2014/main" val="10000"/>
                  </a:ext>
                </a:extLst>
              </a:tr>
              <a:tr h="409187">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Quale collezione e quali domande</a:t>
                      </a:r>
                      <a:endParaRPr lang="en-US" sz="1500" dirty="0">
                        <a:latin typeface="Atkinson Hyperlegible" charset="0"/>
                        <a:ea typeface="Atkinson Hyperlegible" charset="0"/>
                        <a:cs typeface="Atkinson Hyperlegible" charset="0"/>
                      </a:endParaRPr>
                    </a:p>
                  </a:txBody>
                  <a:tcPr marL="66675" marR="66675" marT="66675" marB="66675">
                    <a:lnL w="0" cap="flat" cmpd="sng" algn="ctr">
                      <a:noFill/>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Tu</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1"/>
                  </a:ext>
                </a:extLst>
              </a:tr>
              <a:tr h="409187">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Quali campi, quali vocabolari, quali collegamenti</a:t>
                      </a:r>
                      <a:endParaRPr lang="en-US" sz="1500" dirty="0">
                        <a:latin typeface="Atkinson Hyperlegible" charset="0"/>
                        <a:ea typeface="Atkinson Hyperlegible" charset="0"/>
                        <a:cs typeface="Atkinson Hyperlegible" charset="0"/>
                      </a:endParaRPr>
                    </a:p>
                  </a:txBody>
                  <a:tcPr marL="66675" marR="66675" marT="66675" marB="66675">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Tu</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2"/>
                  </a:ext>
                </a:extLst>
              </a:tr>
              <a:tr h="409187">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Come si scrive il codice</a:t>
                      </a:r>
                      <a:endParaRPr lang="en-US" sz="1500" dirty="0">
                        <a:latin typeface="Atkinson Hyperlegible" charset="0"/>
                        <a:ea typeface="Atkinson Hyperlegible" charset="0"/>
                        <a:cs typeface="Atkinson Hyperlegible" charset="0"/>
                      </a:endParaRPr>
                    </a:p>
                  </a:txBody>
                  <a:tcPr marL="66675" marR="66675" marT="66675" marB="66675">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Tu, oppure un assistente sotto la tua guida</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3"/>
                  </a:ext>
                </a:extLst>
              </a:tr>
              <a:tr h="409187">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Se il codice è corretto</a:t>
                      </a:r>
                      <a:endParaRPr lang="en-US" sz="1500" dirty="0">
                        <a:latin typeface="Atkinson Hyperlegible" charset="0"/>
                        <a:ea typeface="Atkinson Hyperlegible" charset="0"/>
                        <a:cs typeface="Atkinson Hyperlegible" charset="0"/>
                      </a:endParaRPr>
                    </a:p>
                  </a:txBody>
                  <a:tcPr marL="66675" marR="66675" marT="66675" marB="66675">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Tu: verifichi, provi, correggi</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4"/>
                  </a:ext>
                </a:extLst>
              </a:tr>
              <a:tr h="409187">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Come si documenta e si cita il lavoro</a:t>
                      </a:r>
                      <a:endParaRPr lang="en-US" sz="1500" dirty="0">
                        <a:latin typeface="Atkinson Hyperlegible" charset="0"/>
                        <a:ea typeface="Atkinson Hyperlegible" charset="0"/>
                        <a:cs typeface="Atkinson Hyperlegible" charset="0"/>
                      </a:endParaRPr>
                    </a:p>
                  </a:txBody>
                  <a:tcPr marL="66675" marR="66675" marT="66675" marB="66675">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Tu</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812797" y="6238323"/>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Modulo 0, lezione 2: introduzione all’informatica umanistica</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A685A"/>
        </a:solidFill>
        <a:effectLst/>
      </p:bgPr>
    </p:bg>
    <p:spTree>
      <p:nvGrpSpPr>
        <p:cNvPr id="1" name=""/>
        <p:cNvGrpSpPr/>
        <p:nvPr/>
      </p:nvGrpSpPr>
      <p:grpSpPr>
        <a:xfrm>
          <a:off x="0" y="0"/>
          <a:ext cx="0" cy="0"/>
          <a:chOff x="0" y="0"/>
          <a:chExt cx="0" cy="0"/>
        </a:xfrm>
      </p:grpSpPr>
      <p:sp>
        <p:nvSpPr>
          <p:cNvPr id="2" name="Text 0"/>
          <p:cNvSpPr/>
          <p:nvPr/>
        </p:nvSpPr>
        <p:spPr>
          <a:xfrm>
            <a:off x="812797" y="2481411"/>
            <a:ext cx="10883353" cy="309875"/>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1D57E"/>
                </a:solidFill>
                <a:latin typeface="Atkinson Hyperlegible" pitchFamily="34" charset="0"/>
                <a:ea typeface="Atkinson Hyperlegible" pitchFamily="34" charset="-122"/>
                <a:cs typeface="Atkinson Hyperlegible" pitchFamily="34" charset="-120"/>
              </a:rPr>
              <a:t>Parte 3</a:t>
            </a:r>
            <a:endParaRPr lang="en-US" sz="1600" dirty="0"/>
          </a:p>
        </p:txBody>
      </p:sp>
      <p:sp>
        <p:nvSpPr>
          <p:cNvPr id="3" name="Text 1"/>
          <p:cNvSpPr>
            <a:spLocks noGrp="1"/>
          </p:cNvSpPr>
          <p:nvPr>
            <p:ph type="title"/>
          </p:nvPr>
        </p:nvSpPr>
        <p:spPr>
          <a:xfrm>
            <a:off x="812797" y="2969034"/>
            <a:ext cx="10883353" cy="683720"/>
          </a:xfrm>
          <a:prstGeom prst="rect">
            <a:avLst/>
          </a:prstGeom>
          <a:noFill/>
          <a:ln/>
        </p:spPr>
        <p:txBody>
          <a:bodyPr wrap="square" lIns="0" tIns="0" rIns="0" bIns="0" rtlCol="0" anchor="t">
            <a:normAutofit/>
          </a:bodyPr>
          <a:lstStyle/>
          <a:p>
            <a:pPr marL="0" indent="0" algn="l">
              <a:lnSpc>
                <a:spcPts val="5184"/>
              </a:lnSpc>
              <a:buNone/>
            </a:pPr>
            <a:r>
              <a:rPr lang="en-US" sz="4800" b="1" i="0" dirty="0">
                <a:solidFill>
                  <a:srgbClr val="F3F5F1"/>
                </a:solidFill>
                <a:latin typeface="Spectral" pitchFamily="18" charset="0"/>
                <a:ea typeface="Spectral" pitchFamily="18" charset="-122"/>
                <a:cs typeface="Spectral" pitchFamily="18" charset="-120"/>
              </a:rPr>
              <a:t>I linguaggi necessari</a:t>
            </a:r>
            <a:endParaRPr lang="en-US" sz="4800" dirty="0"/>
          </a:p>
        </p:txBody>
      </p:sp>
      <p:sp>
        <p:nvSpPr>
          <p:cNvPr id="4" name="Text 2"/>
          <p:cNvSpPr/>
          <p:nvPr/>
        </p:nvSpPr>
        <p:spPr>
          <a:xfrm>
            <a:off x="812797" y="3830495"/>
            <a:ext cx="8502650" cy="368248"/>
          </a:xfrm>
          <a:prstGeom prst="rect">
            <a:avLst/>
          </a:prstGeom>
          <a:noFill/>
          <a:ln/>
        </p:spPr>
        <p:txBody>
          <a:bodyPr wrap="square" lIns="0" tIns="0" rIns="0" bIns="0" rtlCol="0" anchor="t">
            <a:normAutofit/>
          </a:bodyPr>
          <a:lstStyle/>
          <a:p>
            <a:pPr marL="0" indent="0" algn="l">
              <a:lnSpc>
                <a:spcPts val="2700"/>
              </a:lnSpc>
              <a:buNone/>
            </a:pPr>
            <a:r>
              <a:rPr lang="en-US" sz="2000" i="1" dirty="0">
                <a:solidFill>
                  <a:srgbClr val="D3E3DD"/>
                </a:solidFill>
                <a:latin typeface="Spectral" pitchFamily="18" charset="0"/>
                <a:ea typeface="Spectral" pitchFamily="18" charset="-122"/>
                <a:cs typeface="Spectral" pitchFamily="18" charset="-120"/>
              </a:rPr>
              <a:t>Quanti linguaggi servono per costruire un catalogo come Scrinium?</a:t>
            </a:r>
            <a:endParaRPr lang="en-US" sz="2000" dirty="0"/>
          </a:p>
        </p:txBody>
      </p:sp>
      <p:sp>
        <p:nvSpPr>
          <p:cNvPr id="5" name="Text 3"/>
          <p:cNvSpPr/>
          <p:nvPr/>
        </p:nvSpPr>
        <p:spPr>
          <a:xfrm>
            <a:off x="812797" y="6238323"/>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3AD"/>
                </a:solidFill>
                <a:latin typeface="Atkinson Hyperlegible" pitchFamily="34" charset="0"/>
                <a:ea typeface="Atkinson Hyperlegible" pitchFamily="34" charset="-122"/>
                <a:cs typeface="Atkinson Hyperlegible" pitchFamily="34" charset="-120"/>
              </a:rPr>
              <a:t>Modulo 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CEEE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97" y="812794"/>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Una mappa dei linguaggi del corso</a:t>
            </a:r>
            <a:endParaRPr lang="en-US" sz="3200" dirty="0"/>
          </a:p>
        </p:txBody>
      </p:sp>
      <p:sp>
        <p:nvSpPr>
          <p:cNvPr id="3" name="Shape 1"/>
          <p:cNvSpPr/>
          <p:nvPr/>
        </p:nvSpPr>
        <p:spPr>
          <a:xfrm>
            <a:off x="812797" y="1569246"/>
            <a:ext cx="10566362" cy="0"/>
          </a:xfrm>
          <a:prstGeom prst="line">
            <a:avLst/>
          </a:prstGeom>
          <a:noFill/>
          <a:ln w="9270">
            <a:solidFill>
              <a:srgbClr val="141413">
                <a:alpha val="22000"/>
              </a:srgbClr>
            </a:solidFill>
            <a:prstDash val="solid"/>
          </a:ln>
        </p:spPr>
        <p:txBody>
          <a:bodyPr/>
          <a:lstStyle/>
          <a:p>
            <a:endParaRPr lang="it-IT"/>
          </a:p>
        </p:txBody>
      </p:sp>
      <p:sp>
        <p:nvSpPr>
          <p:cNvPr id="4" name="Shape 2"/>
          <p:cNvSpPr/>
          <p:nvPr/>
        </p:nvSpPr>
        <p:spPr>
          <a:xfrm>
            <a:off x="817432" y="1564611"/>
            <a:ext cx="0" cy="3630465"/>
          </a:xfrm>
          <a:prstGeom prst="line">
            <a:avLst/>
          </a:prstGeom>
          <a:noFill/>
          <a:ln w="9270">
            <a:solidFill>
              <a:srgbClr val="141413">
                <a:alpha val="22000"/>
              </a:srgbClr>
            </a:solidFill>
            <a:prstDash val="solid"/>
          </a:ln>
        </p:spPr>
        <p:txBody>
          <a:bodyPr/>
          <a:lstStyle/>
          <a:p>
            <a:endParaRPr lang="it-IT"/>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36367" y="1662782"/>
          <a:ext cx="10328491" cy="3443472"/>
        </p:xfrm>
        <a:graphic>
          <a:graphicData uri="http://schemas.openxmlformats.org/drawingml/2006/table">
            <a:tbl>
              <a:tblPr/>
              <a:tblGrid>
                <a:gridCol w="2065698">
                  <a:extLst>
                    <a:ext uri="{9D8B030D-6E8A-4147-A177-3AD203B41FA5}">
                      <a16:colId xmlns:a16="http://schemas.microsoft.com/office/drawing/2014/main" val="20000"/>
                    </a:ext>
                  </a:extLst>
                </a:gridCol>
                <a:gridCol w="2272268">
                  <a:extLst>
                    <a:ext uri="{9D8B030D-6E8A-4147-A177-3AD203B41FA5}">
                      <a16:colId xmlns:a16="http://schemas.microsoft.com/office/drawing/2014/main" val="20001"/>
                    </a:ext>
                  </a:extLst>
                </a:gridCol>
                <a:gridCol w="4751106">
                  <a:extLst>
                    <a:ext uri="{9D8B030D-6E8A-4147-A177-3AD203B41FA5}">
                      <a16:colId xmlns:a16="http://schemas.microsoft.com/office/drawing/2014/main" val="20002"/>
                    </a:ext>
                  </a:extLst>
                </a:gridCol>
                <a:gridCol w="1239419">
                  <a:extLst>
                    <a:ext uri="{9D8B030D-6E8A-4147-A177-3AD203B41FA5}">
                      <a16:colId xmlns:a16="http://schemas.microsoft.com/office/drawing/2014/main" val="20003"/>
                    </a:ext>
                  </a:extLst>
                </a:gridCol>
              </a:tblGrid>
              <a:tr h="382608">
                <a:tc>
                  <a:txBody>
                    <a:bodyPr/>
                    <a:lstStyle/>
                    <a:p>
                      <a:pPr marL="0" indent="0">
                        <a:lnSpc>
                          <a:spcPts val="1960"/>
                        </a:lnSpc>
                        <a:buNone/>
                      </a:pPr>
                      <a:r>
                        <a:rPr lang="en-US" sz="1400" b="1" dirty="0">
                          <a:solidFill>
                            <a:srgbClr val="1D2420"/>
                          </a:solidFill>
                          <a:latin typeface="Atkinson Hyperlegible" pitchFamily="34" charset="0"/>
                          <a:ea typeface="Atkinson Hyperlegible" pitchFamily="34" charset="-122"/>
                          <a:cs typeface="Atkinson Hyperlegible" pitchFamily="34" charset="-120"/>
                        </a:rPr>
                        <a:t>Linguaggio</a:t>
                      </a:r>
                      <a:endParaRPr lang="en-US" sz="1400" dirty="0">
                        <a:latin typeface="Atkinson Hyperlegible" charset="0"/>
                        <a:ea typeface="Atkinson Hyperlegible" charset="0"/>
                        <a:cs typeface="Atkinson Hyperlegible" charset="0"/>
                      </a:endParaRPr>
                    </a:p>
                  </a:txBody>
                  <a:tcPr marL="62230" marR="62230" marT="62230" marB="62230">
                    <a:lnL w="0" cap="flat" cmpd="sng" algn="ctr">
                      <a:noFill/>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tc>
                  <a:txBody>
                    <a:bodyPr/>
                    <a:lstStyle/>
                    <a:p>
                      <a:pPr marL="0" indent="0">
                        <a:lnSpc>
                          <a:spcPts val="1960"/>
                        </a:lnSpc>
                        <a:buNone/>
                      </a:pPr>
                      <a:r>
                        <a:rPr lang="en-US" sz="1400" b="1" dirty="0">
                          <a:solidFill>
                            <a:srgbClr val="1D2420"/>
                          </a:solidFill>
                          <a:latin typeface="Atkinson Hyperlegible" pitchFamily="34" charset="0"/>
                          <a:ea typeface="Atkinson Hyperlegible" pitchFamily="34" charset="-122"/>
                          <a:cs typeface="Atkinson Hyperlegible" pitchFamily="34" charset="-120"/>
                        </a:rPr>
                        <a:t>Che tipo è</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1B5B0"/>
                      </a:solidFill>
                      <a:prstDash val="solid"/>
                      <a:round/>
                      <a:headEnd type="none" w="med" len="med"/>
                      <a:tailEnd type="none" w="med" len="med"/>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tc>
                  <a:txBody>
                    <a:bodyPr/>
                    <a:lstStyle/>
                    <a:p>
                      <a:pPr marL="0" indent="0">
                        <a:lnSpc>
                          <a:spcPts val="1960"/>
                        </a:lnSpc>
                        <a:buNone/>
                      </a:pPr>
                      <a:r>
                        <a:rPr lang="en-US" sz="1400" b="1" dirty="0">
                          <a:solidFill>
                            <a:srgbClr val="1D2420"/>
                          </a:solidFill>
                          <a:latin typeface="Atkinson Hyperlegible" pitchFamily="34" charset="0"/>
                          <a:ea typeface="Atkinson Hyperlegible" pitchFamily="34" charset="-122"/>
                          <a:cs typeface="Atkinson Hyperlegible" pitchFamily="34" charset="-120"/>
                        </a:rPr>
                        <a:t>A che cosa serve</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1B5B0"/>
                      </a:solidFill>
                      <a:prstDash val="solid"/>
                      <a:round/>
                      <a:headEnd type="none" w="med" len="med"/>
                      <a:tailEnd type="none" w="med" len="med"/>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tc>
                  <a:txBody>
                    <a:bodyPr/>
                    <a:lstStyle/>
                    <a:p>
                      <a:pPr marL="0" indent="0">
                        <a:lnSpc>
                          <a:spcPts val="1960"/>
                        </a:lnSpc>
                        <a:buNone/>
                      </a:pPr>
                      <a:r>
                        <a:rPr lang="en-US" sz="1400" b="1" dirty="0">
                          <a:solidFill>
                            <a:srgbClr val="1D2420"/>
                          </a:solidFill>
                          <a:latin typeface="Atkinson Hyperlegible" pitchFamily="34" charset="0"/>
                          <a:ea typeface="Atkinson Hyperlegible" pitchFamily="34" charset="-122"/>
                          <a:cs typeface="Atkinson Hyperlegible" pitchFamily="34" charset="-120"/>
                        </a:rPr>
                        <a:t>Modulo</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1B5B0"/>
                      </a:solidFill>
                      <a:prstDash val="solid"/>
                      <a:round/>
                      <a:headEnd type="none" w="med" len="med"/>
                      <a:tailEnd type="none" w="med" len="med"/>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extLst>
                  <a:ext uri="{0D108BD9-81ED-4DB2-BD59-A6C34878D82A}">
                    <a16:rowId xmlns:a16="http://schemas.microsoft.com/office/drawing/2014/main" val="10000"/>
                  </a:ext>
                </a:extLst>
              </a:tr>
              <a:tr h="382608">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HTML</a:t>
                      </a:r>
                      <a:endParaRPr lang="en-US" sz="1400" dirty="0">
                        <a:latin typeface="Atkinson Hyperlegible" charset="0"/>
                        <a:ea typeface="Atkinson Hyperlegible" charset="0"/>
                        <a:cs typeface="Atkinson Hyperlegible" charset="0"/>
                      </a:endParaRPr>
                    </a:p>
                  </a:txBody>
                  <a:tcPr marL="62230" marR="62230" marT="62230" marB="62230">
                    <a:lnL w="0" cap="flat" cmpd="sng" algn="ctr">
                      <a:noFill/>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Markup</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La struttura della pagina</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1</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1"/>
                  </a:ext>
                </a:extLst>
              </a:tr>
              <a:tr h="382608">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CSS</a:t>
                      </a:r>
                      <a:endParaRPr lang="en-US" sz="1400" dirty="0">
                        <a:latin typeface="Atkinson Hyperlegible" charset="0"/>
                        <a:ea typeface="Atkinson Hyperlegible" charset="0"/>
                        <a:cs typeface="Atkinson Hyperlegible" charset="0"/>
                      </a:endParaRPr>
                    </a:p>
                  </a:txBody>
                  <a:tcPr marL="62230" marR="62230" marT="62230" marB="6223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Stile</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L’aspetto: caratteri, colori, impaginazione</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1</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2"/>
                  </a:ext>
                </a:extLst>
              </a:tr>
              <a:tr h="382608">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JavaScript</a:t>
                      </a:r>
                      <a:endParaRPr lang="en-US" sz="1400" dirty="0">
                        <a:latin typeface="Atkinson Hyperlegible" charset="0"/>
                        <a:ea typeface="Atkinson Hyperlegible" charset="0"/>
                        <a:cs typeface="Atkinson Hyperlegible" charset="0"/>
                      </a:endParaRPr>
                    </a:p>
                  </a:txBody>
                  <a:tcPr marL="62230" marR="62230" marT="62230" marB="6223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Programmazione</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Il comportamento: cercare, filtrare, disegnare</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3</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3"/>
                  </a:ext>
                </a:extLst>
              </a:tr>
              <a:tr h="382608">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CSV e JSON</a:t>
                      </a:r>
                      <a:endParaRPr lang="en-US" sz="1400" dirty="0">
                        <a:latin typeface="Atkinson Hyperlegible" charset="0"/>
                        <a:ea typeface="Atkinson Hyperlegible" charset="0"/>
                        <a:cs typeface="Atkinson Hyperlegible" charset="0"/>
                      </a:endParaRPr>
                    </a:p>
                  </a:txBody>
                  <a:tcPr marL="62230" marR="62230" marT="62230" marB="6223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Formati di dati</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Scrivere e scambiare i record</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2</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4"/>
                  </a:ext>
                </a:extLst>
              </a:tr>
              <a:tr h="382608">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XML-TEI</a:t>
                      </a:r>
                      <a:endParaRPr lang="en-US" sz="1400" dirty="0">
                        <a:latin typeface="Atkinson Hyperlegible" charset="0"/>
                        <a:ea typeface="Atkinson Hyperlegible" charset="0"/>
                        <a:cs typeface="Atkinson Hyperlegible" charset="0"/>
                      </a:endParaRPr>
                    </a:p>
                  </a:txBody>
                  <a:tcPr marL="62230" marR="62230" marT="62230" marB="6223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Markup per testi</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Codificare testi letterari e documenti</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2</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5"/>
                  </a:ext>
                </a:extLst>
              </a:tr>
              <a:tr h="382608">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RDF in Turtle</a:t>
                      </a:r>
                      <a:endParaRPr lang="en-US" sz="1400" dirty="0">
                        <a:latin typeface="Atkinson Hyperlegible" charset="0"/>
                        <a:ea typeface="Atkinson Hyperlegible" charset="0"/>
                        <a:cs typeface="Atkinson Hyperlegible" charset="0"/>
                      </a:endParaRPr>
                    </a:p>
                  </a:txBody>
                  <a:tcPr marL="62230" marR="62230" marT="62230" marB="6223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Dati collegati</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Pubblicare i dati come Linked Open Data</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2</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6"/>
                  </a:ext>
                </a:extLst>
              </a:tr>
              <a:tr h="382608">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SVG</a:t>
                      </a:r>
                      <a:endParaRPr lang="en-US" sz="1400" dirty="0">
                        <a:latin typeface="Atkinson Hyperlegible" charset="0"/>
                        <a:ea typeface="Atkinson Hyperlegible" charset="0"/>
                        <a:cs typeface="Atkinson Hyperlegible" charset="0"/>
                      </a:endParaRPr>
                    </a:p>
                  </a:txBody>
                  <a:tcPr marL="62230" marR="62230" marT="62230" marB="6223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Grafica</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Disegnare grafici con il codice</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3</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7"/>
                  </a:ext>
                </a:extLst>
              </a:tr>
              <a:tr h="382608">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Markdown</a:t>
                      </a:r>
                      <a:endParaRPr lang="en-US" sz="1400" dirty="0">
                        <a:latin typeface="Atkinson Hyperlegible" charset="0"/>
                        <a:ea typeface="Atkinson Hyperlegible" charset="0"/>
                        <a:cs typeface="Atkinson Hyperlegible" charset="0"/>
                      </a:endParaRPr>
                    </a:p>
                  </a:txBody>
                  <a:tcPr marL="62230" marR="62230" marT="62230" marB="6223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Testo formattato</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Scrivere la documentazione</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4</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Text 3"/>
          <p:cNvSpPr/>
          <p:nvPr/>
        </p:nvSpPr>
        <p:spPr>
          <a:xfrm>
            <a:off x="812797" y="6238323"/>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Modulo 0, lezione 2: introduzione all’informatica umanistica</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CEEE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97" y="812794"/>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Descrivere, istruire, rappresentare</a:t>
            </a:r>
            <a:endParaRPr lang="en-US" sz="3200" dirty="0"/>
          </a:p>
        </p:txBody>
      </p:sp>
      <p:sp>
        <p:nvSpPr>
          <p:cNvPr id="3" name="Shape 1"/>
          <p:cNvSpPr/>
          <p:nvPr/>
        </p:nvSpPr>
        <p:spPr>
          <a:xfrm>
            <a:off x="815972" y="1567786"/>
            <a:ext cx="3380341" cy="1864539"/>
          </a:xfrm>
          <a:prstGeom prst="roundRect">
            <a:avLst>
              <a:gd name="adj" fmla="val 3917"/>
            </a:avLst>
          </a:prstGeom>
          <a:solidFill>
            <a:srgbClr val="F8F9F6"/>
          </a:solidFill>
          <a:ln w="6350">
            <a:solidFill>
              <a:srgbClr val="C6CDC6"/>
            </a:solidFill>
            <a:prstDash val="solid"/>
          </a:ln>
        </p:spPr>
        <p:txBody>
          <a:bodyPr/>
          <a:lstStyle/>
          <a:p>
            <a:endParaRPr lang="it-IT"/>
          </a:p>
        </p:txBody>
      </p:sp>
      <p:sp>
        <p:nvSpPr>
          <p:cNvPr id="4" name="Text 2"/>
          <p:cNvSpPr/>
          <p:nvPr/>
        </p:nvSpPr>
        <p:spPr>
          <a:xfrm>
            <a:off x="1045997" y="1797813"/>
            <a:ext cx="3007899"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A685A"/>
                </a:solidFill>
                <a:latin typeface="Atkinson Hyperlegible" pitchFamily="34" charset="0"/>
                <a:ea typeface="Atkinson Hyperlegible" pitchFamily="34" charset="-122"/>
                <a:cs typeface="Atkinson Hyperlegible" pitchFamily="34" charset="-120"/>
              </a:rPr>
              <a:t>HTML, TEI, Markdown</a:t>
            </a:r>
            <a:endParaRPr lang="en-US" sz="1200" dirty="0"/>
          </a:p>
        </p:txBody>
      </p:sp>
      <p:sp>
        <p:nvSpPr>
          <p:cNvPr id="5" name="Text 3"/>
          <p:cNvSpPr/>
          <p:nvPr/>
        </p:nvSpPr>
        <p:spPr>
          <a:xfrm>
            <a:off x="1045997" y="2087283"/>
            <a:ext cx="3007899"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Descrivere</a:t>
            </a:r>
            <a:endParaRPr lang="en-US" sz="2000" dirty="0"/>
          </a:p>
        </p:txBody>
      </p:sp>
      <p:sp>
        <p:nvSpPr>
          <p:cNvPr id="6" name="Text 4"/>
          <p:cNvSpPr/>
          <p:nvPr/>
        </p:nvSpPr>
        <p:spPr>
          <a:xfrm>
            <a:off x="1045997" y="2455552"/>
            <a:ext cx="3007899" cy="77214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I linguaggi di markup annotano un testo: questo è un titolo, questo è un verso.</a:t>
            </a:r>
            <a:endParaRPr lang="en-US" sz="1400" dirty="0"/>
          </a:p>
        </p:txBody>
      </p:sp>
      <p:sp>
        <p:nvSpPr>
          <p:cNvPr id="7" name="Shape 5"/>
          <p:cNvSpPr/>
          <p:nvPr/>
        </p:nvSpPr>
        <p:spPr>
          <a:xfrm>
            <a:off x="4405808" y="1567786"/>
            <a:ext cx="3380341" cy="1864539"/>
          </a:xfrm>
          <a:prstGeom prst="roundRect">
            <a:avLst>
              <a:gd name="adj" fmla="val 3917"/>
            </a:avLst>
          </a:prstGeom>
          <a:solidFill>
            <a:srgbClr val="F8F9F6"/>
          </a:solidFill>
          <a:ln w="6350">
            <a:solidFill>
              <a:srgbClr val="C6CDC6"/>
            </a:solidFill>
            <a:prstDash val="solid"/>
          </a:ln>
        </p:spPr>
        <p:txBody>
          <a:bodyPr/>
          <a:lstStyle/>
          <a:p>
            <a:endParaRPr lang="it-IT"/>
          </a:p>
        </p:txBody>
      </p:sp>
      <p:sp>
        <p:nvSpPr>
          <p:cNvPr id="8" name="Text 6"/>
          <p:cNvSpPr/>
          <p:nvPr/>
        </p:nvSpPr>
        <p:spPr>
          <a:xfrm>
            <a:off x="4635833" y="1797813"/>
            <a:ext cx="3007899"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4889"/>
                </a:solidFill>
                <a:latin typeface="Atkinson Hyperlegible" pitchFamily="34" charset="0"/>
                <a:ea typeface="Atkinson Hyperlegible" pitchFamily="34" charset="-122"/>
                <a:cs typeface="Atkinson Hyperlegible" pitchFamily="34" charset="-120"/>
              </a:rPr>
              <a:t>JavaScript</a:t>
            </a:r>
            <a:endParaRPr lang="en-US" sz="1200" dirty="0"/>
          </a:p>
        </p:txBody>
      </p:sp>
      <p:sp>
        <p:nvSpPr>
          <p:cNvPr id="9" name="Text 7"/>
          <p:cNvSpPr/>
          <p:nvPr/>
        </p:nvSpPr>
        <p:spPr>
          <a:xfrm>
            <a:off x="4635833" y="2087283"/>
            <a:ext cx="3007899"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Istruire</a:t>
            </a:r>
            <a:endParaRPr lang="en-US" sz="2000" dirty="0"/>
          </a:p>
        </p:txBody>
      </p:sp>
      <p:sp>
        <p:nvSpPr>
          <p:cNvPr id="10" name="Text 8"/>
          <p:cNvSpPr/>
          <p:nvPr/>
        </p:nvSpPr>
        <p:spPr>
          <a:xfrm>
            <a:off x="4635833" y="2455552"/>
            <a:ext cx="3007899" cy="77214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I linguaggi di programmazione danno ordini: per ogni record, se è del Cinquecento, mostralo.</a:t>
            </a:r>
            <a:endParaRPr lang="en-US" sz="1400" dirty="0"/>
          </a:p>
        </p:txBody>
      </p:sp>
      <p:sp>
        <p:nvSpPr>
          <p:cNvPr id="11" name="Shape 9"/>
          <p:cNvSpPr/>
          <p:nvPr/>
        </p:nvSpPr>
        <p:spPr>
          <a:xfrm>
            <a:off x="7995644" y="1567786"/>
            <a:ext cx="3380341" cy="1864539"/>
          </a:xfrm>
          <a:prstGeom prst="roundRect">
            <a:avLst>
              <a:gd name="adj" fmla="val 3917"/>
            </a:avLst>
          </a:prstGeom>
          <a:solidFill>
            <a:srgbClr val="F8F9F6"/>
          </a:solidFill>
          <a:ln w="6350">
            <a:solidFill>
              <a:srgbClr val="C6CDC6"/>
            </a:solidFill>
            <a:prstDash val="solid"/>
          </a:ln>
        </p:spPr>
        <p:txBody>
          <a:bodyPr/>
          <a:lstStyle/>
          <a:p>
            <a:endParaRPr lang="it-IT"/>
          </a:p>
        </p:txBody>
      </p:sp>
      <p:sp>
        <p:nvSpPr>
          <p:cNvPr id="12" name="Text 10"/>
          <p:cNvSpPr/>
          <p:nvPr/>
        </p:nvSpPr>
        <p:spPr>
          <a:xfrm>
            <a:off x="8225669" y="1797813"/>
            <a:ext cx="3007899"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4761A"/>
                </a:solidFill>
                <a:latin typeface="Atkinson Hyperlegible" pitchFamily="34" charset="0"/>
                <a:ea typeface="Atkinson Hyperlegible" pitchFamily="34" charset="-122"/>
                <a:cs typeface="Atkinson Hyperlegible" pitchFamily="34" charset="-120"/>
              </a:rPr>
              <a:t>CSV, JSON, RDF</a:t>
            </a:r>
            <a:endParaRPr lang="en-US" sz="1200" dirty="0"/>
          </a:p>
        </p:txBody>
      </p:sp>
      <p:sp>
        <p:nvSpPr>
          <p:cNvPr id="13" name="Text 11"/>
          <p:cNvSpPr/>
          <p:nvPr/>
        </p:nvSpPr>
        <p:spPr>
          <a:xfrm>
            <a:off x="8225669" y="2087283"/>
            <a:ext cx="3007899"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Rappresentare</a:t>
            </a:r>
            <a:endParaRPr lang="en-US" sz="2000" dirty="0"/>
          </a:p>
        </p:txBody>
      </p:sp>
      <p:sp>
        <p:nvSpPr>
          <p:cNvPr id="14" name="Text 12"/>
          <p:cNvSpPr/>
          <p:nvPr/>
        </p:nvSpPr>
        <p:spPr>
          <a:xfrm>
            <a:off x="8225669" y="2455552"/>
            <a:ext cx="3007899" cy="77214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I formati di dati registrano informazioni: questo oggetto ha questo titolo e questa data.</a:t>
            </a:r>
            <a:endParaRPr lang="en-US" sz="1400" dirty="0"/>
          </a:p>
        </p:txBody>
      </p:sp>
      <p:sp>
        <p:nvSpPr>
          <p:cNvPr id="15" name="Text 13"/>
          <p:cNvSpPr/>
          <p:nvPr/>
        </p:nvSpPr>
        <p:spPr>
          <a:xfrm>
            <a:off x="812797" y="6238323"/>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Modulo 0, lezione 2: introduzione all’informatica umanistica</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A685A"/>
        </a:solidFill>
        <a:effectLst/>
      </p:bgPr>
    </p:bg>
    <p:spTree>
      <p:nvGrpSpPr>
        <p:cNvPr id="1" name=""/>
        <p:cNvGrpSpPr/>
        <p:nvPr/>
      </p:nvGrpSpPr>
      <p:grpSpPr>
        <a:xfrm>
          <a:off x="0" y="0"/>
          <a:ext cx="0" cy="0"/>
          <a:chOff x="0" y="0"/>
          <a:chExt cx="0" cy="0"/>
        </a:xfrm>
      </p:grpSpPr>
      <p:sp>
        <p:nvSpPr>
          <p:cNvPr id="2" name="Text 0"/>
          <p:cNvSpPr/>
          <p:nvPr/>
        </p:nvSpPr>
        <p:spPr>
          <a:xfrm>
            <a:off x="812797" y="2481411"/>
            <a:ext cx="10883353" cy="309875"/>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1D57E"/>
                </a:solidFill>
                <a:latin typeface="Atkinson Hyperlegible" pitchFamily="34" charset="0"/>
                <a:ea typeface="Atkinson Hyperlegible" pitchFamily="34" charset="-122"/>
                <a:cs typeface="Atkinson Hyperlegible" pitchFamily="34" charset="-120"/>
              </a:rPr>
              <a:t>Parte 4</a:t>
            </a:r>
            <a:endParaRPr lang="en-US" sz="1600" dirty="0"/>
          </a:p>
        </p:txBody>
      </p:sp>
      <p:sp>
        <p:nvSpPr>
          <p:cNvPr id="3" name="Text 1"/>
          <p:cNvSpPr>
            <a:spLocks noGrp="1"/>
          </p:cNvSpPr>
          <p:nvPr>
            <p:ph type="title"/>
          </p:nvPr>
        </p:nvSpPr>
        <p:spPr>
          <a:xfrm>
            <a:off x="812797" y="2969034"/>
            <a:ext cx="10883353" cy="683720"/>
          </a:xfrm>
          <a:prstGeom prst="rect">
            <a:avLst/>
          </a:prstGeom>
          <a:noFill/>
          <a:ln/>
        </p:spPr>
        <p:txBody>
          <a:bodyPr wrap="square" lIns="0" tIns="0" rIns="0" bIns="0" rtlCol="0" anchor="t">
            <a:normAutofit/>
          </a:bodyPr>
          <a:lstStyle/>
          <a:p>
            <a:pPr marL="0" indent="0" algn="l">
              <a:lnSpc>
                <a:spcPts val="5184"/>
              </a:lnSpc>
              <a:buNone/>
            </a:pPr>
            <a:r>
              <a:rPr lang="en-US" sz="4800" b="1" i="0" dirty="0">
                <a:solidFill>
                  <a:srgbClr val="F3F5F1"/>
                </a:solidFill>
                <a:latin typeface="Spectral" pitchFamily="18" charset="0"/>
                <a:ea typeface="Spectral" pitchFamily="18" charset="-122"/>
                <a:cs typeface="Spectral" pitchFamily="18" charset="-120"/>
              </a:rPr>
              <a:t>Siti da conoscere</a:t>
            </a:r>
            <a:endParaRPr lang="en-US" sz="4800" dirty="0"/>
          </a:p>
        </p:txBody>
      </p:sp>
      <p:sp>
        <p:nvSpPr>
          <p:cNvPr id="4" name="Text 2"/>
          <p:cNvSpPr/>
          <p:nvPr/>
        </p:nvSpPr>
        <p:spPr>
          <a:xfrm>
            <a:off x="812797" y="3830495"/>
            <a:ext cx="8502650" cy="368248"/>
          </a:xfrm>
          <a:prstGeom prst="rect">
            <a:avLst/>
          </a:prstGeom>
          <a:noFill/>
          <a:ln/>
        </p:spPr>
        <p:txBody>
          <a:bodyPr wrap="square" lIns="0" tIns="0" rIns="0" bIns="0" rtlCol="0" anchor="t">
            <a:normAutofit/>
          </a:bodyPr>
          <a:lstStyle/>
          <a:p>
            <a:pPr marL="0" indent="0" algn="l">
              <a:lnSpc>
                <a:spcPts val="2700"/>
              </a:lnSpc>
              <a:buNone/>
            </a:pPr>
            <a:r>
              <a:rPr lang="en-US" sz="2000" i="1" dirty="0">
                <a:solidFill>
                  <a:srgbClr val="D3E3DD"/>
                </a:solidFill>
                <a:latin typeface="Spectral" pitchFamily="18" charset="0"/>
                <a:ea typeface="Spectral" pitchFamily="18" charset="-122"/>
                <a:cs typeface="Spectral" pitchFamily="18" charset="-120"/>
              </a:rPr>
              <a:t>Che cosa fanno i progetti digitali che esistono già?</a:t>
            </a:r>
            <a:endParaRPr lang="en-US" sz="2000" dirty="0"/>
          </a:p>
        </p:txBody>
      </p:sp>
      <p:sp>
        <p:nvSpPr>
          <p:cNvPr id="5" name="Text 3"/>
          <p:cNvSpPr/>
          <p:nvPr/>
        </p:nvSpPr>
        <p:spPr>
          <a:xfrm>
            <a:off x="812797" y="6238323"/>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3AD"/>
                </a:solidFill>
                <a:latin typeface="Atkinson Hyperlegible" pitchFamily="34" charset="0"/>
                <a:ea typeface="Atkinson Hyperlegible" pitchFamily="34" charset="-122"/>
                <a:cs typeface="Atkinson Hyperlegible" pitchFamily="34" charset="-120"/>
              </a:rPr>
              <a:t>Modulo 0</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CEEE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97" y="812794"/>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Sette progetti da esplorare</a:t>
            </a:r>
            <a:endParaRPr lang="en-US" sz="3200" dirty="0"/>
          </a:p>
        </p:txBody>
      </p:sp>
      <p:sp>
        <p:nvSpPr>
          <p:cNvPr id="3" name="Shape 1"/>
          <p:cNvSpPr/>
          <p:nvPr/>
        </p:nvSpPr>
        <p:spPr>
          <a:xfrm>
            <a:off x="812797" y="1569246"/>
            <a:ext cx="10566362" cy="0"/>
          </a:xfrm>
          <a:prstGeom prst="line">
            <a:avLst/>
          </a:prstGeom>
          <a:noFill/>
          <a:ln w="9270">
            <a:solidFill>
              <a:srgbClr val="141413">
                <a:alpha val="22000"/>
              </a:srgbClr>
            </a:solidFill>
            <a:prstDash val="solid"/>
          </a:ln>
        </p:spPr>
        <p:txBody>
          <a:bodyPr/>
          <a:lstStyle/>
          <a:p>
            <a:endParaRPr lang="it-IT"/>
          </a:p>
        </p:txBody>
      </p:sp>
      <p:sp>
        <p:nvSpPr>
          <p:cNvPr id="4" name="Shape 2"/>
          <p:cNvSpPr/>
          <p:nvPr/>
        </p:nvSpPr>
        <p:spPr>
          <a:xfrm>
            <a:off x="817432" y="1564611"/>
            <a:ext cx="0" cy="3246843"/>
          </a:xfrm>
          <a:prstGeom prst="line">
            <a:avLst/>
          </a:prstGeom>
          <a:noFill/>
          <a:ln w="9270">
            <a:solidFill>
              <a:srgbClr val="141413">
                <a:alpha val="22000"/>
              </a:srgbClr>
            </a:solidFill>
            <a:prstDash val="solid"/>
          </a:ln>
        </p:spPr>
        <p:txBody>
          <a:bodyPr/>
          <a:lstStyle/>
          <a:p>
            <a:endParaRPr lang="it-IT"/>
          </a:p>
        </p:txBody>
      </p:sp>
      <p:graphicFrame>
        <p:nvGraphicFramePr>
          <p:cNvPr id="5" name="Table 0"/>
          <p:cNvGraphicFramePr>
            <a:graphicFrameLocks noGrp="1"/>
          </p:cNvGraphicFramePr>
          <p:nvPr>
            <p:extLst>
              <p:ext uri="{D42A27DB-BD31-4B8C-83A1-F6EECF244321}">
                <p14:modId xmlns:p14="http://schemas.microsoft.com/office/powerpoint/2010/main" val="880537924"/>
              </p:ext>
            </p:extLst>
          </p:nvPr>
        </p:nvGraphicFramePr>
        <p:xfrm>
          <a:off x="936367" y="1662782"/>
          <a:ext cx="10328492" cy="3059848"/>
        </p:xfrm>
        <a:graphic>
          <a:graphicData uri="http://schemas.openxmlformats.org/drawingml/2006/table">
            <a:tbl>
              <a:tblPr/>
              <a:tblGrid>
                <a:gridCol w="3098548">
                  <a:extLst>
                    <a:ext uri="{9D8B030D-6E8A-4147-A177-3AD203B41FA5}">
                      <a16:colId xmlns:a16="http://schemas.microsoft.com/office/drawing/2014/main" val="20000"/>
                    </a:ext>
                  </a:extLst>
                </a:gridCol>
                <a:gridCol w="3718257">
                  <a:extLst>
                    <a:ext uri="{9D8B030D-6E8A-4147-A177-3AD203B41FA5}">
                      <a16:colId xmlns:a16="http://schemas.microsoft.com/office/drawing/2014/main" val="20001"/>
                    </a:ext>
                  </a:extLst>
                </a:gridCol>
                <a:gridCol w="3511687">
                  <a:extLst>
                    <a:ext uri="{9D8B030D-6E8A-4147-A177-3AD203B41FA5}">
                      <a16:colId xmlns:a16="http://schemas.microsoft.com/office/drawing/2014/main" val="20002"/>
                    </a:ext>
                  </a:extLst>
                </a:gridCol>
              </a:tblGrid>
              <a:tr h="329160">
                <a:tc>
                  <a:txBody>
                    <a:bodyPr/>
                    <a:lstStyle/>
                    <a:p>
                      <a:pPr marL="0" indent="0">
                        <a:lnSpc>
                          <a:spcPts val="1680"/>
                        </a:lnSpc>
                        <a:buNone/>
                      </a:pPr>
                      <a:r>
                        <a:rPr lang="en-US" sz="1200" b="1" dirty="0">
                          <a:solidFill>
                            <a:srgbClr val="1D2420"/>
                          </a:solidFill>
                          <a:latin typeface="Atkinson Hyperlegible" pitchFamily="34" charset="0"/>
                          <a:ea typeface="Atkinson Hyperlegible" pitchFamily="34" charset="-122"/>
                          <a:cs typeface="Atkinson Hyperlegible" pitchFamily="34" charset="-120"/>
                        </a:rPr>
                        <a:t>Progetto</a:t>
                      </a:r>
                      <a:endParaRPr lang="en-US" sz="1200" dirty="0">
                        <a:latin typeface="Atkinson Hyperlegible" charset="0"/>
                        <a:ea typeface="Atkinson Hyperlegible" charset="0"/>
                        <a:cs typeface="Atkinson Hyperlegible" charset="0"/>
                      </a:endParaRPr>
                    </a:p>
                  </a:txBody>
                  <a:tcPr marL="53340" marR="53340" marT="53340" marB="53340">
                    <a:lnL w="0" cap="flat" cmpd="sng" algn="ctr">
                      <a:noFill/>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tc>
                  <a:txBody>
                    <a:bodyPr/>
                    <a:lstStyle/>
                    <a:p>
                      <a:pPr marL="0" indent="0">
                        <a:lnSpc>
                          <a:spcPts val="1680"/>
                        </a:lnSpc>
                        <a:buNone/>
                      </a:pPr>
                      <a:r>
                        <a:rPr lang="en-US" sz="1200" b="1" dirty="0">
                          <a:solidFill>
                            <a:srgbClr val="1D2420"/>
                          </a:solidFill>
                          <a:latin typeface="Atkinson Hyperlegible" pitchFamily="34" charset="0"/>
                          <a:ea typeface="Atkinson Hyperlegible" pitchFamily="34" charset="-122"/>
                          <a:cs typeface="Atkinson Hyperlegible" pitchFamily="34" charset="-120"/>
                        </a:rPr>
                        <a:t>Che cosa offre</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1B5B0"/>
                      </a:solidFill>
                      <a:prstDash val="solid"/>
                      <a:round/>
                      <a:headEnd type="none" w="med" len="med"/>
                      <a:tailEnd type="none" w="med" len="med"/>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tc>
                  <a:txBody>
                    <a:bodyPr/>
                    <a:lstStyle/>
                    <a:p>
                      <a:pPr marL="0" indent="0">
                        <a:lnSpc>
                          <a:spcPts val="1680"/>
                        </a:lnSpc>
                        <a:buNone/>
                      </a:pPr>
                      <a:r>
                        <a:rPr lang="en-US" sz="1200" b="1" dirty="0">
                          <a:solidFill>
                            <a:srgbClr val="1D2420"/>
                          </a:solidFill>
                          <a:latin typeface="Atkinson Hyperlegible" pitchFamily="34" charset="0"/>
                          <a:ea typeface="Atkinson Hyperlegible" pitchFamily="34" charset="-122"/>
                          <a:cs typeface="Atkinson Hyperlegible" pitchFamily="34" charset="-120"/>
                        </a:rPr>
                        <a:t>Da osservare</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1B5B0"/>
                      </a:solidFill>
                      <a:prstDash val="solid"/>
                      <a:round/>
                      <a:headEnd type="none" w="med" len="med"/>
                      <a:tailEnd type="none" w="med" len="med"/>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extLst>
                  <a:ext uri="{0D108BD9-81ED-4DB2-BD59-A6C34878D82A}">
                    <a16:rowId xmlns:a16="http://schemas.microsoft.com/office/drawing/2014/main" val="10000"/>
                  </a:ext>
                </a:extLst>
              </a:tr>
              <a:tr h="329160">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Catalogo generale dei beni culturali (ICCD)</a:t>
                      </a:r>
                      <a:endParaRPr lang="en-US" sz="1200" dirty="0">
                        <a:latin typeface="Atkinson Hyperlegible" charset="0"/>
                        <a:ea typeface="Atkinson Hyperlegible" charset="0"/>
                        <a:cs typeface="Atkinson Hyperlegible" charset="0"/>
                      </a:endParaRPr>
                    </a:p>
                  </a:txBody>
                  <a:tcPr marL="53340" marR="53340" marT="53340" marB="53340">
                    <a:lnL w="0" cap="flat" cmpd="sng" algn="ctr">
                      <a:noFill/>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Le schede del patrimonio culturale italiano</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Schede ICCD, vocabolari, dati aperti</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1"/>
                  </a:ext>
                </a:extLst>
              </a:tr>
              <a:tr h="542444">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Europeana</a:t>
                      </a:r>
                      <a:endParaRPr lang="en-US" sz="1200" dirty="0">
                        <a:latin typeface="Atkinson Hyperlegible" charset="0"/>
                        <a:ea typeface="Atkinson Hyperlegible" charset="0"/>
                        <a:cs typeface="Atkinson Hyperlegible" charset="0"/>
                      </a:endParaRPr>
                    </a:p>
                  </a:txBody>
                  <a:tcPr marL="53340" marR="53340" marT="53340" marB="5334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Il patrimonio di musei, archivi e biblioteche europei</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Aggregazione di molte fonti, servizi per sviluppatori</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2"/>
                  </a:ext>
                </a:extLst>
              </a:tr>
              <a:tr h="329160">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Fototeca Zeri</a:t>
                      </a:r>
                      <a:endParaRPr lang="en-US" sz="1200" dirty="0">
                        <a:latin typeface="Atkinson Hyperlegible" charset="0"/>
                        <a:ea typeface="Atkinson Hyperlegible" charset="0"/>
                        <a:cs typeface="Atkinson Hyperlegible" charset="0"/>
                      </a:endParaRPr>
                    </a:p>
                  </a:txBody>
                  <a:tcPr marL="53340" marR="53340" marT="53340" marB="5334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Fotografie di opere d’arte, Università di Bologna</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Scheda di catalogo di una fotografia e dell’opera</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3"/>
                  </a:ext>
                </a:extLst>
              </a:tr>
              <a:tr h="329160">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Perseus Digital Library</a:t>
                      </a:r>
                      <a:endParaRPr lang="en-US" sz="1200" dirty="0">
                        <a:latin typeface="Atkinson Hyperlegible" charset="0"/>
                        <a:ea typeface="Atkinson Hyperlegible" charset="0"/>
                        <a:cs typeface="Atkinson Hyperlegible" charset="0"/>
                      </a:endParaRPr>
                    </a:p>
                  </a:txBody>
                  <a:tcPr marL="53340" marR="53340" marT="53340" marB="5334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Testi greci e latini con strumenti linguistici</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Testo e analisi morfologica collegati</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4"/>
                  </a:ext>
                </a:extLst>
              </a:tr>
              <a:tr h="542444">
                <a:tc>
                  <a:txBody>
                    <a:bodyPr/>
                    <a:lstStyle/>
                    <a:p>
                      <a:pPr marL="0" marR="0" lvl="0" indent="0" algn="l" defTabSz="914400" rtl="0" eaLnBrk="1" fontAlgn="auto" latinLnBrk="0" hangingPunct="1">
                        <a:lnSpc>
                          <a:spcPts val="1680"/>
                        </a:lnSpc>
                        <a:spcBef>
                          <a:spcPts val="0"/>
                        </a:spcBef>
                        <a:spcAft>
                          <a:spcPts val="0"/>
                        </a:spcAft>
                        <a:buClrTx/>
                        <a:buSzTx/>
                        <a:buFontTx/>
                        <a:buNone/>
                        <a:tabLst/>
                        <a:defRPr/>
                      </a:pPr>
                      <a:r>
                        <a:rPr lang="en-US" sz="1200" dirty="0">
                          <a:solidFill>
                            <a:srgbClr val="1D2420"/>
                          </a:solidFill>
                          <a:latin typeface="Atkinson Hyperlegible" pitchFamily="34" charset="0"/>
                          <a:ea typeface="Atkinson Hyperlegible" pitchFamily="34" charset="-122"/>
                          <a:cs typeface="Atkinson Hyperlegible" pitchFamily="34" charset="-120"/>
                        </a:rPr>
                        <a:t>Biblioteca </a:t>
                      </a:r>
                      <a:r>
                        <a:rPr lang="en-US" sz="1200" dirty="0" err="1">
                          <a:solidFill>
                            <a:srgbClr val="1D2420"/>
                          </a:solidFill>
                          <a:latin typeface="Atkinson Hyperlegible" pitchFamily="34" charset="0"/>
                          <a:ea typeface="Atkinson Hyperlegible" pitchFamily="34" charset="-122"/>
                          <a:cs typeface="Atkinson Hyperlegible" pitchFamily="34" charset="-120"/>
                        </a:rPr>
                        <a:t>Italiana</a:t>
                      </a:r>
                      <a:endParaRPr lang="en-US" sz="1200" dirty="0">
                        <a:latin typeface="Atkinson Hyperlegible" charset="0"/>
                        <a:ea typeface="Atkinson Hyperlegible" charset="0"/>
                        <a:cs typeface="Atkinson Hyperlegible" charset="0"/>
                      </a:endParaRPr>
                    </a:p>
                    <a:p>
                      <a:pPr marL="0" indent="0">
                        <a:lnSpc>
                          <a:spcPts val="1680"/>
                        </a:lnSpc>
                        <a:buNone/>
                      </a:pPr>
                      <a:endParaRPr lang="en-US" sz="1200" dirty="0">
                        <a:latin typeface="Atkinson Hyperlegible" charset="0"/>
                        <a:ea typeface="Atkinson Hyperlegible" charset="0"/>
                        <a:cs typeface="Atkinson Hyperlegible" charset="0"/>
                      </a:endParaRPr>
                    </a:p>
                  </a:txBody>
                  <a:tcPr marL="53340" marR="53340" marT="53340" marB="5334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Testi del </a:t>
                      </a:r>
                      <a:r>
                        <a:rPr lang="en-US" sz="1200" dirty="0" err="1">
                          <a:solidFill>
                            <a:srgbClr val="1D2420"/>
                          </a:solidFill>
                          <a:latin typeface="Atkinson Hyperlegible" pitchFamily="34" charset="0"/>
                          <a:ea typeface="Atkinson Hyperlegible" pitchFamily="34" charset="-122"/>
                          <a:cs typeface="Atkinson Hyperlegible" pitchFamily="34" charset="-120"/>
                        </a:rPr>
                        <a:t>canone</a:t>
                      </a:r>
                      <a:r>
                        <a:rPr lang="en-US" sz="1200" dirty="0">
                          <a:solidFill>
                            <a:srgbClr val="1D2420"/>
                          </a:solidFill>
                          <a:latin typeface="Atkinson Hyperlegible" pitchFamily="34" charset="0"/>
                          <a:ea typeface="Atkinson Hyperlegible" pitchFamily="34" charset="-122"/>
                          <a:cs typeface="Atkinson Hyperlegible" pitchFamily="34" charset="-120"/>
                        </a:rPr>
                        <a:t> della </a:t>
                      </a:r>
                      <a:r>
                        <a:rPr lang="en-US" sz="1200" dirty="0" err="1">
                          <a:solidFill>
                            <a:srgbClr val="1D2420"/>
                          </a:solidFill>
                          <a:latin typeface="Atkinson Hyperlegible" pitchFamily="34" charset="0"/>
                          <a:ea typeface="Atkinson Hyperlegible" pitchFamily="34" charset="-122"/>
                          <a:cs typeface="Atkinson Hyperlegible" pitchFamily="34" charset="-120"/>
                        </a:rPr>
                        <a:t>letteratura</a:t>
                      </a:r>
                      <a:r>
                        <a:rPr lang="en-US" sz="1200" dirty="0">
                          <a:solidFill>
                            <a:srgbClr val="1D2420"/>
                          </a:solidFill>
                          <a:latin typeface="Atkinson Hyperlegible" pitchFamily="34" charset="0"/>
                          <a:ea typeface="Atkinson Hyperlegible" pitchFamily="34" charset="-122"/>
                          <a:cs typeface="Atkinson Hyperlegible" pitchFamily="34" charset="-120"/>
                        </a:rPr>
                        <a:t> </a:t>
                      </a:r>
                      <a:r>
                        <a:rPr lang="en-US" sz="1200" dirty="0" err="1">
                          <a:solidFill>
                            <a:srgbClr val="1D2420"/>
                          </a:solidFill>
                          <a:latin typeface="Atkinson Hyperlegible" pitchFamily="34" charset="0"/>
                          <a:ea typeface="Atkinson Hyperlegible" pitchFamily="34" charset="-122"/>
                          <a:cs typeface="Atkinson Hyperlegible" pitchFamily="34" charset="-120"/>
                        </a:rPr>
                        <a:t>italiana</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err="1">
                          <a:solidFill>
                            <a:srgbClr val="1D2420"/>
                          </a:solidFill>
                          <a:latin typeface="Atkinson Hyperlegible" pitchFamily="34" charset="0"/>
                          <a:ea typeface="Atkinson Hyperlegible" pitchFamily="34" charset="-122"/>
                          <a:cs typeface="Atkinson Hyperlegible" pitchFamily="34" charset="-120"/>
                        </a:rPr>
                        <a:t>Marcatura</a:t>
                      </a:r>
                      <a:r>
                        <a:rPr lang="en-US" sz="1200" dirty="0">
                          <a:solidFill>
                            <a:srgbClr val="1D2420"/>
                          </a:solidFill>
                          <a:latin typeface="Atkinson Hyperlegible" pitchFamily="34" charset="0"/>
                          <a:ea typeface="Atkinson Hyperlegible" pitchFamily="34" charset="-122"/>
                          <a:cs typeface="Atkinson Hyperlegible" pitchFamily="34" charset="-120"/>
                        </a:rPr>
                        <a:t> XML/TEI e </a:t>
                      </a:r>
                      <a:r>
                        <a:rPr lang="en-US" sz="1200" dirty="0" err="1">
                          <a:solidFill>
                            <a:srgbClr val="1D2420"/>
                          </a:solidFill>
                          <a:latin typeface="Atkinson Hyperlegible" pitchFamily="34" charset="0"/>
                          <a:ea typeface="Atkinson Hyperlegible" pitchFamily="34" charset="-122"/>
                          <a:cs typeface="Atkinson Hyperlegible" pitchFamily="34" charset="-120"/>
                        </a:rPr>
                        <a:t>catalogo</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5"/>
                  </a:ext>
                </a:extLst>
              </a:tr>
              <a:tr h="329160">
                <a:tc>
                  <a:txBody>
                    <a:bodyPr/>
                    <a:lstStyle/>
                    <a:p>
                      <a:pPr marL="0" indent="0">
                        <a:lnSpc>
                          <a:spcPts val="1680"/>
                        </a:lnSpc>
                        <a:buNone/>
                      </a:pPr>
                      <a:r>
                        <a:rPr lang="en-US" sz="1200" dirty="0" err="1">
                          <a:latin typeface="Atkinson Hyperlegible" charset="0"/>
                          <a:ea typeface="Atkinson Hyperlegible" charset="0"/>
                          <a:cs typeface="Atkinson Hyperlegible" charset="0"/>
                        </a:rPr>
                        <a:t>Edizione</a:t>
                      </a:r>
                      <a:r>
                        <a:rPr lang="en-US" sz="1200" dirty="0">
                          <a:latin typeface="Atkinson Hyperlegible" charset="0"/>
                          <a:ea typeface="Atkinson Hyperlegible" charset="0"/>
                          <a:cs typeface="Atkinson Hyperlegible" charset="0"/>
                        </a:rPr>
                        <a:t> </a:t>
                      </a:r>
                      <a:r>
                        <a:rPr lang="en-US" sz="1200" dirty="0" err="1">
                          <a:latin typeface="Atkinson Hyperlegible" charset="0"/>
                          <a:ea typeface="Atkinson Hyperlegible" charset="0"/>
                          <a:cs typeface="Atkinson Hyperlegible" charset="0"/>
                        </a:rPr>
                        <a:t>digitale</a:t>
                      </a:r>
                      <a:r>
                        <a:rPr lang="en-US" sz="1200" dirty="0">
                          <a:latin typeface="Atkinson Hyperlegible" charset="0"/>
                          <a:ea typeface="Atkinson Hyperlegible" charset="0"/>
                          <a:cs typeface="Atkinson Hyperlegible" charset="0"/>
                        </a:rPr>
                        <a:t> di Aldo Moro</a:t>
                      </a:r>
                    </a:p>
                  </a:txBody>
                  <a:tcPr marL="53340" marR="53340" marT="53340" marB="5334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err="1">
                          <a:latin typeface="Atkinson Hyperlegible" charset="0"/>
                          <a:ea typeface="Atkinson Hyperlegible" charset="0"/>
                          <a:cs typeface="Atkinson Hyperlegible" charset="0"/>
                        </a:rPr>
                        <a:t>L’edizione</a:t>
                      </a:r>
                      <a:r>
                        <a:rPr lang="en-US" sz="1200" dirty="0">
                          <a:latin typeface="Atkinson Hyperlegible" charset="0"/>
                          <a:ea typeface="Atkinson Hyperlegible" charset="0"/>
                          <a:cs typeface="Atkinson Hyperlegible" charset="0"/>
                        </a:rPr>
                        <a:t> </a:t>
                      </a:r>
                      <a:r>
                        <a:rPr lang="en-US" sz="1200" dirty="0" err="1">
                          <a:latin typeface="Atkinson Hyperlegible" charset="0"/>
                          <a:ea typeface="Atkinson Hyperlegible" charset="0"/>
                          <a:cs typeface="Atkinson Hyperlegible" charset="0"/>
                        </a:rPr>
                        <a:t>nazionale</a:t>
                      </a:r>
                      <a:r>
                        <a:rPr lang="en-US" sz="1200" dirty="0">
                          <a:latin typeface="Atkinson Hyperlegible" charset="0"/>
                          <a:ea typeface="Atkinson Hyperlegible" charset="0"/>
                          <a:cs typeface="Atkinson Hyperlegible" charset="0"/>
                        </a:rPr>
                        <a:t> delle opere</a:t>
                      </a: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a:latin typeface="Atkinson Hyperlegible" charset="0"/>
                          <a:ea typeface="Atkinson Hyperlegible" charset="0"/>
                          <a:cs typeface="Atkinson Hyperlegible" charset="0"/>
                        </a:rPr>
                        <a:t>Servizi, </a:t>
                      </a:r>
                      <a:r>
                        <a:rPr lang="en-US" sz="1200" dirty="0" err="1">
                          <a:latin typeface="Atkinson Hyperlegible" charset="0"/>
                          <a:ea typeface="Atkinson Hyperlegible" charset="0"/>
                          <a:cs typeface="Atkinson Hyperlegible" charset="0"/>
                        </a:rPr>
                        <a:t>strumenti</a:t>
                      </a:r>
                      <a:r>
                        <a:rPr lang="en-US" sz="1200" dirty="0">
                          <a:latin typeface="Atkinson Hyperlegible" charset="0"/>
                          <a:ea typeface="Atkinson Hyperlegible" charset="0"/>
                          <a:cs typeface="Atkinson Hyperlegible" charset="0"/>
                        </a:rPr>
                        <a:t>, </a:t>
                      </a:r>
                      <a:r>
                        <a:rPr lang="en-US" sz="1200" dirty="0" err="1">
                          <a:latin typeface="Atkinson Hyperlegible" charset="0"/>
                          <a:ea typeface="Atkinson Hyperlegible" charset="0"/>
                          <a:cs typeface="Atkinson Hyperlegible" charset="0"/>
                        </a:rPr>
                        <a:t>visualizzazioni</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6"/>
                  </a:ext>
                </a:extLst>
              </a:tr>
              <a:tr h="329160">
                <a:tc>
                  <a:txBody>
                    <a:bodyPr/>
                    <a:lstStyle/>
                    <a:p>
                      <a:pPr marL="0" marR="0" lvl="0" indent="0" algn="l" defTabSz="914400" rtl="0" eaLnBrk="1" fontAlgn="auto" latinLnBrk="0" hangingPunct="1">
                        <a:lnSpc>
                          <a:spcPts val="1680"/>
                        </a:lnSpc>
                        <a:spcBef>
                          <a:spcPts val="0"/>
                        </a:spcBef>
                        <a:spcAft>
                          <a:spcPts val="0"/>
                        </a:spcAft>
                        <a:buClrTx/>
                        <a:buSzTx/>
                        <a:buFontTx/>
                        <a:buNone/>
                        <a:tabLst/>
                        <a:defRPr/>
                      </a:pPr>
                      <a:r>
                        <a:rPr lang="en-US" sz="1200" dirty="0">
                          <a:solidFill>
                            <a:srgbClr val="1D2420"/>
                          </a:solidFill>
                          <a:latin typeface="Atkinson Hyperlegible" pitchFamily="34" charset="0"/>
                          <a:ea typeface="Atkinson Hyperlegible" pitchFamily="34" charset="-122"/>
                          <a:cs typeface="Atkinson Hyperlegible" pitchFamily="34" charset="-120"/>
                        </a:rPr>
                        <a:t>Voyant Tools</a:t>
                      </a:r>
                      <a:endParaRPr lang="en-US" sz="1200" dirty="0">
                        <a:latin typeface="Atkinson Hyperlegible" charset="0"/>
                        <a:ea typeface="Atkinson Hyperlegible" charset="0"/>
                        <a:cs typeface="Atkinson Hyperlegible" charset="0"/>
                      </a:endParaRPr>
                    </a:p>
                  </a:txBody>
                  <a:tcPr marL="53340" marR="53340" marT="53340" marB="5334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marR="0" lvl="0" indent="0" algn="l" defTabSz="914400" rtl="0" eaLnBrk="1" fontAlgn="auto" latinLnBrk="0" hangingPunct="1">
                        <a:lnSpc>
                          <a:spcPts val="1680"/>
                        </a:lnSpc>
                        <a:spcBef>
                          <a:spcPts val="0"/>
                        </a:spcBef>
                        <a:spcAft>
                          <a:spcPts val="0"/>
                        </a:spcAft>
                        <a:buClrTx/>
                        <a:buSzTx/>
                        <a:buFontTx/>
                        <a:buNone/>
                        <a:tabLst/>
                        <a:defRPr/>
                      </a:pPr>
                      <a:r>
                        <a:rPr lang="en-US" sz="1200" dirty="0" err="1">
                          <a:solidFill>
                            <a:srgbClr val="1D2420"/>
                          </a:solidFill>
                          <a:latin typeface="Atkinson Hyperlegible" pitchFamily="34" charset="0"/>
                          <a:ea typeface="Atkinson Hyperlegible" pitchFamily="34" charset="-122"/>
                          <a:cs typeface="Atkinson Hyperlegible" pitchFamily="34" charset="-120"/>
                        </a:rPr>
                        <a:t>Analisi</a:t>
                      </a:r>
                      <a:r>
                        <a:rPr lang="en-US" sz="1200" dirty="0">
                          <a:solidFill>
                            <a:srgbClr val="1D2420"/>
                          </a:solidFill>
                          <a:latin typeface="Atkinson Hyperlegible" pitchFamily="34" charset="0"/>
                          <a:ea typeface="Atkinson Hyperlegible" pitchFamily="34" charset="-122"/>
                          <a:cs typeface="Atkinson Hyperlegible" pitchFamily="34" charset="-120"/>
                        </a:rPr>
                        <a:t> </a:t>
                      </a:r>
                      <a:r>
                        <a:rPr lang="en-US" sz="1200" dirty="0" err="1">
                          <a:solidFill>
                            <a:srgbClr val="1D2420"/>
                          </a:solidFill>
                          <a:latin typeface="Atkinson Hyperlegible" pitchFamily="34" charset="0"/>
                          <a:ea typeface="Atkinson Hyperlegible" pitchFamily="34" charset="-122"/>
                          <a:cs typeface="Atkinson Hyperlegible" pitchFamily="34" charset="-120"/>
                        </a:rPr>
                        <a:t>testuale</a:t>
                      </a:r>
                      <a:r>
                        <a:rPr lang="en-US" sz="1200" dirty="0">
                          <a:solidFill>
                            <a:srgbClr val="1D2420"/>
                          </a:solidFill>
                          <a:latin typeface="Atkinson Hyperlegible" pitchFamily="34" charset="0"/>
                          <a:ea typeface="Atkinson Hyperlegible" pitchFamily="34" charset="-122"/>
                          <a:cs typeface="Atkinson Hyperlegible" pitchFamily="34" charset="-120"/>
                        </a:rPr>
                        <a:t> </a:t>
                      </a:r>
                      <a:r>
                        <a:rPr lang="en-US" sz="1200" dirty="0" err="1">
                          <a:solidFill>
                            <a:srgbClr val="1D2420"/>
                          </a:solidFill>
                          <a:latin typeface="Atkinson Hyperlegible" pitchFamily="34" charset="0"/>
                          <a:ea typeface="Atkinson Hyperlegible" pitchFamily="34" charset="-122"/>
                          <a:cs typeface="Atkinson Hyperlegible" pitchFamily="34" charset="-120"/>
                        </a:rPr>
                        <a:t>nel</a:t>
                      </a:r>
                      <a:r>
                        <a:rPr lang="en-US" sz="1200" dirty="0">
                          <a:solidFill>
                            <a:srgbClr val="1D2420"/>
                          </a:solidFill>
                          <a:latin typeface="Atkinson Hyperlegible" pitchFamily="34" charset="0"/>
                          <a:ea typeface="Atkinson Hyperlegible" pitchFamily="34" charset="-122"/>
                          <a:cs typeface="Atkinson Hyperlegible" pitchFamily="34" charset="-120"/>
                        </a:rPr>
                        <a:t> browser</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marR="0" lvl="0" indent="0" algn="l" defTabSz="914400" rtl="0" eaLnBrk="1" fontAlgn="auto" latinLnBrk="0" hangingPunct="1">
                        <a:lnSpc>
                          <a:spcPts val="1680"/>
                        </a:lnSpc>
                        <a:spcBef>
                          <a:spcPts val="0"/>
                        </a:spcBef>
                        <a:spcAft>
                          <a:spcPts val="0"/>
                        </a:spcAft>
                        <a:buClrTx/>
                        <a:buSzTx/>
                        <a:buFontTx/>
                        <a:buNone/>
                        <a:tabLst/>
                        <a:defRPr/>
                      </a:pPr>
                      <a:r>
                        <a:rPr lang="en-US" sz="1200" dirty="0" err="1">
                          <a:solidFill>
                            <a:srgbClr val="1D2420"/>
                          </a:solidFill>
                          <a:latin typeface="Atkinson Hyperlegible" pitchFamily="34" charset="0"/>
                          <a:ea typeface="Atkinson Hyperlegible" pitchFamily="34" charset="-122"/>
                          <a:cs typeface="Atkinson Hyperlegible" pitchFamily="34" charset="-120"/>
                        </a:rPr>
                        <a:t>Frequenze</a:t>
                      </a:r>
                      <a:r>
                        <a:rPr lang="en-US" sz="1200" dirty="0">
                          <a:solidFill>
                            <a:srgbClr val="1D2420"/>
                          </a:solidFill>
                          <a:latin typeface="Atkinson Hyperlegible" pitchFamily="34" charset="0"/>
                          <a:ea typeface="Atkinson Hyperlegible" pitchFamily="34" charset="-122"/>
                          <a:cs typeface="Atkinson Hyperlegible" pitchFamily="34" charset="-120"/>
                        </a:rPr>
                        <a:t>, </a:t>
                      </a:r>
                      <a:r>
                        <a:rPr lang="en-US" sz="1200" dirty="0" err="1">
                          <a:solidFill>
                            <a:srgbClr val="1D2420"/>
                          </a:solidFill>
                          <a:latin typeface="Atkinson Hyperlegible" pitchFamily="34" charset="0"/>
                          <a:ea typeface="Atkinson Hyperlegible" pitchFamily="34" charset="-122"/>
                          <a:cs typeface="Atkinson Hyperlegible" pitchFamily="34" charset="-120"/>
                        </a:rPr>
                        <a:t>concordanze</a:t>
                      </a:r>
                      <a:r>
                        <a:rPr lang="en-US" sz="1200" dirty="0">
                          <a:solidFill>
                            <a:srgbClr val="1D2420"/>
                          </a:solidFill>
                          <a:latin typeface="Atkinson Hyperlegible" pitchFamily="34" charset="0"/>
                          <a:ea typeface="Atkinson Hyperlegible" pitchFamily="34" charset="-122"/>
                          <a:cs typeface="Atkinson Hyperlegible" pitchFamily="34" charset="-120"/>
                        </a:rPr>
                        <a:t>, </a:t>
                      </a:r>
                      <a:r>
                        <a:rPr lang="en-US" sz="1200" dirty="0" err="1">
                          <a:solidFill>
                            <a:srgbClr val="1D2420"/>
                          </a:solidFill>
                          <a:latin typeface="Atkinson Hyperlegible" pitchFamily="34" charset="0"/>
                          <a:ea typeface="Atkinson Hyperlegible" pitchFamily="34" charset="-122"/>
                          <a:cs typeface="Atkinson Hyperlegible" pitchFamily="34" charset="-120"/>
                        </a:rPr>
                        <a:t>grafici</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 3"/>
          <p:cNvSpPr/>
          <p:nvPr/>
        </p:nvSpPr>
        <p:spPr>
          <a:xfrm>
            <a:off x="812797" y="6238323"/>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Modulo 0, lezione 2: introduzione all’informatica umanistica</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CEEE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97" y="812794"/>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Un caso: che cosa succede quando un progetto finisce</a:t>
            </a:r>
            <a:endParaRPr lang="en-US" sz="3200" dirty="0"/>
          </a:p>
        </p:txBody>
      </p:sp>
      <p:sp>
        <p:nvSpPr>
          <p:cNvPr id="3" name="Text 1"/>
          <p:cNvSpPr/>
          <p:nvPr/>
        </p:nvSpPr>
        <p:spPr>
          <a:xfrm>
            <a:off x="812797" y="1564618"/>
            <a:ext cx="5474536" cy="87882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D2420"/>
                </a:solidFill>
                <a:latin typeface="Atkinson Hyperlegible" pitchFamily="34" charset="0"/>
                <a:ea typeface="Atkinson Hyperlegible" pitchFamily="34" charset="-122"/>
                <a:cs typeface="Atkinson Hyperlegible" pitchFamily="34" charset="-120"/>
              </a:rPr>
              <a:t>Mapping the Republic of Letters, avviato a Stanford nel 2008, ha visualizzato migliaia di lettere tra intellettuali dell’età moderna.</a:t>
            </a:r>
            <a:endParaRPr lang="en-US" sz="1600" dirty="0"/>
          </a:p>
        </p:txBody>
      </p:sp>
      <p:sp>
        <p:nvSpPr>
          <p:cNvPr id="4" name="Text 2"/>
          <p:cNvSpPr/>
          <p:nvPr/>
        </p:nvSpPr>
        <p:spPr>
          <a:xfrm>
            <a:off x="812797" y="2570411"/>
            <a:ext cx="5474536" cy="59435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6605B"/>
                </a:solidFill>
                <a:latin typeface="Atkinson Hyperlegible" pitchFamily="34" charset="0"/>
                <a:ea typeface="Atkinson Hyperlegible" pitchFamily="34" charset="-122"/>
                <a:cs typeface="Atkinson Hyperlegible" pitchFamily="34" charset="-120"/>
              </a:rPr>
              <a:t>Oggi alcune delle sue mappe interattive non funzionano più correttamente; parte dei dati è conservata altrove.</a:t>
            </a:r>
            <a:endParaRPr lang="en-US" sz="1600" dirty="0"/>
          </a:p>
        </p:txBody>
      </p:sp>
      <p:sp>
        <p:nvSpPr>
          <p:cNvPr id="5" name="Shape 3"/>
          <p:cNvSpPr/>
          <p:nvPr/>
        </p:nvSpPr>
        <p:spPr>
          <a:xfrm>
            <a:off x="6486649" y="1567793"/>
            <a:ext cx="4889335" cy="1575067"/>
          </a:xfrm>
          <a:prstGeom prst="roundRect">
            <a:avLst>
              <a:gd name="adj" fmla="val 4636"/>
            </a:avLst>
          </a:prstGeom>
          <a:solidFill>
            <a:srgbClr val="F8F9F6"/>
          </a:solidFill>
          <a:ln w="6350">
            <a:solidFill>
              <a:srgbClr val="C6CDC6"/>
            </a:solidFill>
            <a:prstDash val="solid"/>
          </a:ln>
        </p:spPr>
        <p:txBody>
          <a:bodyPr/>
          <a:lstStyle/>
          <a:p>
            <a:endParaRPr lang="it-IT"/>
          </a:p>
        </p:txBody>
      </p:sp>
      <p:sp>
        <p:nvSpPr>
          <p:cNvPr id="6" name="Text 4"/>
          <p:cNvSpPr/>
          <p:nvPr/>
        </p:nvSpPr>
        <p:spPr>
          <a:xfrm>
            <a:off x="6716675" y="1797819"/>
            <a:ext cx="4562163"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La lezione</a:t>
            </a:r>
            <a:endParaRPr lang="en-US" sz="2000" dirty="0"/>
          </a:p>
        </p:txBody>
      </p:sp>
      <p:sp>
        <p:nvSpPr>
          <p:cNvPr id="7" name="Text 5"/>
          <p:cNvSpPr/>
          <p:nvPr/>
        </p:nvSpPr>
        <p:spPr>
          <a:xfrm>
            <a:off x="6716675" y="2166082"/>
            <a:ext cx="4562163" cy="77214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Un artefatto digitale invecchia: librerie che cambiano, server che si spengono. Dati aperti e documentazione sono ciò che sopravvive.</a:t>
            </a:r>
            <a:endParaRPr lang="en-US" sz="1400" dirty="0"/>
          </a:p>
        </p:txBody>
      </p:sp>
      <p:sp>
        <p:nvSpPr>
          <p:cNvPr id="8" name="Text 6"/>
          <p:cNvSpPr/>
          <p:nvPr/>
        </p:nvSpPr>
        <p:spPr>
          <a:xfrm>
            <a:off x="812797" y="6238329"/>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Modulo 0, lezione 2: introduzione all’informatica umanistica</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A685A"/>
        </a:solidFill>
        <a:effectLst/>
      </p:bgPr>
    </p:bg>
    <p:spTree>
      <p:nvGrpSpPr>
        <p:cNvPr id="1" name=""/>
        <p:cNvGrpSpPr/>
        <p:nvPr/>
      </p:nvGrpSpPr>
      <p:grpSpPr>
        <a:xfrm>
          <a:off x="0" y="0"/>
          <a:ext cx="0" cy="0"/>
          <a:chOff x="0" y="0"/>
          <a:chExt cx="0" cy="0"/>
        </a:xfrm>
      </p:grpSpPr>
      <p:sp>
        <p:nvSpPr>
          <p:cNvPr id="2" name="Text 0"/>
          <p:cNvSpPr/>
          <p:nvPr/>
        </p:nvSpPr>
        <p:spPr>
          <a:xfrm>
            <a:off x="812797" y="2481399"/>
            <a:ext cx="10883353" cy="309875"/>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1D57E"/>
                </a:solidFill>
                <a:latin typeface="Atkinson Hyperlegible" pitchFamily="34" charset="0"/>
                <a:ea typeface="Atkinson Hyperlegible" pitchFamily="34" charset="-122"/>
                <a:cs typeface="Atkinson Hyperlegible" pitchFamily="34" charset="-120"/>
              </a:rPr>
              <a:t>Parte 5</a:t>
            </a:r>
            <a:endParaRPr lang="en-US" sz="1600" dirty="0"/>
          </a:p>
        </p:txBody>
      </p:sp>
      <p:sp>
        <p:nvSpPr>
          <p:cNvPr id="3" name="Text 1"/>
          <p:cNvSpPr>
            <a:spLocks noGrp="1"/>
          </p:cNvSpPr>
          <p:nvPr>
            <p:ph type="title"/>
          </p:nvPr>
        </p:nvSpPr>
        <p:spPr>
          <a:xfrm>
            <a:off x="812797" y="2969022"/>
            <a:ext cx="10883353" cy="683720"/>
          </a:xfrm>
          <a:prstGeom prst="rect">
            <a:avLst/>
          </a:prstGeom>
          <a:noFill/>
          <a:ln/>
        </p:spPr>
        <p:txBody>
          <a:bodyPr wrap="square" lIns="0" tIns="0" rIns="0" bIns="0" rtlCol="0" anchor="t">
            <a:normAutofit/>
          </a:bodyPr>
          <a:lstStyle/>
          <a:p>
            <a:pPr marL="0" indent="0" algn="l">
              <a:lnSpc>
                <a:spcPts val="5184"/>
              </a:lnSpc>
              <a:buNone/>
            </a:pPr>
            <a:r>
              <a:rPr lang="en-US" sz="4800" b="1" i="0" dirty="0">
                <a:solidFill>
                  <a:srgbClr val="F3F5F1"/>
                </a:solidFill>
                <a:latin typeface="Spectral" pitchFamily="18" charset="0"/>
                <a:ea typeface="Spectral" pitchFamily="18" charset="-122"/>
                <a:cs typeface="Spectral" pitchFamily="18" charset="-120"/>
              </a:rPr>
              <a:t>Dati, servizi, visualizzazioni</a:t>
            </a:r>
            <a:endParaRPr lang="en-US" sz="4800" dirty="0"/>
          </a:p>
        </p:txBody>
      </p:sp>
      <p:sp>
        <p:nvSpPr>
          <p:cNvPr id="4" name="Text 2"/>
          <p:cNvSpPr/>
          <p:nvPr/>
        </p:nvSpPr>
        <p:spPr>
          <a:xfrm>
            <a:off x="812797" y="3830489"/>
            <a:ext cx="8502650" cy="368248"/>
          </a:xfrm>
          <a:prstGeom prst="rect">
            <a:avLst/>
          </a:prstGeom>
          <a:noFill/>
          <a:ln/>
        </p:spPr>
        <p:txBody>
          <a:bodyPr wrap="square" lIns="0" tIns="0" rIns="0" bIns="0" rtlCol="0" anchor="t">
            <a:normAutofit/>
          </a:bodyPr>
          <a:lstStyle/>
          <a:p>
            <a:pPr marL="0" indent="0" algn="l">
              <a:lnSpc>
                <a:spcPts val="2700"/>
              </a:lnSpc>
              <a:buNone/>
            </a:pPr>
            <a:r>
              <a:rPr lang="en-US" sz="2000" i="1" dirty="0">
                <a:solidFill>
                  <a:srgbClr val="D3E3DD"/>
                </a:solidFill>
                <a:latin typeface="Spectral" pitchFamily="18" charset="0"/>
                <a:ea typeface="Spectral" pitchFamily="18" charset="-122"/>
                <a:cs typeface="Spectral" pitchFamily="18" charset="-120"/>
              </a:rPr>
              <a:t>Che cosa c’è dietro la pagina che vediamo?</a:t>
            </a:r>
            <a:endParaRPr lang="en-US" sz="2000" dirty="0"/>
          </a:p>
        </p:txBody>
      </p:sp>
      <p:sp>
        <p:nvSpPr>
          <p:cNvPr id="5" name="Text 3"/>
          <p:cNvSpPr/>
          <p:nvPr/>
        </p:nvSpPr>
        <p:spPr>
          <a:xfrm>
            <a:off x="812797" y="6238317"/>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3AD"/>
                </a:solidFill>
                <a:latin typeface="Atkinson Hyperlegible" pitchFamily="34" charset="0"/>
                <a:ea typeface="Atkinson Hyperlegible" pitchFamily="34" charset="-122"/>
                <a:cs typeface="Atkinson Hyperlegible" pitchFamily="34" charset="-120"/>
              </a:rPr>
              <a:t>Modulo 0</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CEEE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97" y="812800"/>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Tre livelli di ogni progetto digitale</a:t>
            </a:r>
            <a:endParaRPr lang="en-US" sz="3200" dirty="0"/>
          </a:p>
        </p:txBody>
      </p:sp>
      <p:sp>
        <p:nvSpPr>
          <p:cNvPr id="3" name="Shape 1"/>
          <p:cNvSpPr/>
          <p:nvPr/>
        </p:nvSpPr>
        <p:spPr>
          <a:xfrm>
            <a:off x="812797" y="1569253"/>
            <a:ext cx="10566362" cy="0"/>
          </a:xfrm>
          <a:prstGeom prst="line">
            <a:avLst/>
          </a:prstGeom>
          <a:noFill/>
          <a:ln w="9270">
            <a:solidFill>
              <a:srgbClr val="141413">
                <a:alpha val="22000"/>
              </a:srgbClr>
            </a:solidFill>
            <a:prstDash val="solid"/>
          </a:ln>
        </p:spPr>
        <p:txBody>
          <a:bodyPr/>
          <a:lstStyle/>
          <a:p>
            <a:endParaRPr lang="it-IT"/>
          </a:p>
        </p:txBody>
      </p:sp>
      <p:sp>
        <p:nvSpPr>
          <p:cNvPr id="4" name="Shape 2"/>
          <p:cNvSpPr/>
          <p:nvPr/>
        </p:nvSpPr>
        <p:spPr>
          <a:xfrm>
            <a:off x="817432" y="1564618"/>
            <a:ext cx="0" cy="2357061"/>
          </a:xfrm>
          <a:prstGeom prst="line">
            <a:avLst/>
          </a:prstGeom>
          <a:noFill/>
          <a:ln w="9270">
            <a:solidFill>
              <a:srgbClr val="141413">
                <a:alpha val="22000"/>
              </a:srgbClr>
            </a:solidFill>
            <a:prstDash val="solid"/>
          </a:ln>
        </p:spPr>
        <p:txBody>
          <a:bodyPr/>
          <a:lstStyle/>
          <a:p>
            <a:endParaRPr lang="it-IT"/>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36367" y="1662788"/>
          <a:ext cx="10328491" cy="2170066"/>
        </p:xfrm>
        <a:graphic>
          <a:graphicData uri="http://schemas.openxmlformats.org/drawingml/2006/table">
            <a:tbl>
              <a:tblPr/>
              <a:tblGrid>
                <a:gridCol w="2065698">
                  <a:extLst>
                    <a:ext uri="{9D8B030D-6E8A-4147-A177-3AD203B41FA5}">
                      <a16:colId xmlns:a16="http://schemas.microsoft.com/office/drawing/2014/main" val="20000"/>
                    </a:ext>
                  </a:extLst>
                </a:gridCol>
                <a:gridCol w="4544536">
                  <a:extLst>
                    <a:ext uri="{9D8B030D-6E8A-4147-A177-3AD203B41FA5}">
                      <a16:colId xmlns:a16="http://schemas.microsoft.com/office/drawing/2014/main" val="20001"/>
                    </a:ext>
                  </a:extLst>
                </a:gridCol>
                <a:gridCol w="3718257">
                  <a:extLst>
                    <a:ext uri="{9D8B030D-6E8A-4147-A177-3AD203B41FA5}">
                      <a16:colId xmlns:a16="http://schemas.microsoft.com/office/drawing/2014/main" val="20002"/>
                    </a:ext>
                  </a:extLst>
                </a:gridCol>
              </a:tblGrid>
              <a:tr h="409187">
                <a:tc>
                  <a:txBody>
                    <a:bodyPr/>
                    <a:lstStyle/>
                    <a:p>
                      <a:pPr marL="0" indent="0">
                        <a:lnSpc>
                          <a:spcPts val="2100"/>
                        </a:lnSpc>
                        <a:buNone/>
                      </a:pPr>
                      <a:r>
                        <a:rPr lang="en-US" sz="1500" b="1" dirty="0">
                          <a:solidFill>
                            <a:srgbClr val="1D2420"/>
                          </a:solidFill>
                          <a:latin typeface="Atkinson Hyperlegible" pitchFamily="34" charset="0"/>
                          <a:ea typeface="Atkinson Hyperlegible" pitchFamily="34" charset="-122"/>
                          <a:cs typeface="Atkinson Hyperlegible" pitchFamily="34" charset="-120"/>
                        </a:rPr>
                        <a:t>Livello</a:t>
                      </a:r>
                      <a:endParaRPr lang="en-US" sz="1500" dirty="0">
                        <a:latin typeface="Atkinson Hyperlegible" charset="0"/>
                        <a:ea typeface="Atkinson Hyperlegible" charset="0"/>
                        <a:cs typeface="Atkinson Hyperlegible" charset="0"/>
                      </a:endParaRPr>
                    </a:p>
                  </a:txBody>
                  <a:tcPr marL="66675" marR="66675" marT="66675" marB="66675">
                    <a:lnL w="0" cap="flat" cmpd="sng" algn="ctr">
                      <a:noFill/>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tc>
                  <a:txBody>
                    <a:bodyPr/>
                    <a:lstStyle/>
                    <a:p>
                      <a:pPr marL="0" indent="0">
                        <a:lnSpc>
                          <a:spcPts val="2100"/>
                        </a:lnSpc>
                        <a:buNone/>
                      </a:pPr>
                      <a:r>
                        <a:rPr lang="en-US" sz="1500" b="1" dirty="0">
                          <a:solidFill>
                            <a:srgbClr val="1D2420"/>
                          </a:solidFill>
                          <a:latin typeface="Atkinson Hyperlegible" pitchFamily="34" charset="0"/>
                          <a:ea typeface="Atkinson Hyperlegible" pitchFamily="34" charset="-122"/>
                          <a:cs typeface="Atkinson Hyperlegible" pitchFamily="34" charset="-120"/>
                        </a:rPr>
                        <a:t>Che cosa è</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1B5B0"/>
                      </a:solidFill>
                      <a:prstDash val="solid"/>
                      <a:round/>
                      <a:headEnd type="none" w="med" len="med"/>
                      <a:tailEnd type="none" w="med" len="med"/>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tc>
                  <a:txBody>
                    <a:bodyPr/>
                    <a:lstStyle/>
                    <a:p>
                      <a:pPr marL="0" indent="0">
                        <a:lnSpc>
                          <a:spcPts val="2100"/>
                        </a:lnSpc>
                        <a:buNone/>
                      </a:pPr>
                      <a:r>
                        <a:rPr lang="en-US" sz="1500" b="1" dirty="0">
                          <a:solidFill>
                            <a:srgbClr val="1D2420"/>
                          </a:solidFill>
                          <a:latin typeface="Atkinson Hyperlegible" pitchFamily="34" charset="0"/>
                          <a:ea typeface="Atkinson Hyperlegible" pitchFamily="34" charset="-122"/>
                          <a:cs typeface="Atkinson Hyperlegible" pitchFamily="34" charset="-120"/>
                        </a:rPr>
                        <a:t>In Scrinium</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1B5B0"/>
                      </a:solidFill>
                      <a:prstDash val="solid"/>
                      <a:round/>
                      <a:headEnd type="none" w="med" len="med"/>
                      <a:tailEnd type="none" w="med" len="med"/>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extLst>
                  <a:ext uri="{0D108BD9-81ED-4DB2-BD59-A6C34878D82A}">
                    <a16:rowId xmlns:a16="http://schemas.microsoft.com/office/drawing/2014/main" val="10000"/>
                  </a:ext>
                </a:extLst>
              </a:tr>
              <a:tr h="675846">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Dati</a:t>
                      </a:r>
                      <a:endParaRPr lang="en-US" sz="1500" dirty="0">
                        <a:latin typeface="Atkinson Hyperlegible" charset="0"/>
                        <a:ea typeface="Atkinson Hyperlegible" charset="0"/>
                        <a:cs typeface="Atkinson Hyperlegible" charset="0"/>
                      </a:endParaRPr>
                    </a:p>
                  </a:txBody>
                  <a:tcPr marL="66675" marR="66675" marT="66675" marB="66675">
                    <a:lnL w="0" cap="flat" cmpd="sng" algn="ctr">
                      <a:noFill/>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Ciò che sappiamo: record, testi, collegamenti</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22 oggetti, 10 testi, 12 collegamenti curati</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1"/>
                  </a:ext>
                </a:extLst>
              </a:tr>
              <a:tr h="675846">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Servizi</a:t>
                      </a:r>
                      <a:endParaRPr lang="en-US" sz="1500" dirty="0">
                        <a:latin typeface="Atkinson Hyperlegible" charset="0"/>
                        <a:ea typeface="Atkinson Hyperlegible" charset="0"/>
                        <a:cs typeface="Atkinson Hyperlegible" charset="0"/>
                      </a:endParaRPr>
                    </a:p>
                  </a:txBody>
                  <a:tcPr marL="66675" marR="66675" marT="66675" marB="66675">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Ciò che si può fare con i dati: cercare, scaricare, interrogare</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Ricerca, filtri, esportazione CSV, JSON, RDF</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2"/>
                  </a:ext>
                </a:extLst>
              </a:tr>
              <a:tr h="409187">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Visualizzazioni</a:t>
                      </a:r>
                      <a:endParaRPr lang="en-US" sz="1500" dirty="0">
                        <a:latin typeface="Atkinson Hyperlegible" charset="0"/>
                        <a:ea typeface="Atkinson Hyperlegible" charset="0"/>
                        <a:cs typeface="Atkinson Hyperlegible" charset="0"/>
                      </a:endParaRPr>
                    </a:p>
                  </a:txBody>
                  <a:tcPr marL="66675" marR="66675" marT="66675" marB="66675">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Ciò che si mostra, e quindi si argomenta</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Cronologia, mappa, lessico, rete</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812797" y="4226433"/>
            <a:ext cx="10883353" cy="309875"/>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6605B"/>
                </a:solidFill>
                <a:latin typeface="Atkinson Hyperlegible" pitchFamily="34" charset="0"/>
                <a:ea typeface="Atkinson Hyperlegible" pitchFamily="34" charset="-122"/>
                <a:cs typeface="Atkinson Hyperlegible" pitchFamily="34" charset="-120"/>
              </a:rPr>
              <a:t>Un buon progetto rende accessibili tutti e tre i livelli, non solo l’ultimo.</a:t>
            </a:r>
            <a:endParaRPr lang="en-US" sz="1600" dirty="0"/>
          </a:p>
        </p:txBody>
      </p:sp>
      <p:sp>
        <p:nvSpPr>
          <p:cNvPr id="7" name="Text 4"/>
          <p:cNvSpPr/>
          <p:nvPr/>
        </p:nvSpPr>
        <p:spPr>
          <a:xfrm>
            <a:off x="812797" y="6238329"/>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Modulo 0, lezione 2: introduzione all’informatica umanistica</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CEEE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97" y="812800"/>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Dati: i principi FAIR</a:t>
            </a:r>
            <a:endParaRPr lang="en-US" sz="3200" dirty="0"/>
          </a:p>
        </p:txBody>
      </p:sp>
      <p:sp>
        <p:nvSpPr>
          <p:cNvPr id="3" name="Shape 1"/>
          <p:cNvSpPr/>
          <p:nvPr/>
        </p:nvSpPr>
        <p:spPr>
          <a:xfrm>
            <a:off x="815972" y="1567793"/>
            <a:ext cx="2520904" cy="1864539"/>
          </a:xfrm>
          <a:prstGeom prst="roundRect">
            <a:avLst>
              <a:gd name="adj" fmla="val 3917"/>
            </a:avLst>
          </a:prstGeom>
          <a:solidFill>
            <a:srgbClr val="F8F9F6"/>
          </a:solidFill>
          <a:ln w="6350">
            <a:solidFill>
              <a:srgbClr val="C6CDC6"/>
            </a:solidFill>
            <a:prstDash val="solid"/>
          </a:ln>
        </p:spPr>
        <p:txBody>
          <a:bodyPr/>
          <a:lstStyle/>
          <a:p>
            <a:endParaRPr lang="it-IT"/>
          </a:p>
        </p:txBody>
      </p:sp>
      <p:sp>
        <p:nvSpPr>
          <p:cNvPr id="4" name="Text 2"/>
          <p:cNvSpPr/>
          <p:nvPr/>
        </p:nvSpPr>
        <p:spPr>
          <a:xfrm>
            <a:off x="1045997" y="1797819"/>
            <a:ext cx="2122679"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A685A"/>
                </a:solidFill>
                <a:latin typeface="Atkinson Hyperlegible" pitchFamily="34" charset="0"/>
                <a:ea typeface="Atkinson Hyperlegible" pitchFamily="34" charset="-122"/>
                <a:cs typeface="Atkinson Hyperlegible" pitchFamily="34" charset="-120"/>
              </a:rPr>
              <a:t>F</a:t>
            </a:r>
            <a:endParaRPr lang="en-US" sz="1200" dirty="0"/>
          </a:p>
        </p:txBody>
      </p:sp>
      <p:sp>
        <p:nvSpPr>
          <p:cNvPr id="5" name="Text 3"/>
          <p:cNvSpPr/>
          <p:nvPr/>
        </p:nvSpPr>
        <p:spPr>
          <a:xfrm>
            <a:off x="1045997" y="2087290"/>
            <a:ext cx="2122679"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Findable</a:t>
            </a:r>
            <a:endParaRPr lang="en-US" sz="2000" dirty="0"/>
          </a:p>
        </p:txBody>
      </p:sp>
      <p:sp>
        <p:nvSpPr>
          <p:cNvPr id="6" name="Text 4"/>
          <p:cNvSpPr/>
          <p:nvPr/>
        </p:nvSpPr>
        <p:spPr>
          <a:xfrm>
            <a:off x="1045997" y="2455552"/>
            <a:ext cx="2122679" cy="77214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Rintracciabili: identificativi stabili e metadati descrittivi.</a:t>
            </a:r>
            <a:endParaRPr lang="en-US" sz="1400" dirty="0"/>
          </a:p>
        </p:txBody>
      </p:sp>
      <p:sp>
        <p:nvSpPr>
          <p:cNvPr id="7" name="Shape 5"/>
          <p:cNvSpPr/>
          <p:nvPr/>
        </p:nvSpPr>
        <p:spPr>
          <a:xfrm>
            <a:off x="3495603" y="1567793"/>
            <a:ext cx="2520976" cy="1864539"/>
          </a:xfrm>
          <a:prstGeom prst="roundRect">
            <a:avLst>
              <a:gd name="adj" fmla="val 3917"/>
            </a:avLst>
          </a:prstGeom>
          <a:solidFill>
            <a:srgbClr val="F8F9F6"/>
          </a:solidFill>
          <a:ln w="6350">
            <a:solidFill>
              <a:srgbClr val="C6CDC6"/>
            </a:solidFill>
            <a:prstDash val="solid"/>
          </a:ln>
        </p:spPr>
        <p:txBody>
          <a:bodyPr/>
          <a:lstStyle/>
          <a:p>
            <a:endParaRPr lang="it-IT"/>
          </a:p>
        </p:txBody>
      </p:sp>
      <p:sp>
        <p:nvSpPr>
          <p:cNvPr id="8" name="Text 6"/>
          <p:cNvSpPr/>
          <p:nvPr/>
        </p:nvSpPr>
        <p:spPr>
          <a:xfrm>
            <a:off x="3725628" y="1797819"/>
            <a:ext cx="2122753"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4889"/>
                </a:solidFill>
                <a:latin typeface="Atkinson Hyperlegible" pitchFamily="34" charset="0"/>
                <a:ea typeface="Atkinson Hyperlegible" pitchFamily="34" charset="-122"/>
                <a:cs typeface="Atkinson Hyperlegible" pitchFamily="34" charset="-120"/>
              </a:rPr>
              <a:t>A</a:t>
            </a:r>
            <a:endParaRPr lang="en-US" sz="1200" dirty="0"/>
          </a:p>
        </p:txBody>
      </p:sp>
      <p:sp>
        <p:nvSpPr>
          <p:cNvPr id="9" name="Text 7"/>
          <p:cNvSpPr/>
          <p:nvPr/>
        </p:nvSpPr>
        <p:spPr>
          <a:xfrm>
            <a:off x="3725628" y="2087290"/>
            <a:ext cx="2122753"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Accessible</a:t>
            </a:r>
            <a:endParaRPr lang="en-US" sz="2000" dirty="0"/>
          </a:p>
        </p:txBody>
      </p:sp>
      <p:sp>
        <p:nvSpPr>
          <p:cNvPr id="10" name="Text 8"/>
          <p:cNvSpPr/>
          <p:nvPr/>
        </p:nvSpPr>
        <p:spPr>
          <a:xfrm>
            <a:off x="3725628" y="2455552"/>
            <a:ext cx="2122753" cy="77214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Accessibili: si possono ottenere con protocolli aperti.</a:t>
            </a:r>
            <a:endParaRPr lang="en-US" sz="1400" dirty="0"/>
          </a:p>
        </p:txBody>
      </p:sp>
      <p:sp>
        <p:nvSpPr>
          <p:cNvPr id="11" name="Shape 9"/>
          <p:cNvSpPr/>
          <p:nvPr/>
        </p:nvSpPr>
        <p:spPr>
          <a:xfrm>
            <a:off x="6175306" y="1567793"/>
            <a:ext cx="2520976" cy="1864539"/>
          </a:xfrm>
          <a:prstGeom prst="roundRect">
            <a:avLst>
              <a:gd name="adj" fmla="val 3917"/>
            </a:avLst>
          </a:prstGeom>
          <a:solidFill>
            <a:srgbClr val="F8F9F6"/>
          </a:solidFill>
          <a:ln w="6350">
            <a:solidFill>
              <a:srgbClr val="C6CDC6"/>
            </a:solidFill>
            <a:prstDash val="solid"/>
          </a:ln>
        </p:spPr>
        <p:txBody>
          <a:bodyPr/>
          <a:lstStyle/>
          <a:p>
            <a:endParaRPr lang="it-IT"/>
          </a:p>
        </p:txBody>
      </p:sp>
      <p:sp>
        <p:nvSpPr>
          <p:cNvPr id="12" name="Text 10"/>
          <p:cNvSpPr/>
          <p:nvPr/>
        </p:nvSpPr>
        <p:spPr>
          <a:xfrm>
            <a:off x="6405331" y="1797819"/>
            <a:ext cx="2122753"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4761A"/>
                </a:solidFill>
                <a:latin typeface="Atkinson Hyperlegible" pitchFamily="34" charset="0"/>
                <a:ea typeface="Atkinson Hyperlegible" pitchFamily="34" charset="-122"/>
                <a:cs typeface="Atkinson Hyperlegible" pitchFamily="34" charset="-120"/>
              </a:rPr>
              <a:t>I</a:t>
            </a:r>
            <a:endParaRPr lang="en-US" sz="1200" dirty="0"/>
          </a:p>
        </p:txBody>
      </p:sp>
      <p:sp>
        <p:nvSpPr>
          <p:cNvPr id="13" name="Text 11"/>
          <p:cNvSpPr/>
          <p:nvPr/>
        </p:nvSpPr>
        <p:spPr>
          <a:xfrm>
            <a:off x="6405331" y="2087290"/>
            <a:ext cx="2122753"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Interoperable</a:t>
            </a:r>
            <a:endParaRPr lang="en-US" sz="2000" dirty="0"/>
          </a:p>
        </p:txBody>
      </p:sp>
      <p:sp>
        <p:nvSpPr>
          <p:cNvPr id="14" name="Text 12"/>
          <p:cNvSpPr/>
          <p:nvPr/>
        </p:nvSpPr>
        <p:spPr>
          <a:xfrm>
            <a:off x="6405331" y="2455552"/>
            <a:ext cx="2122753" cy="77214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Interoperabili: usano formati e vocabolari condivisi.</a:t>
            </a:r>
            <a:endParaRPr lang="en-US" sz="1400" dirty="0"/>
          </a:p>
        </p:txBody>
      </p:sp>
      <p:sp>
        <p:nvSpPr>
          <p:cNvPr id="15" name="Shape 13"/>
          <p:cNvSpPr/>
          <p:nvPr/>
        </p:nvSpPr>
        <p:spPr>
          <a:xfrm>
            <a:off x="8855008" y="1567793"/>
            <a:ext cx="2520976" cy="1864539"/>
          </a:xfrm>
          <a:prstGeom prst="roundRect">
            <a:avLst>
              <a:gd name="adj" fmla="val 3917"/>
            </a:avLst>
          </a:prstGeom>
          <a:solidFill>
            <a:srgbClr val="F8F9F6"/>
          </a:solidFill>
          <a:ln w="6350">
            <a:solidFill>
              <a:srgbClr val="C6CDC6"/>
            </a:solidFill>
            <a:prstDash val="solid"/>
          </a:ln>
        </p:spPr>
        <p:txBody>
          <a:bodyPr/>
          <a:lstStyle/>
          <a:p>
            <a:endParaRPr lang="it-IT"/>
          </a:p>
        </p:txBody>
      </p:sp>
      <p:sp>
        <p:nvSpPr>
          <p:cNvPr id="16" name="Text 14"/>
          <p:cNvSpPr/>
          <p:nvPr/>
        </p:nvSpPr>
        <p:spPr>
          <a:xfrm>
            <a:off x="9085034" y="1797819"/>
            <a:ext cx="2122753"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3849"/>
                </a:solidFill>
                <a:latin typeface="Atkinson Hyperlegible" pitchFamily="34" charset="0"/>
                <a:ea typeface="Atkinson Hyperlegible" pitchFamily="34" charset="-122"/>
                <a:cs typeface="Atkinson Hyperlegible" pitchFamily="34" charset="-120"/>
              </a:rPr>
              <a:t>R</a:t>
            </a:r>
            <a:endParaRPr lang="en-US" sz="1200" dirty="0"/>
          </a:p>
        </p:txBody>
      </p:sp>
      <p:sp>
        <p:nvSpPr>
          <p:cNvPr id="17" name="Text 15"/>
          <p:cNvSpPr/>
          <p:nvPr/>
        </p:nvSpPr>
        <p:spPr>
          <a:xfrm>
            <a:off x="9085034" y="2087290"/>
            <a:ext cx="2122753"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Reusable</a:t>
            </a:r>
            <a:endParaRPr lang="en-US" sz="2000" dirty="0"/>
          </a:p>
        </p:txBody>
      </p:sp>
      <p:sp>
        <p:nvSpPr>
          <p:cNvPr id="18" name="Text 16"/>
          <p:cNvSpPr/>
          <p:nvPr/>
        </p:nvSpPr>
        <p:spPr>
          <a:xfrm>
            <a:off x="9085034" y="2455552"/>
            <a:ext cx="2122753" cy="77214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Riusabili: hanno una licenza chiara e una provenienza documentata.</a:t>
            </a:r>
            <a:endParaRPr lang="en-US" sz="1400" dirty="0"/>
          </a:p>
        </p:txBody>
      </p:sp>
      <p:sp>
        <p:nvSpPr>
          <p:cNvPr id="19" name="Text 17"/>
          <p:cNvSpPr/>
          <p:nvPr/>
        </p:nvSpPr>
        <p:spPr>
          <a:xfrm>
            <a:off x="812797" y="6238329"/>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Modulo 0, lezione 2: introduzione all’informatica umanistica</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CEEE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97" y="812788"/>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Servizi: oltre la pagina</a:t>
            </a:r>
            <a:endParaRPr lang="en-US" sz="3200" dirty="0"/>
          </a:p>
        </p:txBody>
      </p:sp>
      <p:sp>
        <p:nvSpPr>
          <p:cNvPr id="3" name="Shape 1"/>
          <p:cNvSpPr/>
          <p:nvPr/>
        </p:nvSpPr>
        <p:spPr>
          <a:xfrm>
            <a:off x="812797" y="1569240"/>
            <a:ext cx="10566362" cy="0"/>
          </a:xfrm>
          <a:prstGeom prst="line">
            <a:avLst/>
          </a:prstGeom>
          <a:noFill/>
          <a:ln w="9270">
            <a:solidFill>
              <a:srgbClr val="141413">
                <a:alpha val="22000"/>
              </a:srgbClr>
            </a:solidFill>
            <a:prstDash val="solid"/>
          </a:ln>
        </p:spPr>
        <p:txBody>
          <a:bodyPr/>
          <a:lstStyle/>
          <a:p>
            <a:endParaRPr lang="it-IT"/>
          </a:p>
        </p:txBody>
      </p:sp>
      <p:sp>
        <p:nvSpPr>
          <p:cNvPr id="4" name="Shape 2"/>
          <p:cNvSpPr/>
          <p:nvPr/>
        </p:nvSpPr>
        <p:spPr>
          <a:xfrm>
            <a:off x="817432" y="1564605"/>
            <a:ext cx="0" cy="2731557"/>
          </a:xfrm>
          <a:prstGeom prst="line">
            <a:avLst/>
          </a:prstGeom>
          <a:noFill/>
          <a:ln w="9270">
            <a:solidFill>
              <a:srgbClr val="141413">
                <a:alpha val="22000"/>
              </a:srgbClr>
            </a:solidFill>
            <a:prstDash val="solid"/>
          </a:ln>
        </p:spPr>
        <p:txBody>
          <a:bodyPr/>
          <a:lstStyle/>
          <a:p>
            <a:endParaRPr lang="it-IT"/>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36367" y="1662775"/>
          <a:ext cx="10328491" cy="2544564"/>
        </p:xfrm>
        <a:graphic>
          <a:graphicData uri="http://schemas.openxmlformats.org/drawingml/2006/table">
            <a:tbl>
              <a:tblPr/>
              <a:tblGrid>
                <a:gridCol w="2478838">
                  <a:extLst>
                    <a:ext uri="{9D8B030D-6E8A-4147-A177-3AD203B41FA5}">
                      <a16:colId xmlns:a16="http://schemas.microsoft.com/office/drawing/2014/main" val="20000"/>
                    </a:ext>
                  </a:extLst>
                </a:gridCol>
                <a:gridCol w="4544536">
                  <a:extLst>
                    <a:ext uri="{9D8B030D-6E8A-4147-A177-3AD203B41FA5}">
                      <a16:colId xmlns:a16="http://schemas.microsoft.com/office/drawing/2014/main" val="20001"/>
                    </a:ext>
                  </a:extLst>
                </a:gridCol>
                <a:gridCol w="3305117">
                  <a:extLst>
                    <a:ext uri="{9D8B030D-6E8A-4147-A177-3AD203B41FA5}">
                      <a16:colId xmlns:a16="http://schemas.microsoft.com/office/drawing/2014/main" val="20002"/>
                    </a:ext>
                  </a:extLst>
                </a:gridCol>
              </a:tblGrid>
              <a:tr h="382608">
                <a:tc>
                  <a:txBody>
                    <a:bodyPr/>
                    <a:lstStyle/>
                    <a:p>
                      <a:pPr marL="0" indent="0">
                        <a:lnSpc>
                          <a:spcPts val="1960"/>
                        </a:lnSpc>
                        <a:buNone/>
                      </a:pPr>
                      <a:r>
                        <a:rPr lang="en-US" sz="1400" b="1" dirty="0">
                          <a:solidFill>
                            <a:srgbClr val="1D2420"/>
                          </a:solidFill>
                          <a:latin typeface="Atkinson Hyperlegible" pitchFamily="34" charset="0"/>
                          <a:ea typeface="Atkinson Hyperlegible" pitchFamily="34" charset="-122"/>
                          <a:cs typeface="Atkinson Hyperlegible" pitchFamily="34" charset="-120"/>
                        </a:rPr>
                        <a:t>Servizio</a:t>
                      </a:r>
                      <a:endParaRPr lang="en-US" sz="1400" dirty="0">
                        <a:latin typeface="Atkinson Hyperlegible" charset="0"/>
                        <a:ea typeface="Atkinson Hyperlegible" charset="0"/>
                        <a:cs typeface="Atkinson Hyperlegible" charset="0"/>
                      </a:endParaRPr>
                    </a:p>
                  </a:txBody>
                  <a:tcPr marL="62230" marR="62230" marT="62230" marB="62230">
                    <a:lnL w="0" cap="flat" cmpd="sng" algn="ctr">
                      <a:noFill/>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tc>
                  <a:txBody>
                    <a:bodyPr/>
                    <a:lstStyle/>
                    <a:p>
                      <a:pPr marL="0" indent="0">
                        <a:lnSpc>
                          <a:spcPts val="1960"/>
                        </a:lnSpc>
                        <a:buNone/>
                      </a:pPr>
                      <a:r>
                        <a:rPr lang="en-US" sz="1400" b="1" dirty="0">
                          <a:solidFill>
                            <a:srgbClr val="1D2420"/>
                          </a:solidFill>
                          <a:latin typeface="Atkinson Hyperlegible" pitchFamily="34" charset="0"/>
                          <a:ea typeface="Atkinson Hyperlegible" pitchFamily="34" charset="-122"/>
                          <a:cs typeface="Atkinson Hyperlegible" pitchFamily="34" charset="-120"/>
                        </a:rPr>
                        <a:t>Che cosa permette</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1B5B0"/>
                      </a:solidFill>
                      <a:prstDash val="solid"/>
                      <a:round/>
                      <a:headEnd type="none" w="med" len="med"/>
                      <a:tailEnd type="none" w="med" len="med"/>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tc>
                  <a:txBody>
                    <a:bodyPr/>
                    <a:lstStyle/>
                    <a:p>
                      <a:pPr marL="0" indent="0">
                        <a:lnSpc>
                          <a:spcPts val="1960"/>
                        </a:lnSpc>
                        <a:buNone/>
                      </a:pPr>
                      <a:r>
                        <a:rPr lang="en-US" sz="1400" b="1" dirty="0">
                          <a:solidFill>
                            <a:srgbClr val="1D2420"/>
                          </a:solidFill>
                          <a:latin typeface="Atkinson Hyperlegible" pitchFamily="34" charset="0"/>
                          <a:ea typeface="Atkinson Hyperlegible" pitchFamily="34" charset="-122"/>
                          <a:cs typeface="Atkinson Hyperlegible" pitchFamily="34" charset="-120"/>
                        </a:rPr>
                        <a:t>Esempio</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1B5B0"/>
                      </a:solidFill>
                      <a:prstDash val="solid"/>
                      <a:round/>
                      <a:headEnd type="none" w="med" len="med"/>
                      <a:tailEnd type="none" w="med" len="med"/>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extLst>
                  <a:ext uri="{0D108BD9-81ED-4DB2-BD59-A6C34878D82A}">
                    <a16:rowId xmlns:a16="http://schemas.microsoft.com/office/drawing/2014/main" val="10000"/>
                  </a:ext>
                </a:extLst>
              </a:tr>
              <a:tr h="382608">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Ricerca e consultazione</a:t>
                      </a:r>
                      <a:endParaRPr lang="en-US" sz="1400" dirty="0">
                        <a:latin typeface="Atkinson Hyperlegible" charset="0"/>
                        <a:ea typeface="Atkinson Hyperlegible" charset="0"/>
                        <a:cs typeface="Atkinson Hyperlegible" charset="0"/>
                      </a:endParaRPr>
                    </a:p>
                  </a:txBody>
                  <a:tcPr marL="62230" marR="62230" marT="62230" marB="62230">
                    <a:lnL w="0" cap="flat" cmpd="sng" algn="ctr">
                      <a:noFill/>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Trovare e leggere i record da un browser</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Il catalogo di Scrinium</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1"/>
                  </a:ext>
                </a:extLst>
              </a:tr>
              <a:tr h="382608">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Download</a:t>
                      </a:r>
                      <a:endParaRPr lang="en-US" sz="1400" dirty="0">
                        <a:latin typeface="Atkinson Hyperlegible" charset="0"/>
                        <a:ea typeface="Atkinson Hyperlegible" charset="0"/>
                        <a:cs typeface="Atkinson Hyperlegible" charset="0"/>
                      </a:endParaRPr>
                    </a:p>
                  </a:txBody>
                  <a:tcPr marL="62230" marR="62230" marT="62230" marB="6223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Scaricare i dati per lavorarci</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Esportazione CSV e JSON</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2"/>
                  </a:ext>
                </a:extLst>
              </a:tr>
              <a:tr h="382608">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API</a:t>
                      </a:r>
                      <a:endParaRPr lang="en-US" sz="1400" dirty="0">
                        <a:latin typeface="Atkinson Hyperlegible" charset="0"/>
                        <a:ea typeface="Atkinson Hyperlegible" charset="0"/>
                        <a:cs typeface="Atkinson Hyperlegible" charset="0"/>
                      </a:endParaRPr>
                    </a:p>
                  </a:txBody>
                  <a:tcPr marL="62230" marR="62230" marT="62230" marB="6223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Far parlare un programma con il catalogo</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I servizi di Europeana per sviluppatori</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3"/>
                  </a:ext>
                </a:extLst>
              </a:tr>
              <a:tr h="631524">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IIIF</a:t>
                      </a:r>
                      <a:endParaRPr lang="en-US" sz="1400" dirty="0">
                        <a:latin typeface="Atkinson Hyperlegible" charset="0"/>
                        <a:ea typeface="Atkinson Hyperlegible" charset="0"/>
                        <a:cs typeface="Atkinson Hyperlegible" charset="0"/>
                      </a:endParaRPr>
                    </a:p>
                  </a:txBody>
                  <a:tcPr marL="62230" marR="62230" marT="62230" marB="6223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Mostrare e confrontare immagini ad alta risoluzione da archivi diversi</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Biblioteche digitali di manoscritti</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4"/>
                  </a:ext>
                </a:extLst>
              </a:tr>
              <a:tr h="382608">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SPARQL</a:t>
                      </a:r>
                      <a:endParaRPr lang="en-US" sz="1400" dirty="0">
                        <a:latin typeface="Atkinson Hyperlegible" charset="0"/>
                        <a:ea typeface="Atkinson Hyperlegible" charset="0"/>
                        <a:cs typeface="Atkinson Hyperlegible" charset="0"/>
                      </a:endParaRPr>
                    </a:p>
                  </a:txBody>
                  <a:tcPr marL="62230" marR="62230" marT="62230" marB="6223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Interrogare dati RDF con domande complesse</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960"/>
                        </a:lnSpc>
                        <a:buNone/>
                      </a:pPr>
                      <a:r>
                        <a:rPr lang="en-US" sz="1400" dirty="0">
                          <a:solidFill>
                            <a:srgbClr val="1D2420"/>
                          </a:solidFill>
                          <a:latin typeface="Atkinson Hyperlegible" pitchFamily="34" charset="0"/>
                          <a:ea typeface="Atkinson Hyperlegible" pitchFamily="34" charset="-122"/>
                          <a:cs typeface="Atkinson Hyperlegible" pitchFamily="34" charset="-120"/>
                        </a:rPr>
                        <a:t>Dati aperti del patrimonio culturale</a:t>
                      </a:r>
                      <a:endParaRPr lang="en-US" sz="1400" dirty="0">
                        <a:latin typeface="Atkinson Hyperlegible" charset="0"/>
                        <a:ea typeface="Atkinson Hyperlegible" charset="0"/>
                        <a:cs typeface="Atkinson Hyperlegible"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812797" y="6238317"/>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Modulo 0, lezione 2: introduzione all’informatica umanistica</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CEEE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97" y="812800"/>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Visualizzazioni: mostrare è argomentare</a:t>
            </a:r>
            <a:endParaRPr lang="en-US" sz="3200" dirty="0"/>
          </a:p>
        </p:txBody>
      </p:sp>
      <p:sp>
        <p:nvSpPr>
          <p:cNvPr id="3" name="Text 1"/>
          <p:cNvSpPr/>
          <p:nvPr/>
        </p:nvSpPr>
        <p:spPr>
          <a:xfrm>
            <a:off x="812797" y="1564618"/>
            <a:ext cx="5258508" cy="87882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D2420"/>
                </a:solidFill>
                <a:latin typeface="Atkinson Hyperlegible" pitchFamily="34" charset="0"/>
                <a:ea typeface="Atkinson Hyperlegible" pitchFamily="34" charset="-122"/>
                <a:cs typeface="Atkinson Hyperlegible" pitchFamily="34" charset="-120"/>
              </a:rPr>
              <a:t>Ogni visualizzazione sceglie che cosa mostrare e che cosa lasciare fuori. Leggerla criticamente significa chiedersi:</a:t>
            </a:r>
            <a:endParaRPr lang="en-US" sz="1600" dirty="0"/>
          </a:p>
        </p:txBody>
      </p:sp>
      <p:sp>
        <p:nvSpPr>
          <p:cNvPr id="4" name="Text 2"/>
          <p:cNvSpPr/>
          <p:nvPr/>
        </p:nvSpPr>
        <p:spPr>
          <a:xfrm>
            <a:off x="6344097" y="1564618"/>
            <a:ext cx="5180605" cy="909244"/>
          </a:xfrm>
          <a:prstGeom prst="rect">
            <a:avLst/>
          </a:prstGeom>
          <a:noFill/>
          <a:ln/>
        </p:spPr>
        <p:txBody>
          <a:bodyPr wrap="square" lIns="0" tIns="0" rIns="0" bIns="0" rtlCol="0" anchor="t">
            <a:normAutofit/>
          </a:bodyPr>
          <a:lstStyle/>
          <a:p>
            <a:pPr marL="183642" indent="-183642" algn="l">
              <a:lnSpc>
                <a:spcPts val="2320"/>
              </a:lnSpc>
              <a:buSzPct val="100000"/>
              <a:buChar char="•"/>
            </a:pPr>
            <a:r>
              <a:rPr lang="en-US" sz="1600" dirty="0">
                <a:solidFill>
                  <a:srgbClr val="1D2420"/>
                </a:solidFill>
                <a:latin typeface="Atkinson Hyperlegible" pitchFamily="34" charset="0"/>
                <a:ea typeface="Atkinson Hyperlegible" pitchFamily="34" charset="-122"/>
                <a:cs typeface="Atkinson Hyperlegible" pitchFamily="34" charset="-120"/>
              </a:rPr>
              <a:t>Da quali dati viene?</a:t>
            </a:r>
            <a:endParaRPr lang="en-US" sz="1600" dirty="0"/>
          </a:p>
          <a:p>
            <a:pPr marL="183642" indent="-183642" algn="l">
              <a:lnSpc>
                <a:spcPts val="2320"/>
              </a:lnSpc>
              <a:buSzPct val="100000"/>
              <a:buChar char="•"/>
            </a:pPr>
            <a:r>
              <a:rPr lang="en-US" sz="1600" dirty="0">
                <a:solidFill>
                  <a:srgbClr val="1D2420"/>
                </a:solidFill>
                <a:latin typeface="Atkinson Hyperlegible" pitchFamily="34" charset="0"/>
                <a:ea typeface="Atkinson Hyperlegible" pitchFamily="34" charset="-122"/>
                <a:cs typeface="Atkinson Hyperlegible" pitchFamily="34" charset="-120"/>
              </a:rPr>
              <a:t>Che cosa è stato escluso?</a:t>
            </a:r>
            <a:endParaRPr lang="en-US" sz="1600" dirty="0"/>
          </a:p>
          <a:p>
            <a:pPr marL="183642" indent="-183642" algn="l">
              <a:lnSpc>
                <a:spcPts val="2320"/>
              </a:lnSpc>
              <a:buSzPct val="100000"/>
              <a:buChar char="•"/>
            </a:pPr>
            <a:r>
              <a:rPr lang="en-US" sz="1600" dirty="0">
                <a:solidFill>
                  <a:srgbClr val="1D2420"/>
                </a:solidFill>
                <a:latin typeface="Atkinson Hyperlegible" pitchFamily="34" charset="0"/>
                <a:ea typeface="Atkinson Hyperlegible" pitchFamily="34" charset="-122"/>
                <a:cs typeface="Atkinson Hyperlegible" pitchFamily="34" charset="-120"/>
              </a:rPr>
              <a:t>Chi l’ha costruita, con quale domanda?</a:t>
            </a:r>
            <a:endParaRPr lang="en-US" sz="1600" dirty="0"/>
          </a:p>
        </p:txBody>
      </p:sp>
      <p:sp>
        <p:nvSpPr>
          <p:cNvPr id="5" name="Text 3"/>
          <p:cNvSpPr/>
          <p:nvPr/>
        </p:nvSpPr>
        <p:spPr>
          <a:xfrm>
            <a:off x="812797" y="6238329"/>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Modulo 0, lezione 2: introduzione all’informatica umanistica</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9F6"/>
        </a:solidFill>
        <a:effectLst/>
      </p:bgPr>
    </p:bg>
    <p:spTree>
      <p:nvGrpSpPr>
        <p:cNvPr id="1" name=""/>
        <p:cNvGrpSpPr/>
        <p:nvPr/>
      </p:nvGrpSpPr>
      <p:grpSpPr>
        <a:xfrm>
          <a:off x="0" y="0"/>
          <a:ext cx="0" cy="0"/>
          <a:chOff x="0" y="0"/>
          <a:chExt cx="0" cy="0"/>
        </a:xfrm>
      </p:grpSpPr>
      <p:sp>
        <p:nvSpPr>
          <p:cNvPr id="2" name="Shape 0"/>
          <p:cNvSpPr/>
          <p:nvPr/>
        </p:nvSpPr>
        <p:spPr>
          <a:xfrm>
            <a:off x="0" y="0"/>
            <a:ext cx="152377" cy="6857971"/>
          </a:xfrm>
          <a:prstGeom prst="rect">
            <a:avLst/>
          </a:prstGeom>
          <a:solidFill>
            <a:srgbClr val="A4761A"/>
          </a:solidFill>
          <a:ln/>
        </p:spPr>
        <p:txBody>
          <a:bodyPr/>
          <a:lstStyle/>
          <a:p>
            <a:endParaRPr lang="it-IT"/>
          </a:p>
        </p:txBody>
      </p:sp>
      <p:sp>
        <p:nvSpPr>
          <p:cNvPr id="3" name="Text 1"/>
          <p:cNvSpPr/>
          <p:nvPr/>
        </p:nvSpPr>
        <p:spPr>
          <a:xfrm>
            <a:off x="812797" y="812800"/>
            <a:ext cx="2297168" cy="314820"/>
          </a:xfrm>
          <a:prstGeom prst="roundRect">
            <a:avLst>
              <a:gd name="adj" fmla="val 50000"/>
            </a:avLst>
          </a:prstGeom>
          <a:solidFill>
            <a:srgbClr val="F1D57E"/>
          </a:solidFill>
          <a:ln/>
        </p:spPr>
        <p:txBody>
          <a:bodyPr wrap="none" lIns="0" tIns="0" rIns="0" bIns="0" rtlCol="0" anchor="ctr">
            <a:normAutofit/>
          </a:bodyPr>
          <a:lstStyle/>
          <a:p>
            <a:pPr marL="0" indent="0" algn="ctr">
              <a:lnSpc>
                <a:spcPts val="1680"/>
              </a:lnSpc>
              <a:buNone/>
            </a:pPr>
            <a:r>
              <a:rPr lang="en-US" sz="1200" b="1" dirty="0">
                <a:solidFill>
                  <a:srgbClr val="1D2420"/>
                </a:solidFill>
                <a:latin typeface="Atkinson Hyperlegible" pitchFamily="34" charset="0"/>
                <a:ea typeface="Atkinson Hyperlegible" pitchFamily="34" charset="-122"/>
                <a:cs typeface="Atkinson Hyperlegible" pitchFamily="34" charset="-120"/>
              </a:rPr>
              <a:t>In aula, in coppia, 35 minuti</a:t>
            </a:r>
            <a:endParaRPr lang="en-US" sz="1200" dirty="0"/>
          </a:p>
        </p:txBody>
      </p:sp>
      <p:sp>
        <p:nvSpPr>
          <p:cNvPr id="4" name="Text 2"/>
          <p:cNvSpPr>
            <a:spLocks noGrp="1"/>
          </p:cNvSpPr>
          <p:nvPr>
            <p:ph type="title"/>
          </p:nvPr>
        </p:nvSpPr>
        <p:spPr>
          <a:xfrm>
            <a:off x="812797" y="1381596"/>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Smontare un progetto digitale</a:t>
            </a:r>
            <a:endParaRPr lang="en-US" sz="3200" dirty="0"/>
          </a:p>
        </p:txBody>
      </p:sp>
      <p:sp>
        <p:nvSpPr>
          <p:cNvPr id="5" name="Text 3"/>
          <p:cNvSpPr/>
          <p:nvPr/>
        </p:nvSpPr>
        <p:spPr>
          <a:xfrm>
            <a:off x="852644" y="2082651"/>
            <a:ext cx="6262758" cy="1682281"/>
          </a:xfrm>
          <a:prstGeom prst="rect">
            <a:avLst/>
          </a:prstGeom>
          <a:noFill/>
          <a:ln/>
        </p:spPr>
        <p:txBody>
          <a:bodyPr wrap="square" lIns="0" tIns="0" rIns="0" bIns="0" rtlCol="0" anchor="t">
            <a:normAutofit/>
          </a:bodyPr>
          <a:lstStyle/>
          <a:p>
            <a:pPr marL="214153" indent="-214153" algn="l">
              <a:lnSpc>
                <a:spcPts val="2175"/>
              </a:lnSpc>
              <a:buSzPct val="100000"/>
              <a:buFontTx/>
              <a:buAutoNum type="arabicPeriod"/>
            </a:pPr>
            <a:r>
              <a:rPr lang="en-US" sz="1500" dirty="0">
                <a:solidFill>
                  <a:srgbClr val="1D2420"/>
                </a:solidFill>
                <a:latin typeface="Atkinson Hyperlegible" pitchFamily="34" charset="0"/>
                <a:ea typeface="Atkinson Hyperlegible" pitchFamily="34" charset="-122"/>
                <a:cs typeface="Atkinson Hyperlegible" pitchFamily="34" charset="-120"/>
              </a:rPr>
              <a:t>Scegli uno dei </a:t>
            </a:r>
            <a:r>
              <a:rPr lang="en-US" sz="1500" dirty="0" err="1">
                <a:solidFill>
                  <a:srgbClr val="1D2420"/>
                </a:solidFill>
                <a:latin typeface="Atkinson Hyperlegible" pitchFamily="34" charset="0"/>
                <a:ea typeface="Atkinson Hyperlegible" pitchFamily="34" charset="-122"/>
                <a:cs typeface="Atkinson Hyperlegible" pitchFamily="34" charset="-120"/>
              </a:rPr>
              <a:t>progetti</a:t>
            </a:r>
            <a:r>
              <a:rPr lang="en-US" sz="1500" dirty="0">
                <a:solidFill>
                  <a:srgbClr val="1D2420"/>
                </a:solidFill>
                <a:latin typeface="Atkinson Hyperlegible" pitchFamily="34" charset="0"/>
                <a:ea typeface="Atkinson Hyperlegible" pitchFamily="34" charset="-122"/>
                <a:cs typeface="Atkinson Hyperlegible" pitchFamily="34" charset="-120"/>
              </a:rPr>
              <a:t> </a:t>
            </a:r>
            <a:r>
              <a:rPr lang="en-US" sz="1500" dirty="0" err="1">
                <a:solidFill>
                  <a:srgbClr val="1D2420"/>
                </a:solidFill>
                <a:latin typeface="Atkinson Hyperlegible" pitchFamily="34" charset="0"/>
                <a:ea typeface="Atkinson Hyperlegible" pitchFamily="34" charset="-122"/>
                <a:cs typeface="Atkinson Hyperlegible" pitchFamily="34" charset="-120"/>
              </a:rPr>
              <a:t>menzionati</a:t>
            </a:r>
            <a:r>
              <a:rPr lang="en-US" sz="1500" dirty="0">
                <a:solidFill>
                  <a:srgbClr val="1D2420"/>
                </a:solidFill>
                <a:latin typeface="Atkinson Hyperlegible" pitchFamily="34" charset="0"/>
                <a:ea typeface="Atkinson Hyperlegible" pitchFamily="34" charset="-122"/>
                <a:cs typeface="Atkinson Hyperlegible" pitchFamily="34" charset="-120"/>
              </a:rPr>
              <a:t> </a:t>
            </a:r>
            <a:r>
              <a:rPr lang="en-US" sz="1500" dirty="0" err="1">
                <a:solidFill>
                  <a:srgbClr val="1D2420"/>
                </a:solidFill>
                <a:latin typeface="Atkinson Hyperlegible" pitchFamily="34" charset="0"/>
                <a:ea typeface="Atkinson Hyperlegible" pitchFamily="34" charset="-122"/>
                <a:cs typeface="Atkinson Hyperlegible" pitchFamily="34" charset="-120"/>
              </a:rPr>
              <a:t>nella</a:t>
            </a:r>
            <a:r>
              <a:rPr lang="en-US" sz="1500" dirty="0">
                <a:solidFill>
                  <a:srgbClr val="1D2420"/>
                </a:solidFill>
                <a:latin typeface="Atkinson Hyperlegible" pitchFamily="34" charset="0"/>
                <a:ea typeface="Atkinson Hyperlegible" pitchFamily="34" charset="-122"/>
                <a:cs typeface="Atkinson Hyperlegible" pitchFamily="34" charset="-120"/>
              </a:rPr>
              <a:t> slide 15.</a:t>
            </a:r>
            <a:endParaRPr lang="en-US" sz="1500" dirty="0"/>
          </a:p>
          <a:p>
            <a:pPr marL="214153" indent="-214153" algn="l">
              <a:lnSpc>
                <a:spcPts val="2175"/>
              </a:lnSpc>
              <a:buSzPct val="100000"/>
              <a:buFontTx/>
              <a:buAutoNum type="arabicPeriod"/>
            </a:pPr>
            <a:r>
              <a:rPr lang="en-US" sz="1500" dirty="0">
                <a:solidFill>
                  <a:srgbClr val="1D2420"/>
                </a:solidFill>
                <a:latin typeface="Atkinson Hyperlegible" pitchFamily="34" charset="0"/>
                <a:ea typeface="Atkinson Hyperlegible" pitchFamily="34" charset="-122"/>
                <a:cs typeface="Atkinson Hyperlegible" pitchFamily="34" charset="-120"/>
              </a:rPr>
              <a:t>Individua i dati: che cosa è descritto e con quali campi?</a:t>
            </a:r>
            <a:endParaRPr lang="en-US" sz="1500" dirty="0"/>
          </a:p>
          <a:p>
            <a:pPr marL="214153" indent="-214153" algn="l">
              <a:lnSpc>
                <a:spcPts val="2175"/>
              </a:lnSpc>
              <a:buSzPct val="100000"/>
              <a:buFontTx/>
              <a:buAutoNum type="arabicPeriod"/>
            </a:pPr>
            <a:r>
              <a:rPr lang="en-US" sz="1500" dirty="0">
                <a:solidFill>
                  <a:srgbClr val="1D2420"/>
                </a:solidFill>
                <a:latin typeface="Atkinson Hyperlegible" pitchFamily="34" charset="0"/>
                <a:ea typeface="Atkinson Hyperlegible" pitchFamily="34" charset="-122"/>
                <a:cs typeface="Atkinson Hyperlegible" pitchFamily="34" charset="-120"/>
              </a:rPr>
              <a:t>Individua i servizi: si può cercare, scaricare, interrogare?</a:t>
            </a:r>
            <a:endParaRPr lang="en-US" sz="1500" dirty="0"/>
          </a:p>
          <a:p>
            <a:pPr marL="214153" indent="-214153" algn="l">
              <a:lnSpc>
                <a:spcPts val="2175"/>
              </a:lnSpc>
              <a:buSzPct val="100000"/>
              <a:buFontTx/>
              <a:buAutoNum type="arabicPeriod"/>
            </a:pPr>
            <a:r>
              <a:rPr lang="en-US" sz="1500" dirty="0">
                <a:solidFill>
                  <a:srgbClr val="1D2420"/>
                </a:solidFill>
                <a:latin typeface="Atkinson Hyperlegible" pitchFamily="34" charset="0"/>
                <a:ea typeface="Atkinson Hyperlegible" pitchFamily="34" charset="-122"/>
                <a:cs typeface="Atkinson Hyperlegible" pitchFamily="34" charset="-120"/>
              </a:rPr>
              <a:t>Individua le visualizzazioni: che cosa mostrano e che cosa no?</a:t>
            </a:r>
            <a:endParaRPr lang="en-US" sz="1500" dirty="0"/>
          </a:p>
          <a:p>
            <a:pPr marL="214153" indent="-214153" algn="l">
              <a:lnSpc>
                <a:spcPts val="2175"/>
              </a:lnSpc>
              <a:buSzPct val="100000"/>
              <a:buFontTx/>
              <a:buAutoNum type="arabicPeriod"/>
            </a:pPr>
            <a:r>
              <a:rPr lang="en-US" sz="1500" dirty="0">
                <a:solidFill>
                  <a:srgbClr val="1D2420"/>
                </a:solidFill>
                <a:latin typeface="Atkinson Hyperlegible" pitchFamily="34" charset="0"/>
                <a:ea typeface="Atkinson Hyperlegible" pitchFamily="34" charset="-122"/>
                <a:cs typeface="Atkinson Hyperlegible" pitchFamily="34" charset="-120"/>
              </a:rPr>
              <a:t>Trova licenza e data dell’ultimo aggiornamento.</a:t>
            </a:r>
            <a:endParaRPr lang="en-US" sz="1500" dirty="0"/>
          </a:p>
        </p:txBody>
      </p:sp>
      <p:sp>
        <p:nvSpPr>
          <p:cNvPr id="6" name="Shape 4"/>
          <p:cNvSpPr/>
          <p:nvPr/>
        </p:nvSpPr>
        <p:spPr>
          <a:xfrm>
            <a:off x="7297998" y="2011800"/>
            <a:ext cx="4077986" cy="1823982"/>
          </a:xfrm>
          <a:prstGeom prst="roundRect">
            <a:avLst>
              <a:gd name="adj" fmla="val 4004"/>
            </a:avLst>
          </a:prstGeom>
          <a:solidFill>
            <a:srgbClr val="ECEEE9"/>
          </a:solidFill>
          <a:ln w="6350">
            <a:solidFill>
              <a:srgbClr val="C6CDC6"/>
            </a:solidFill>
            <a:prstDash val="solid"/>
          </a:ln>
        </p:spPr>
        <p:txBody>
          <a:bodyPr/>
          <a:lstStyle/>
          <a:p>
            <a:endParaRPr lang="it-IT"/>
          </a:p>
        </p:txBody>
      </p:sp>
      <p:sp>
        <p:nvSpPr>
          <p:cNvPr id="7" name="Text 5"/>
          <p:cNvSpPr/>
          <p:nvPr/>
        </p:nvSpPr>
        <p:spPr>
          <a:xfrm>
            <a:off x="7528023" y="2315852"/>
            <a:ext cx="3726474"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Risultato atteso</a:t>
            </a:r>
            <a:endParaRPr lang="en-US" sz="2000" dirty="0"/>
          </a:p>
        </p:txBody>
      </p:sp>
      <p:sp>
        <p:nvSpPr>
          <p:cNvPr id="8" name="Text 6"/>
          <p:cNvSpPr/>
          <p:nvPr/>
        </p:nvSpPr>
        <p:spPr>
          <a:xfrm>
            <a:off x="7528023" y="2684115"/>
            <a:ext cx="3726474" cy="102106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Una scheda di analisi di mezza pagina. </a:t>
            </a:r>
            <a:r>
              <a:rPr lang="en-US" sz="1400" dirty="0" err="1">
                <a:solidFill>
                  <a:srgbClr val="56605B"/>
                </a:solidFill>
                <a:latin typeface="Atkinson Hyperlegible" pitchFamily="34" charset="0"/>
                <a:ea typeface="Atkinson Hyperlegible" pitchFamily="34" charset="-122"/>
                <a:cs typeface="Atkinson Hyperlegible" pitchFamily="34" charset="-120"/>
              </a:rPr>
              <a:t>Scrivila</a:t>
            </a:r>
            <a:r>
              <a:rPr lang="en-US" sz="1400" dirty="0">
                <a:solidFill>
                  <a:srgbClr val="56605B"/>
                </a:solidFill>
                <a:latin typeface="Atkinson Hyperlegible" pitchFamily="34" charset="0"/>
                <a:ea typeface="Atkinson Hyperlegible" pitchFamily="34" charset="-122"/>
                <a:cs typeface="Atkinson Hyperlegible" pitchFamily="34" charset="-120"/>
              </a:rPr>
              <a:t> </a:t>
            </a:r>
            <a:r>
              <a:rPr lang="en-US" sz="1400" dirty="0" err="1">
                <a:solidFill>
                  <a:srgbClr val="56605B"/>
                </a:solidFill>
                <a:latin typeface="Atkinson Hyperlegible" pitchFamily="34" charset="0"/>
                <a:ea typeface="Atkinson Hyperlegible" pitchFamily="34" charset="-122"/>
                <a:cs typeface="Atkinson Hyperlegible" pitchFamily="34" charset="-120"/>
              </a:rPr>
              <a:t>nel</a:t>
            </a:r>
            <a:r>
              <a:rPr lang="en-US" sz="1400" dirty="0">
                <a:solidFill>
                  <a:srgbClr val="56605B"/>
                </a:solidFill>
                <a:latin typeface="Atkinson Hyperlegible" pitchFamily="34" charset="0"/>
                <a:ea typeface="Atkinson Hyperlegible" pitchFamily="34" charset="-122"/>
                <a:cs typeface="Atkinson Hyperlegible" pitchFamily="34" charset="-120"/>
              </a:rPr>
              <a:t> </a:t>
            </a:r>
            <a:r>
              <a:rPr lang="en-US" sz="1400" dirty="0" err="1">
                <a:solidFill>
                  <a:srgbClr val="56605B"/>
                </a:solidFill>
                <a:latin typeface="Atkinson Hyperlegible" pitchFamily="34" charset="0"/>
                <a:ea typeface="Atkinson Hyperlegible" pitchFamily="34" charset="-122"/>
                <a:cs typeface="Atkinson Hyperlegible" pitchFamily="34" charset="-120"/>
              </a:rPr>
              <a:t>diario</a:t>
            </a:r>
            <a:r>
              <a:rPr lang="en-US" sz="1400" dirty="0">
                <a:solidFill>
                  <a:srgbClr val="56605B"/>
                </a:solidFill>
                <a:latin typeface="Atkinson Hyperlegible" pitchFamily="34" charset="0"/>
                <a:ea typeface="Atkinson Hyperlegible" pitchFamily="34" charset="-122"/>
                <a:cs typeface="Atkinson Hyperlegible" pitchFamily="34" charset="-120"/>
              </a:rPr>
              <a:t>: dalla lezione 5, quando avrai imparato GitHub, la caricherai nel tuo repository.</a:t>
            </a:r>
            <a:endParaRPr lang="en-US" sz="1400" dirty="0"/>
          </a:p>
        </p:txBody>
      </p:sp>
      <p:sp>
        <p:nvSpPr>
          <p:cNvPr id="9" name="Text 7"/>
          <p:cNvSpPr/>
          <p:nvPr/>
        </p:nvSpPr>
        <p:spPr>
          <a:xfrm>
            <a:off x="812797" y="6238329"/>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Modulo 0, lezione 2: introduzione all’informatica umanistica</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9F6"/>
        </a:solidFill>
        <a:effectLst/>
      </p:bgPr>
    </p:bg>
    <p:spTree>
      <p:nvGrpSpPr>
        <p:cNvPr id="1" name=""/>
        <p:cNvGrpSpPr/>
        <p:nvPr/>
      </p:nvGrpSpPr>
      <p:grpSpPr>
        <a:xfrm>
          <a:off x="0" y="0"/>
          <a:ext cx="0" cy="0"/>
          <a:chOff x="0" y="0"/>
          <a:chExt cx="0" cy="0"/>
        </a:xfrm>
      </p:grpSpPr>
      <p:sp>
        <p:nvSpPr>
          <p:cNvPr id="2" name="Shape 0"/>
          <p:cNvSpPr/>
          <p:nvPr/>
        </p:nvSpPr>
        <p:spPr>
          <a:xfrm>
            <a:off x="0" y="0"/>
            <a:ext cx="152377" cy="6857971"/>
          </a:xfrm>
          <a:prstGeom prst="rect">
            <a:avLst/>
          </a:prstGeom>
          <a:solidFill>
            <a:srgbClr val="2A685A"/>
          </a:solidFill>
          <a:ln/>
        </p:spPr>
        <p:txBody>
          <a:bodyPr/>
          <a:lstStyle/>
          <a:p>
            <a:endParaRPr lang="it-IT"/>
          </a:p>
        </p:txBody>
      </p:sp>
      <p:sp>
        <p:nvSpPr>
          <p:cNvPr id="3" name="Text 1"/>
          <p:cNvSpPr/>
          <p:nvPr/>
        </p:nvSpPr>
        <p:spPr>
          <a:xfrm>
            <a:off x="812797" y="812788"/>
            <a:ext cx="2224817" cy="314820"/>
          </a:xfrm>
          <a:prstGeom prst="roundRect">
            <a:avLst>
              <a:gd name="adj" fmla="val 50000"/>
            </a:avLst>
          </a:prstGeom>
          <a:solidFill>
            <a:srgbClr val="D7E6E0"/>
          </a:solidFill>
          <a:ln/>
        </p:spPr>
        <p:txBody>
          <a:bodyPr wrap="none" lIns="0" tIns="0" rIns="0" bIns="0" rtlCol="0" anchor="ctr">
            <a:normAutofit/>
          </a:bodyPr>
          <a:lstStyle/>
          <a:p>
            <a:pPr marL="0" indent="0" algn="ctr">
              <a:lnSpc>
                <a:spcPts val="1680"/>
              </a:lnSpc>
              <a:buNone/>
            </a:pPr>
            <a:r>
              <a:rPr lang="en-US" sz="1200" b="1" dirty="0">
                <a:solidFill>
                  <a:srgbClr val="1D2420"/>
                </a:solidFill>
                <a:latin typeface="Atkinson Hyperlegible" pitchFamily="34" charset="0"/>
                <a:ea typeface="Atkinson Hyperlegible" pitchFamily="34" charset="-122"/>
                <a:cs typeface="Atkinson Hyperlegible" pitchFamily="34" charset="-120"/>
              </a:rPr>
              <a:t>Diario di progetto, 5 minuti</a:t>
            </a:r>
            <a:endParaRPr lang="en-US" sz="1200" dirty="0"/>
          </a:p>
        </p:txBody>
      </p:sp>
      <p:sp>
        <p:nvSpPr>
          <p:cNvPr id="4" name="Text 2"/>
          <p:cNvSpPr>
            <a:spLocks noGrp="1"/>
          </p:cNvSpPr>
          <p:nvPr>
            <p:ph type="title"/>
          </p:nvPr>
        </p:nvSpPr>
        <p:spPr>
          <a:xfrm>
            <a:off x="812797" y="1381596"/>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Che cosa hai deciso oggi, e perché?</a:t>
            </a:r>
            <a:endParaRPr lang="en-US" sz="3200" dirty="0"/>
          </a:p>
        </p:txBody>
      </p:sp>
      <p:sp>
        <p:nvSpPr>
          <p:cNvPr id="5" name="Text 3"/>
          <p:cNvSpPr/>
          <p:nvPr/>
        </p:nvSpPr>
        <p:spPr>
          <a:xfrm>
            <a:off x="812797" y="2082651"/>
            <a:ext cx="9156700" cy="368248"/>
          </a:xfrm>
          <a:prstGeom prst="rect">
            <a:avLst/>
          </a:prstGeom>
          <a:noFill/>
          <a:ln/>
        </p:spPr>
        <p:txBody>
          <a:bodyPr wrap="square" lIns="0" tIns="0" rIns="0" bIns="0" rtlCol="0" anchor="t">
            <a:normAutofit/>
          </a:bodyPr>
          <a:lstStyle/>
          <a:p>
            <a:pPr marL="0" indent="0" algn="l">
              <a:lnSpc>
                <a:spcPts val="2700"/>
              </a:lnSpc>
              <a:buNone/>
            </a:pPr>
            <a:r>
              <a:rPr lang="en-US" sz="2000" i="1" dirty="0">
                <a:solidFill>
                  <a:srgbClr val="1D2420"/>
                </a:solidFill>
                <a:latin typeface="Spectral" pitchFamily="18" charset="0"/>
                <a:ea typeface="Spectral" pitchFamily="18" charset="-122"/>
                <a:cs typeface="Spectral" pitchFamily="18" charset="-120"/>
              </a:rPr>
              <a:t>Seconda riga del diario: quale collezione ti piacerebbe studiare, e perché?</a:t>
            </a:r>
            <a:endParaRPr lang="en-US" sz="2000" dirty="0"/>
          </a:p>
        </p:txBody>
      </p:sp>
      <p:sp>
        <p:nvSpPr>
          <p:cNvPr id="6" name="Text 4"/>
          <p:cNvSpPr/>
          <p:nvPr/>
        </p:nvSpPr>
        <p:spPr>
          <a:xfrm>
            <a:off x="812797" y="2679477"/>
            <a:ext cx="10883353" cy="309875"/>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6605B"/>
                </a:solidFill>
                <a:latin typeface="Atkinson Hyperlegible" pitchFamily="34" charset="0"/>
                <a:ea typeface="Atkinson Hyperlegible" pitchFamily="34" charset="-122"/>
                <a:cs typeface="Atkinson Hyperlegible" pitchFamily="34" charset="-120"/>
              </a:rPr>
              <a:t>Scrivi una riga nel file </a:t>
            </a:r>
            <a:r>
              <a:rPr lang="en-US" sz="1600" b="1" dirty="0">
                <a:solidFill>
                  <a:srgbClr val="56605B"/>
                </a:solidFill>
                <a:latin typeface="Atkinson Hyperlegible" pitchFamily="34" charset="0"/>
                <a:ea typeface="Atkinson Hyperlegible" pitchFamily="34" charset="-122"/>
                <a:cs typeface="Atkinson Hyperlegible" pitchFamily="34" charset="-120"/>
              </a:rPr>
              <a:t>diario.md</a:t>
            </a:r>
            <a:r>
              <a:rPr lang="en-US" sz="1600" dirty="0">
                <a:solidFill>
                  <a:srgbClr val="56605B"/>
                </a:solidFill>
                <a:latin typeface="Atkinson Hyperlegible" pitchFamily="34" charset="0"/>
                <a:ea typeface="Atkinson Hyperlegible" pitchFamily="34" charset="-122"/>
                <a:cs typeface="Atkinson Hyperlegible" pitchFamily="34" charset="-120"/>
              </a:rPr>
              <a:t>: data, lezione, decisione, motivo.</a:t>
            </a:r>
            <a:endParaRPr lang="en-US" sz="1600" dirty="0"/>
          </a:p>
        </p:txBody>
      </p:sp>
      <p:sp>
        <p:nvSpPr>
          <p:cNvPr id="7" name="Text 5"/>
          <p:cNvSpPr/>
          <p:nvPr/>
        </p:nvSpPr>
        <p:spPr>
          <a:xfrm>
            <a:off x="812797" y="6238317"/>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Modulo 0, lezione 2: introduzione all’informatica umanistica</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CEEE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97" y="812800"/>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Dalla prossima lezione: si costruisce</a:t>
            </a:r>
            <a:endParaRPr lang="en-US" sz="3200" dirty="0"/>
          </a:p>
        </p:txBody>
      </p:sp>
      <p:sp>
        <p:nvSpPr>
          <p:cNvPr id="3" name="Shape 1"/>
          <p:cNvSpPr/>
          <p:nvPr/>
        </p:nvSpPr>
        <p:spPr>
          <a:xfrm>
            <a:off x="815972" y="1567793"/>
            <a:ext cx="2520904" cy="1864539"/>
          </a:xfrm>
          <a:prstGeom prst="roundRect">
            <a:avLst>
              <a:gd name="adj" fmla="val 3917"/>
            </a:avLst>
          </a:prstGeom>
          <a:solidFill>
            <a:srgbClr val="F8F9F6"/>
          </a:solidFill>
          <a:ln w="6350">
            <a:solidFill>
              <a:srgbClr val="C6CDC6"/>
            </a:solidFill>
            <a:prstDash val="solid"/>
          </a:ln>
        </p:spPr>
        <p:txBody>
          <a:bodyPr/>
          <a:lstStyle/>
          <a:p>
            <a:endParaRPr lang="it-IT"/>
          </a:p>
        </p:txBody>
      </p:sp>
      <p:sp>
        <p:nvSpPr>
          <p:cNvPr id="4" name="Text 2"/>
          <p:cNvSpPr/>
          <p:nvPr/>
        </p:nvSpPr>
        <p:spPr>
          <a:xfrm>
            <a:off x="1045997" y="1797819"/>
            <a:ext cx="2122679"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A685A"/>
                </a:solidFill>
                <a:latin typeface="Atkinson Hyperlegible" pitchFamily="34" charset="0"/>
                <a:ea typeface="Atkinson Hyperlegible" pitchFamily="34" charset="-122"/>
                <a:cs typeface="Atkinson Hyperlegible" pitchFamily="34" charset="-120"/>
              </a:rPr>
              <a:t>Lezioni 3–5</a:t>
            </a:r>
            <a:endParaRPr lang="en-US" sz="1200" dirty="0"/>
          </a:p>
        </p:txBody>
      </p:sp>
      <p:sp>
        <p:nvSpPr>
          <p:cNvPr id="5" name="Text 3"/>
          <p:cNvSpPr/>
          <p:nvPr/>
        </p:nvSpPr>
        <p:spPr>
          <a:xfrm>
            <a:off x="1045997" y="2087290"/>
            <a:ext cx="2122679"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Modulo 1</a:t>
            </a:r>
            <a:endParaRPr lang="en-US" sz="2000" dirty="0"/>
          </a:p>
        </p:txBody>
      </p:sp>
      <p:sp>
        <p:nvSpPr>
          <p:cNvPr id="6" name="Text 4"/>
          <p:cNvSpPr/>
          <p:nvPr/>
        </p:nvSpPr>
        <p:spPr>
          <a:xfrm>
            <a:off x="1045997" y="2455552"/>
            <a:ext cx="2122679" cy="77214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Fondamenti del web e pubblicazione: HTML, CSS, GitHub.</a:t>
            </a:r>
            <a:endParaRPr lang="en-US" sz="1400" dirty="0"/>
          </a:p>
        </p:txBody>
      </p:sp>
      <p:sp>
        <p:nvSpPr>
          <p:cNvPr id="7" name="Shape 5"/>
          <p:cNvSpPr/>
          <p:nvPr/>
        </p:nvSpPr>
        <p:spPr>
          <a:xfrm>
            <a:off x="3495603" y="1567793"/>
            <a:ext cx="2520976" cy="1864539"/>
          </a:xfrm>
          <a:prstGeom prst="roundRect">
            <a:avLst>
              <a:gd name="adj" fmla="val 3917"/>
            </a:avLst>
          </a:prstGeom>
          <a:solidFill>
            <a:srgbClr val="F8F9F6"/>
          </a:solidFill>
          <a:ln w="6350">
            <a:solidFill>
              <a:srgbClr val="C6CDC6"/>
            </a:solidFill>
            <a:prstDash val="solid"/>
          </a:ln>
        </p:spPr>
        <p:txBody>
          <a:bodyPr/>
          <a:lstStyle/>
          <a:p>
            <a:endParaRPr lang="it-IT"/>
          </a:p>
        </p:txBody>
      </p:sp>
      <p:sp>
        <p:nvSpPr>
          <p:cNvPr id="8" name="Text 6"/>
          <p:cNvSpPr/>
          <p:nvPr/>
        </p:nvSpPr>
        <p:spPr>
          <a:xfrm>
            <a:off x="3725628" y="1797819"/>
            <a:ext cx="2122753"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4889"/>
                </a:solidFill>
                <a:latin typeface="Atkinson Hyperlegible" pitchFamily="34" charset="0"/>
                <a:ea typeface="Atkinson Hyperlegible" pitchFamily="34" charset="-122"/>
                <a:cs typeface="Atkinson Hyperlegible" pitchFamily="34" charset="-120"/>
              </a:rPr>
              <a:t>Lezioni 6–9</a:t>
            </a:r>
            <a:endParaRPr lang="en-US" sz="1200" dirty="0"/>
          </a:p>
        </p:txBody>
      </p:sp>
      <p:sp>
        <p:nvSpPr>
          <p:cNvPr id="9" name="Text 7"/>
          <p:cNvSpPr/>
          <p:nvPr/>
        </p:nvSpPr>
        <p:spPr>
          <a:xfrm>
            <a:off x="3725628" y="2087290"/>
            <a:ext cx="2122753"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Modulo 2</a:t>
            </a:r>
            <a:endParaRPr lang="en-US" sz="2000" dirty="0"/>
          </a:p>
        </p:txBody>
      </p:sp>
      <p:sp>
        <p:nvSpPr>
          <p:cNvPr id="10" name="Text 8"/>
          <p:cNvSpPr/>
          <p:nvPr/>
        </p:nvSpPr>
        <p:spPr>
          <a:xfrm>
            <a:off x="3725628" y="2455552"/>
            <a:ext cx="2122753" cy="77214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Dati e modelli: schema, JSON, testo, Linked Open Data.</a:t>
            </a:r>
            <a:endParaRPr lang="en-US" sz="1400" dirty="0"/>
          </a:p>
        </p:txBody>
      </p:sp>
      <p:sp>
        <p:nvSpPr>
          <p:cNvPr id="11" name="Shape 9"/>
          <p:cNvSpPr/>
          <p:nvPr/>
        </p:nvSpPr>
        <p:spPr>
          <a:xfrm>
            <a:off x="6175306" y="1567793"/>
            <a:ext cx="2520976" cy="1864539"/>
          </a:xfrm>
          <a:prstGeom prst="roundRect">
            <a:avLst>
              <a:gd name="adj" fmla="val 3917"/>
            </a:avLst>
          </a:prstGeom>
          <a:solidFill>
            <a:srgbClr val="F8F9F6"/>
          </a:solidFill>
          <a:ln w="6350">
            <a:solidFill>
              <a:srgbClr val="C6CDC6"/>
            </a:solidFill>
            <a:prstDash val="solid"/>
          </a:ln>
        </p:spPr>
        <p:txBody>
          <a:bodyPr/>
          <a:lstStyle/>
          <a:p>
            <a:endParaRPr lang="it-IT"/>
          </a:p>
        </p:txBody>
      </p:sp>
      <p:sp>
        <p:nvSpPr>
          <p:cNvPr id="12" name="Text 10"/>
          <p:cNvSpPr/>
          <p:nvPr/>
        </p:nvSpPr>
        <p:spPr>
          <a:xfrm>
            <a:off x="6405331" y="1797819"/>
            <a:ext cx="2122753"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4761A"/>
                </a:solidFill>
                <a:latin typeface="Atkinson Hyperlegible" pitchFamily="34" charset="0"/>
                <a:ea typeface="Atkinson Hyperlegible" pitchFamily="34" charset="-122"/>
                <a:cs typeface="Atkinson Hyperlegible" pitchFamily="34" charset="-120"/>
              </a:rPr>
              <a:t>Lezioni 10–12</a:t>
            </a:r>
            <a:endParaRPr lang="en-US" sz="1200" dirty="0"/>
          </a:p>
        </p:txBody>
      </p:sp>
      <p:sp>
        <p:nvSpPr>
          <p:cNvPr id="13" name="Text 11"/>
          <p:cNvSpPr/>
          <p:nvPr/>
        </p:nvSpPr>
        <p:spPr>
          <a:xfrm>
            <a:off x="6405331" y="2087290"/>
            <a:ext cx="2122753"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Modulo 3</a:t>
            </a:r>
            <a:endParaRPr lang="en-US" sz="2000" dirty="0"/>
          </a:p>
        </p:txBody>
      </p:sp>
      <p:sp>
        <p:nvSpPr>
          <p:cNvPr id="14" name="Text 12"/>
          <p:cNvSpPr/>
          <p:nvPr/>
        </p:nvSpPr>
        <p:spPr>
          <a:xfrm>
            <a:off x="6405331" y="2455552"/>
            <a:ext cx="2122753" cy="77214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Leggere e adattare il kit; visualizzazioni e accessibilità.</a:t>
            </a:r>
            <a:endParaRPr lang="en-US" sz="1400" dirty="0"/>
          </a:p>
        </p:txBody>
      </p:sp>
      <p:sp>
        <p:nvSpPr>
          <p:cNvPr id="15" name="Shape 13"/>
          <p:cNvSpPr/>
          <p:nvPr/>
        </p:nvSpPr>
        <p:spPr>
          <a:xfrm>
            <a:off x="8855008" y="1567793"/>
            <a:ext cx="2520976" cy="1864539"/>
          </a:xfrm>
          <a:prstGeom prst="roundRect">
            <a:avLst>
              <a:gd name="adj" fmla="val 3917"/>
            </a:avLst>
          </a:prstGeom>
          <a:solidFill>
            <a:srgbClr val="F8F9F6"/>
          </a:solidFill>
          <a:ln w="6350">
            <a:solidFill>
              <a:srgbClr val="C6CDC6"/>
            </a:solidFill>
            <a:prstDash val="solid"/>
          </a:ln>
        </p:spPr>
        <p:txBody>
          <a:bodyPr/>
          <a:lstStyle/>
          <a:p>
            <a:endParaRPr lang="it-IT"/>
          </a:p>
        </p:txBody>
      </p:sp>
      <p:sp>
        <p:nvSpPr>
          <p:cNvPr id="16" name="Text 14"/>
          <p:cNvSpPr/>
          <p:nvPr/>
        </p:nvSpPr>
        <p:spPr>
          <a:xfrm>
            <a:off x="9085034" y="1797819"/>
            <a:ext cx="2122753"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3849"/>
                </a:solidFill>
                <a:latin typeface="Atkinson Hyperlegible" pitchFamily="34" charset="0"/>
                <a:ea typeface="Atkinson Hyperlegible" pitchFamily="34" charset="-122"/>
                <a:cs typeface="Atkinson Hyperlegible" pitchFamily="34" charset="-120"/>
              </a:rPr>
              <a:t>Lezioni 13–15</a:t>
            </a:r>
            <a:endParaRPr lang="en-US" sz="1200" dirty="0"/>
          </a:p>
        </p:txBody>
      </p:sp>
      <p:sp>
        <p:nvSpPr>
          <p:cNvPr id="17" name="Text 15"/>
          <p:cNvSpPr/>
          <p:nvPr/>
        </p:nvSpPr>
        <p:spPr>
          <a:xfrm>
            <a:off x="9085034" y="2087290"/>
            <a:ext cx="2122753"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Modulo 4</a:t>
            </a:r>
            <a:endParaRPr lang="en-US" sz="2000" dirty="0"/>
          </a:p>
        </p:txBody>
      </p:sp>
      <p:sp>
        <p:nvSpPr>
          <p:cNvPr id="18" name="Text 16"/>
          <p:cNvSpPr/>
          <p:nvPr/>
        </p:nvSpPr>
        <p:spPr>
          <a:xfrm>
            <a:off x="9085034" y="2455552"/>
            <a:ext cx="2122753" cy="52323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Documentazione e progetto.</a:t>
            </a:r>
            <a:endParaRPr lang="en-US" sz="1400" dirty="0"/>
          </a:p>
        </p:txBody>
      </p:sp>
      <p:sp>
        <p:nvSpPr>
          <p:cNvPr id="19" name="Text 17"/>
          <p:cNvSpPr/>
          <p:nvPr/>
        </p:nvSpPr>
        <p:spPr>
          <a:xfrm>
            <a:off x="812797" y="6238329"/>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Modulo 0, lezione 2: introduzione all’informatica umanistica</a:t>
            </a:r>
            <a:endParaRPr lang="en-US" sz="1200" dirty="0"/>
          </a:p>
        </p:txBody>
      </p:sp>
    </p:spTree>
  </p:cSld>
  <p:clrMapOvr>
    <a:masterClrMapping/>
  </p:clrMapOvr>
</p:sld>
</file>

<file path=ppt/theme/theme1.xml><?xml version="1.0" encoding="utf-8"?>
<a:theme xmlns:a="http://schemas.openxmlformats.org/drawingml/2006/main" name="Lezione 2. Che cos’è l’informatica umanistica">
  <a:themeElements>
    <a:clrScheme name="Lezione 2. Che cos’è l’informatica umanistica">
      <a:dk1>
        <a:srgbClr val="1D2420"/>
      </a:dk1>
      <a:lt1>
        <a:srgbClr val="ECEEE9"/>
      </a:lt1>
      <a:dk2>
        <a:srgbClr val="515752"/>
      </a:dk2>
      <a:lt2>
        <a:srgbClr val="D7DAD5"/>
      </a:lt2>
      <a:accent1>
        <a:srgbClr val="2A685A"/>
      </a:accent1>
      <a:accent2>
        <a:srgbClr val="2D4889"/>
      </a:accent2>
      <a:accent3>
        <a:srgbClr val="F1D57E"/>
      </a:accent3>
      <a:accent4>
        <a:srgbClr val="A4761A"/>
      </a:accent4>
      <a:accent5>
        <a:srgbClr val="8A3849"/>
      </a:accent5>
      <a:accent6>
        <a:srgbClr val="7A560E"/>
      </a:accent6>
      <a:hlink>
        <a:srgbClr val="0563C1"/>
      </a:hlink>
      <a:folHlink>
        <a:srgbClr val="954F72"/>
      </a:folHlink>
    </a:clrScheme>
    <a:fontScheme name="Lezione 2. Che cos’è l’informatica umanistica">
      <a:majorFont>
        <a:latin typeface="Spectr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tkinson Hyperlegi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2203</Words>
  <Application>Microsoft Office PowerPoint</Application>
  <PresentationFormat>Widescreen</PresentationFormat>
  <Paragraphs>316</Paragraphs>
  <Slides>24</Slides>
  <Notes>24</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24</vt:i4>
      </vt:variant>
    </vt:vector>
  </HeadingPairs>
  <TitlesOfParts>
    <vt:vector size="28" baseType="lpstr">
      <vt:lpstr>Spectral</vt:lpstr>
      <vt:lpstr>Atkinson Hyperlegible</vt:lpstr>
      <vt:lpstr>Arial</vt:lpstr>
      <vt:lpstr>Lezione 2. Che cos’è l’informatica umanistica</vt:lpstr>
      <vt:lpstr>Che cos’è l’informatica umanistica</vt:lpstr>
      <vt:lpstr>Presentazione standard di PowerPoint</vt:lpstr>
      <vt:lpstr>Informatica umanistica</vt:lpstr>
      <vt:lpstr>Due direzioni di uno stesso campo</vt:lpstr>
      <vt:lpstr>Una storia breve</vt:lpstr>
      <vt:lpstr>Che cosa si fa, in pratica</vt:lpstr>
      <vt:lpstr>Creare un oggetto/artefatto digitale</vt:lpstr>
      <vt:lpstr>Un artefatto digitale è un prodotto della ricerca</vt:lpstr>
      <vt:lpstr>Scrinium: un artefatto costruito con l’intelligenza artificiale</vt:lpstr>
      <vt:lpstr>Che cosa resta a te</vt:lpstr>
      <vt:lpstr>I linguaggi necessari</vt:lpstr>
      <vt:lpstr>Una mappa dei linguaggi del corso</vt:lpstr>
      <vt:lpstr>Descrivere, istruire, rappresentare</vt:lpstr>
      <vt:lpstr>Siti da conoscere</vt:lpstr>
      <vt:lpstr>Sette progetti da esplorare</vt:lpstr>
      <vt:lpstr>Un caso: che cosa succede quando un progetto finisce</vt:lpstr>
      <vt:lpstr>Dati, servizi, visualizzazioni</vt:lpstr>
      <vt:lpstr>Tre livelli di ogni progetto digitale</vt:lpstr>
      <vt:lpstr>Dati: i principi FAIR</vt:lpstr>
      <vt:lpstr>Servizi: oltre la pagina</vt:lpstr>
      <vt:lpstr>Visualizzazioni: mostrare è argomentare</vt:lpstr>
      <vt:lpstr>Smontare un progetto digitale</vt:lpstr>
      <vt:lpstr>Che cosa hai deciso oggi, e perché?</vt:lpstr>
      <vt:lpstr>Dalla prossima lezione: si costruisce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Lezione 2. Che cos’è l’informatica umanistica</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Atkinson Hyperlegible
Copyright 2020 Braille Institute of America, Inc.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Spectral
Copyright 2017 The Spectral Project Authors (https://github.com/productiontype/Spectral)
This Font Software is licensed under the SIL Open Font License, Version 1.1.
This license is copied below, and is also available with a FAQ at:
https://openfontlicense.org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Francesca Tomasi</cp:lastModifiedBy>
  <cp:revision>2</cp:revision>
  <dcterms:created xsi:type="dcterms:W3CDTF">2026-10-27T11:29:02Z</dcterms:created>
  <dcterms:modified xsi:type="dcterms:W3CDTF">2026-10-27T14:34:55Z</dcterms:modified>
</cp:coreProperties>
</file>