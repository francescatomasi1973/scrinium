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embeddedFontLst>
    <p:embeddedFont>
      <p:font typeface="Atkinson Hyperlegible" panose="020B0604020202020204" charset="0"/>
      <p:regular r:id="rId20"/>
      <p:bold r:id="rId21"/>
    </p:embeddedFont>
    <p:embeddedFont>
      <p:font typeface="Spectral" panose="020B0604020202020204" charset="0"/>
      <p:regular r:id="rId22"/>
      <p:bold r:id="rId23"/>
      <p:italic r:id="rId24"/>
      <p:boldItalic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12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462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minuti di presentazione, 35 di esplorazione di Scrinium in coppia, 5 di diario.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Rassicurare subito: nessuno parte con conoscenze di programmazione, e nessuno dovrà scrivere programmi da zero.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risultati di apprendimento completi sono nel programma del corso.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lezione segue questo schema. Il quarto passo è quello che rende il lavoro valutabile e riusabile.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2 è il più lungo perché modellare i dati è il cuore umanistico del corso.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esercizi si completano dopo le lezioni 5, 8, 11 e 14, ma non si consegnano: si mostrano all’orale.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proporzioni cambiano: nella lezione su GitHub la pratica prende 60 minuti, in quella sulla documentazione la teoria 50.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Fare un giro guidato dal vivo: home, catalogo, scheda di un testo, Esplora, Dataset. Gli oggetti sono fittizi, i testi sono reali.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link sono nella documentazione di Scrinium, capitolo «I materiali del progetto».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serve decidere oggi: la scelta si fa dopo il modulo 3, quando si è lavorato sul kit.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Insistere: nessuna consegna intermedia, nessuna proposta da approvare. Il lavoro si mostra dal repository GitHub il giorno dell’orale.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documentazione e il colloquio insieme valgono metà del voto: quello che conta è saper spiegare che cosa si è fatto e perché.</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Scrinium stesso è stato costruito con un assistente: la documentazione racconta come. Lo useremo come caso di studio nella lezione 15.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non ha un computer portatile lo segnali subito: si lavora in coppia.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Raccogliere i desideri e fotografare la lavagna: alla lezione 15 si confrontano con quanto fatto.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Presentare il diario: una riga a fine lezione, in un file diario.md. Oggi può bastare un foglio.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Ricordare VS Code per la lezione 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EE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97" y="812797"/>
            <a:ext cx="10566362" cy="447064"/>
          </a:xfrm>
          <a:prstGeom prst="rect">
            <a:avLst/>
          </a:prstGeom>
          <a:noFill/>
          <a:ln/>
        </p:spPr>
        <p:txBody>
          <a:bodyPr wrap="square" lIns="0" tIns="0" rIns="0" bIns="0" rtlCol="0" anchor="t"/>
          <a:lstStyle>
            <a:lvl1pPr marL="0" indent="0" algn="l">
              <a:lnSpc>
                <a:spcPct val="115000"/>
              </a:lnSpc>
              <a:buNone/>
              <a:defRPr lang="en-US" sz="3200" dirty="0">
                <a:solidFill>
                  <a:srgbClr val="1D2420"/>
                </a:solidFill>
                <a:latin typeface="Spectral" pitchFamily="34" charset="0"/>
                <a:ea typeface="Spectral" pitchFamily="34" charset="-122"/>
                <a:cs typeface="Spectr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97" y="1564661"/>
            <a:ext cx="10566403" cy="4480539"/>
          </a:xfrm>
          <a:prstGeom prst="rect">
            <a:avLst/>
          </a:prstGeom>
          <a:noFill/>
          <a:ln/>
        </p:spPr>
        <p:txBody>
          <a:bodyPr wrap="square" lIns="0" tIns="0" rIns="0" bIns="0" rtlCol="0" anchor="t"/>
          <a:lstStyle>
            <a:lvl1pPr marL="0" indent="0" algn="l">
              <a:lnSpc>
                <a:spcPct val="140000"/>
              </a:lnSpc>
              <a:buNone/>
              <a:defRPr lang="en-US" sz="1600" dirty="0">
                <a:solidFill>
                  <a:srgbClr val="1D2420"/>
                </a:solidFill>
                <a:latin typeface="Atkinson Hyperlegible" pitchFamily="34" charset="0"/>
                <a:ea typeface="Atkinson Hyperlegible" pitchFamily="34" charset="-122"/>
                <a:cs typeface="Atkinson Hyperlegible"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EE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97" y="812797"/>
            <a:ext cx="10566362" cy="447064"/>
          </a:xfrm>
          <a:prstGeom prst="rect">
            <a:avLst/>
          </a:prstGeom>
          <a:noFill/>
          <a:ln/>
        </p:spPr>
        <p:txBody>
          <a:bodyPr wrap="square" lIns="0" tIns="0" rIns="0" bIns="0" rtlCol="0" anchor="t"/>
          <a:lstStyle>
            <a:lvl1pPr marL="0" indent="0" algn="l">
              <a:lnSpc>
                <a:spcPct val="115000"/>
              </a:lnSpc>
              <a:buNone/>
              <a:defRPr lang="en-US" sz="3200" dirty="0">
                <a:solidFill>
                  <a:srgbClr val="1D2420"/>
                </a:solidFill>
                <a:latin typeface="Spectral" pitchFamily="34" charset="0"/>
                <a:ea typeface="Spectral" pitchFamily="34" charset="-122"/>
                <a:cs typeface="Spectr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97" y="1564661"/>
            <a:ext cx="10566403" cy="4480539"/>
          </a:xfrm>
          <a:prstGeom prst="rect">
            <a:avLst/>
          </a:prstGeom>
          <a:noFill/>
          <a:ln/>
        </p:spPr>
        <p:txBody>
          <a:bodyPr wrap="square" lIns="0" tIns="0" rIns="0" bIns="0" rtlCol="0" anchor="t"/>
          <a:lstStyle>
            <a:lvl1pPr marL="0" indent="0" algn="l">
              <a:lnSpc>
                <a:spcPct val="140000"/>
              </a:lnSpc>
              <a:buNone/>
              <a:defRPr lang="en-US" sz="1600" dirty="0">
                <a:solidFill>
                  <a:srgbClr val="1D2420"/>
                </a:solidFill>
                <a:latin typeface="Atkinson Hyperlegible" pitchFamily="34" charset="0"/>
                <a:ea typeface="Atkinson Hyperlegible" pitchFamily="34" charset="-122"/>
                <a:cs typeface="Atkinson Hyperlegible"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francescatomasi1973.github.io/scrinium/scrinium-completo/"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t.wikipedia.org/wiki/Markdow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420"/>
        </a:solidFill>
        <a:effectLst/>
      </p:bgPr>
    </p:bg>
    <p:spTree>
      <p:nvGrpSpPr>
        <p:cNvPr id="1" name=""/>
        <p:cNvGrpSpPr/>
        <p:nvPr/>
      </p:nvGrpSpPr>
      <p:grpSpPr>
        <a:xfrm>
          <a:off x="0" y="0"/>
          <a:ext cx="0" cy="0"/>
          <a:chOff x="0" y="0"/>
          <a:chExt cx="0" cy="0"/>
        </a:xfrm>
      </p:grpSpPr>
      <p:sp>
        <p:nvSpPr>
          <p:cNvPr id="2" name="Text 0"/>
          <p:cNvSpPr/>
          <p:nvPr/>
        </p:nvSpPr>
        <p:spPr>
          <a:xfrm>
            <a:off x="812797" y="2481410"/>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Informatica umanistica, lezione 1</a:t>
            </a:r>
            <a:endParaRPr lang="en-US" sz="1600" dirty="0"/>
          </a:p>
        </p:txBody>
      </p:sp>
      <p:sp>
        <p:nvSpPr>
          <p:cNvPr id="3" name="Text 1"/>
          <p:cNvSpPr>
            <a:spLocks noGrp="1"/>
          </p:cNvSpPr>
          <p:nvPr>
            <p:ph type="title"/>
          </p:nvPr>
        </p:nvSpPr>
        <p:spPr>
          <a:xfrm>
            <a:off x="812797" y="2969031"/>
            <a:ext cx="10883353" cy="683720"/>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E8ECE6"/>
                </a:solidFill>
                <a:latin typeface="Spectral" pitchFamily="18" charset="0"/>
                <a:ea typeface="Spectral" pitchFamily="18" charset="-122"/>
                <a:cs typeface="Spectral" pitchFamily="18" charset="-120"/>
              </a:rPr>
              <a:t>Presentazione del corso</a:t>
            </a:r>
            <a:endParaRPr lang="en-US" sz="4800" dirty="0"/>
          </a:p>
        </p:txBody>
      </p:sp>
      <p:sp>
        <p:nvSpPr>
          <p:cNvPr id="4" name="Text 2"/>
          <p:cNvSpPr/>
          <p:nvPr/>
        </p:nvSpPr>
        <p:spPr>
          <a:xfrm>
            <a:off x="812797" y="3830496"/>
            <a:ext cx="850265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A9B3AD"/>
                </a:solidFill>
                <a:latin typeface="Spectral" pitchFamily="18" charset="0"/>
                <a:ea typeface="Spectral" pitchFamily="18" charset="-122"/>
                <a:cs typeface="Spectral" pitchFamily="18" charset="-120"/>
              </a:rPr>
              <a:t>Che cosa faremo in 30 ore, come lavoreremo, come si svolge l’esame.</a:t>
            </a:r>
            <a:endParaRPr lang="en-US" sz="2000" dirty="0"/>
          </a:p>
        </p:txBody>
      </p:sp>
      <p:sp>
        <p:nvSpPr>
          <p:cNvPr id="5" name="Text 3"/>
          <p:cNvSpPr/>
          <p:nvPr/>
        </p:nvSpPr>
        <p:spPr>
          <a:xfrm>
            <a:off x="812797" y="6238325"/>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Lezione 1, 2 ore. Caso di studio: il catalogo Scrinium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2420"/>
        </a:solidFill>
        <a:effectLst/>
      </p:bgPr>
    </p:bg>
    <p:spTree>
      <p:nvGrpSpPr>
        <p:cNvPr id="1" name=""/>
        <p:cNvGrpSpPr/>
        <p:nvPr/>
      </p:nvGrpSpPr>
      <p:grpSpPr>
        <a:xfrm>
          <a:off x="0" y="0"/>
          <a:ext cx="0" cy="0"/>
          <a:chOff x="0" y="0"/>
          <a:chExt cx="0" cy="0"/>
        </a:xfrm>
      </p:grpSpPr>
      <p:sp>
        <p:nvSpPr>
          <p:cNvPr id="2" name="Text 0"/>
          <p:cNvSpPr/>
          <p:nvPr/>
        </p:nvSpPr>
        <p:spPr>
          <a:xfrm>
            <a:off x="812797" y="2082797"/>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Il corso in una frase</a:t>
            </a:r>
            <a:endParaRPr lang="en-US" sz="1600" dirty="0"/>
          </a:p>
        </p:txBody>
      </p:sp>
      <p:sp>
        <p:nvSpPr>
          <p:cNvPr id="3" name="Text 1"/>
          <p:cNvSpPr/>
          <p:nvPr/>
        </p:nvSpPr>
        <p:spPr>
          <a:xfrm>
            <a:off x="812797" y="2621258"/>
            <a:ext cx="9810750" cy="1976171"/>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E8ECE6"/>
                </a:solidFill>
                <a:latin typeface="Spectral" pitchFamily="18" charset="0"/>
                <a:ea typeface="Spectral" pitchFamily="18" charset="-122"/>
                <a:cs typeface="Spectral" pitchFamily="18" charset="-120"/>
              </a:rPr>
              <a:t>Imparare a costruire, documentare e spiegare un catalogo digitale. Non per diventare programmatori, ma per sapere che cosa si fa quando si progetta un </a:t>
            </a:r>
            <a:r>
              <a:rPr lang="en-US" sz="3200" dirty="0" err="1">
                <a:solidFill>
                  <a:srgbClr val="E8ECE6"/>
                </a:solidFill>
                <a:latin typeface="Spectral" pitchFamily="18" charset="0"/>
                <a:ea typeface="Spectral" pitchFamily="18" charset="-122"/>
                <a:cs typeface="Spectral" pitchFamily="18" charset="-120"/>
              </a:rPr>
              <a:t>oggetto</a:t>
            </a:r>
            <a:r>
              <a:rPr lang="en-US" sz="3200" dirty="0">
                <a:solidFill>
                  <a:srgbClr val="E8ECE6"/>
                </a:solidFill>
                <a:latin typeface="Spectral" pitchFamily="18" charset="0"/>
                <a:ea typeface="Spectral" pitchFamily="18" charset="-122"/>
                <a:cs typeface="Spectral" pitchFamily="18" charset="-120"/>
              </a:rPr>
              <a:t> (</a:t>
            </a:r>
            <a:r>
              <a:rPr lang="en-US" sz="3200" dirty="0" err="1">
                <a:solidFill>
                  <a:srgbClr val="E8ECE6"/>
                </a:solidFill>
                <a:latin typeface="Spectral" pitchFamily="18" charset="0"/>
                <a:ea typeface="Spectral" pitchFamily="18" charset="-122"/>
                <a:cs typeface="Spectral" pitchFamily="18" charset="-120"/>
              </a:rPr>
              <a:t>artefatto</a:t>
            </a:r>
            <a:r>
              <a:rPr lang="en-US" sz="3200" dirty="0">
                <a:solidFill>
                  <a:srgbClr val="E8ECE6"/>
                </a:solidFill>
                <a:latin typeface="Spectral" pitchFamily="18" charset="0"/>
                <a:ea typeface="Spectral" pitchFamily="18" charset="-122"/>
                <a:cs typeface="Spectral" pitchFamily="18" charset="-120"/>
              </a:rPr>
              <a:t>) </a:t>
            </a:r>
            <a:r>
              <a:rPr lang="en-US" sz="3200" dirty="0" err="1">
                <a:solidFill>
                  <a:srgbClr val="E8ECE6"/>
                </a:solidFill>
                <a:latin typeface="Spectral" pitchFamily="18" charset="0"/>
                <a:ea typeface="Spectral" pitchFamily="18" charset="-122"/>
                <a:cs typeface="Spectral" pitchFamily="18" charset="-120"/>
              </a:rPr>
              <a:t>digitale</a:t>
            </a:r>
            <a:r>
              <a:rPr lang="en-US" sz="3200" dirty="0">
                <a:solidFill>
                  <a:srgbClr val="E8ECE6"/>
                </a:solidFill>
                <a:latin typeface="Spectral" pitchFamily="18" charset="0"/>
                <a:ea typeface="Spectral" pitchFamily="18" charset="-122"/>
                <a:cs typeface="Spectral" pitchFamily="18" charset="-120"/>
              </a:rPr>
              <a:t>.</a:t>
            </a:r>
            <a:endParaRPr lang="en-US" sz="3200" dirty="0"/>
          </a:p>
        </p:txBody>
      </p:sp>
      <p:sp>
        <p:nvSpPr>
          <p:cNvPr id="4" name="Text 2"/>
          <p:cNvSpPr/>
          <p:nvPr/>
        </p:nvSpPr>
        <p:spPr>
          <a:xfrm>
            <a:off x="812797" y="6238324"/>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Che cosa saprai fare alla fine</a:t>
            </a:r>
            <a:endParaRPr lang="en-US" sz="3200" dirty="0"/>
          </a:p>
        </p:txBody>
      </p:sp>
      <p:sp>
        <p:nvSpPr>
          <p:cNvPr id="3" name="Shape 1"/>
          <p:cNvSpPr/>
          <p:nvPr/>
        </p:nvSpPr>
        <p:spPr>
          <a:xfrm>
            <a:off x="815972" y="1567790"/>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4"/>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Leggere una pagina web</a:t>
            </a:r>
            <a:endParaRPr lang="en-US" sz="2000" dirty="0"/>
          </a:p>
        </p:txBody>
      </p:sp>
      <p:sp>
        <p:nvSpPr>
          <p:cNvPr id="5" name="Text 3"/>
          <p:cNvSpPr/>
          <p:nvPr/>
        </p:nvSpPr>
        <p:spPr>
          <a:xfrm>
            <a:off x="1045997" y="2166082"/>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Riconoscere HTML, CSS e JavaScript e dire che cosa fa ciascuno.</a:t>
            </a:r>
            <a:endParaRPr lang="en-US" sz="1400" dirty="0"/>
          </a:p>
        </p:txBody>
      </p:sp>
      <p:sp>
        <p:nvSpPr>
          <p:cNvPr id="6" name="Shape 4"/>
          <p:cNvSpPr/>
          <p:nvPr/>
        </p:nvSpPr>
        <p:spPr>
          <a:xfrm>
            <a:off x="4388861" y="1567790"/>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7" name="Text 5"/>
          <p:cNvSpPr/>
          <p:nvPr/>
        </p:nvSpPr>
        <p:spPr>
          <a:xfrm>
            <a:off x="4618886" y="1797814"/>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Pubblicare</a:t>
            </a:r>
            <a:endParaRPr lang="en-US" sz="2000" dirty="0"/>
          </a:p>
        </p:txBody>
      </p:sp>
      <p:sp>
        <p:nvSpPr>
          <p:cNvPr id="8" name="Text 6"/>
          <p:cNvSpPr/>
          <p:nvPr/>
        </p:nvSpPr>
        <p:spPr>
          <a:xfrm>
            <a:off x="4618886" y="2166082"/>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Mettere online un sito su GitHub, con un indirizzo chiaro e stabile.</a:t>
            </a:r>
            <a:endParaRPr lang="en-US" sz="1400" dirty="0"/>
          </a:p>
        </p:txBody>
      </p:sp>
      <p:sp>
        <p:nvSpPr>
          <p:cNvPr id="9" name="Shape 7"/>
          <p:cNvSpPr/>
          <p:nvPr/>
        </p:nvSpPr>
        <p:spPr>
          <a:xfrm>
            <a:off x="7961750" y="1567790"/>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0" name="Text 8"/>
          <p:cNvSpPr/>
          <p:nvPr/>
        </p:nvSpPr>
        <p:spPr>
          <a:xfrm>
            <a:off x="8191775" y="1797814"/>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Modellare</a:t>
            </a:r>
            <a:endParaRPr lang="en-US" sz="2000" dirty="0"/>
          </a:p>
        </p:txBody>
      </p:sp>
      <p:sp>
        <p:nvSpPr>
          <p:cNvPr id="11" name="Text 9"/>
          <p:cNvSpPr/>
          <p:nvPr/>
        </p:nvSpPr>
        <p:spPr>
          <a:xfrm>
            <a:off x="8191775" y="2166082"/>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Descrivere una collezione con campi, vocabolari e collegamenti.</a:t>
            </a:r>
            <a:endParaRPr lang="en-US" sz="1400" dirty="0"/>
          </a:p>
        </p:txBody>
      </p:sp>
      <p:sp>
        <p:nvSpPr>
          <p:cNvPr id="12" name="Shape 10"/>
          <p:cNvSpPr/>
          <p:nvPr/>
        </p:nvSpPr>
        <p:spPr>
          <a:xfrm>
            <a:off x="815972" y="3052666"/>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3" name="Text 11"/>
          <p:cNvSpPr/>
          <p:nvPr/>
        </p:nvSpPr>
        <p:spPr>
          <a:xfrm>
            <a:off x="1045997" y="3282691"/>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Adattare il codice</a:t>
            </a:r>
            <a:endParaRPr lang="en-US" sz="2000" dirty="0"/>
          </a:p>
        </p:txBody>
      </p:sp>
      <p:sp>
        <p:nvSpPr>
          <p:cNvPr id="14" name="Text 12"/>
          <p:cNvSpPr/>
          <p:nvPr/>
        </p:nvSpPr>
        <p:spPr>
          <a:xfrm>
            <a:off x="1045997" y="3650960"/>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Usare il kit del </a:t>
            </a:r>
            <a:r>
              <a:rPr lang="en-US" sz="1400" dirty="0" err="1">
                <a:solidFill>
                  <a:srgbClr val="56605B"/>
                </a:solidFill>
                <a:latin typeface="Atkinson Hyperlegible" pitchFamily="34" charset="0"/>
                <a:ea typeface="Atkinson Hyperlegible" pitchFamily="34" charset="-122"/>
                <a:cs typeface="Atkinson Hyperlegible" pitchFamily="34" charset="-120"/>
              </a:rPr>
              <a:t>corso</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su</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una</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raccolta</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personale</a:t>
            </a:r>
            <a:r>
              <a:rPr lang="en-US" sz="1400" dirty="0">
                <a:solidFill>
                  <a:srgbClr val="56605B"/>
                </a:solidFill>
                <a:latin typeface="Atkinson Hyperlegible" pitchFamily="34" charset="0"/>
                <a:ea typeface="Atkinson Hyperlegible" pitchFamily="34" charset="-122"/>
                <a:cs typeface="Atkinson Hyperlegible" pitchFamily="34" charset="-120"/>
              </a:rPr>
              <a:t> di </a:t>
            </a:r>
            <a:r>
              <a:rPr lang="en-US" sz="1400" dirty="0" err="1">
                <a:solidFill>
                  <a:srgbClr val="56605B"/>
                </a:solidFill>
                <a:latin typeface="Atkinson Hyperlegible" pitchFamily="34" charset="0"/>
                <a:ea typeface="Atkinson Hyperlegible" pitchFamily="34" charset="-122"/>
                <a:cs typeface="Atkinson Hyperlegible" pitchFamily="34" charset="-120"/>
              </a:rPr>
              <a:t>oggetti</a:t>
            </a:r>
            <a:r>
              <a:rPr lang="en-US" sz="1400" dirty="0">
                <a:solidFill>
                  <a:srgbClr val="56605B"/>
                </a:solidFill>
                <a:latin typeface="Atkinson Hyperlegible" pitchFamily="34" charset="0"/>
                <a:ea typeface="Atkinson Hyperlegible" pitchFamily="34" charset="-122"/>
                <a:cs typeface="Atkinson Hyperlegible" pitchFamily="34" charset="-120"/>
              </a:rPr>
              <a:t>.</a:t>
            </a:r>
            <a:endParaRPr lang="en-US" sz="1400" dirty="0"/>
          </a:p>
        </p:txBody>
      </p:sp>
      <p:sp>
        <p:nvSpPr>
          <p:cNvPr id="15" name="Shape 13"/>
          <p:cNvSpPr/>
          <p:nvPr/>
        </p:nvSpPr>
        <p:spPr>
          <a:xfrm>
            <a:off x="4388861" y="3052666"/>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6" name="Text 14"/>
          <p:cNvSpPr/>
          <p:nvPr/>
        </p:nvSpPr>
        <p:spPr>
          <a:xfrm>
            <a:off x="4618886" y="3282691"/>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Leggere criticamente</a:t>
            </a:r>
            <a:endParaRPr lang="en-US" sz="2000" dirty="0"/>
          </a:p>
        </p:txBody>
      </p:sp>
      <p:sp>
        <p:nvSpPr>
          <p:cNvPr id="17" name="Text 15"/>
          <p:cNvSpPr/>
          <p:nvPr/>
        </p:nvSpPr>
        <p:spPr>
          <a:xfrm>
            <a:off x="4618886" y="3650960"/>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Valutare progetti digitali e visualizzazioni.</a:t>
            </a:r>
            <a:endParaRPr lang="en-US" sz="1400" dirty="0"/>
          </a:p>
        </p:txBody>
      </p:sp>
      <p:sp>
        <p:nvSpPr>
          <p:cNvPr id="18" name="Shape 16"/>
          <p:cNvSpPr/>
          <p:nvPr/>
        </p:nvSpPr>
        <p:spPr>
          <a:xfrm>
            <a:off x="7961750" y="3052666"/>
            <a:ext cx="3414162" cy="1326151"/>
          </a:xfrm>
          <a:prstGeom prst="roundRect">
            <a:avLst>
              <a:gd name="adj" fmla="val 5507"/>
            </a:avLst>
          </a:prstGeom>
          <a:solidFill>
            <a:srgbClr val="F8F9F6"/>
          </a:solidFill>
          <a:ln w="6350">
            <a:solidFill>
              <a:srgbClr val="C6CDC6"/>
            </a:solidFill>
            <a:prstDash val="solid"/>
          </a:ln>
        </p:spPr>
        <p:txBody>
          <a:bodyPr/>
          <a:lstStyle/>
          <a:p>
            <a:endParaRPr lang="it-IT"/>
          </a:p>
        </p:txBody>
      </p:sp>
      <p:sp>
        <p:nvSpPr>
          <p:cNvPr id="19" name="Text 17"/>
          <p:cNvSpPr/>
          <p:nvPr/>
        </p:nvSpPr>
        <p:spPr>
          <a:xfrm>
            <a:off x="8191775" y="3282691"/>
            <a:ext cx="3042735"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Documentare</a:t>
            </a:r>
            <a:endParaRPr lang="en-US" sz="2000" dirty="0"/>
          </a:p>
        </p:txBody>
      </p:sp>
      <p:sp>
        <p:nvSpPr>
          <p:cNvPr id="20" name="Text 18"/>
          <p:cNvSpPr/>
          <p:nvPr/>
        </p:nvSpPr>
        <p:spPr>
          <a:xfrm>
            <a:off x="8191775" y="3650960"/>
            <a:ext cx="3042735"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Spiegare per iscritto ogni scelta, con i suoi limiti.</a:t>
            </a:r>
            <a:endParaRPr lang="en-US" sz="1400" dirty="0"/>
          </a:p>
        </p:txBody>
      </p:sp>
      <p:sp>
        <p:nvSpPr>
          <p:cNvPr id="21" name="Text 19"/>
          <p:cNvSpPr/>
          <p:nvPr/>
        </p:nvSpPr>
        <p:spPr>
          <a:xfrm>
            <a:off x="812797" y="6238325"/>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EE9"/>
        </a:solidFill>
        <a:effectLst/>
      </p:bgPr>
    </p:bg>
    <p:spTree>
      <p:nvGrpSpPr>
        <p:cNvPr id="1" name=""/>
        <p:cNvGrpSpPr/>
        <p:nvPr/>
      </p:nvGrpSpPr>
      <p:grpSpPr>
        <a:xfrm>
          <a:off x="0" y="0"/>
          <a:ext cx="0" cy="0"/>
          <a:chOff x="0" y="0"/>
          <a:chExt cx="0" cy="0"/>
        </a:xfrm>
      </p:grpSpPr>
      <p:sp>
        <p:nvSpPr>
          <p:cNvPr id="2" name="Text 0"/>
          <p:cNvSpPr/>
          <p:nvPr/>
        </p:nvSpPr>
        <p:spPr>
          <a:xfrm>
            <a:off x="812797" y="812797"/>
            <a:ext cx="11379203" cy="47246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D2420"/>
                </a:solidFill>
                <a:latin typeface="Spectral" pitchFamily="18" charset="0"/>
                <a:ea typeface="Spectral" pitchFamily="18" charset="-122"/>
                <a:cs typeface="Spectral" pitchFamily="18" charset="-120"/>
              </a:rPr>
              <a:t>Il metodo: osservare, riprodurre, applicare, documentare</a:t>
            </a:r>
            <a:endParaRPr lang="en-US" sz="3200" dirty="0"/>
          </a:p>
        </p:txBody>
      </p:sp>
      <p:sp>
        <p:nvSpPr>
          <p:cNvPr id="3" name="Shape 1"/>
          <p:cNvSpPr/>
          <p:nvPr/>
        </p:nvSpPr>
        <p:spPr>
          <a:xfrm>
            <a:off x="815972" y="1567790"/>
            <a:ext cx="2216222"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4"/>
            <a:ext cx="1808857"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1</a:t>
            </a:r>
            <a:endParaRPr lang="en-US" sz="1200" dirty="0"/>
          </a:p>
        </p:txBody>
      </p:sp>
      <p:sp>
        <p:nvSpPr>
          <p:cNvPr id="5" name="Text 3"/>
          <p:cNvSpPr/>
          <p:nvPr/>
        </p:nvSpPr>
        <p:spPr>
          <a:xfrm>
            <a:off x="1045997" y="2087287"/>
            <a:ext cx="1808857"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Osserva</a:t>
            </a:r>
            <a:endParaRPr lang="en-US" sz="2000" dirty="0"/>
          </a:p>
        </p:txBody>
      </p:sp>
      <p:sp>
        <p:nvSpPr>
          <p:cNvPr id="6" name="Text 4"/>
          <p:cNvSpPr/>
          <p:nvPr/>
        </p:nvSpPr>
        <p:spPr>
          <a:xfrm>
            <a:off x="1045997" y="2455556"/>
            <a:ext cx="1808857"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Come il nostro caso studio risolve un problema.</a:t>
            </a:r>
            <a:endParaRPr lang="en-US" sz="1400" dirty="0"/>
          </a:p>
        </p:txBody>
      </p:sp>
      <p:pic>
        <p:nvPicPr>
          <p:cNvPr id="7" name="Image 0" descr="arrow-right"/>
          <p:cNvPicPr>
            <a:picLocks noChangeAspect="1"/>
          </p:cNvPicPr>
          <p:nvPr/>
        </p:nvPicPr>
        <p:blipFill>
          <a:blip r:embed="rId3"/>
          <a:srcRect/>
          <a:stretch/>
        </p:blipFill>
        <p:spPr>
          <a:xfrm>
            <a:off x="3136906" y="2411160"/>
            <a:ext cx="355594" cy="177797"/>
          </a:xfrm>
          <a:prstGeom prst="rect">
            <a:avLst/>
          </a:prstGeom>
        </p:spPr>
      </p:pic>
      <p:sp>
        <p:nvSpPr>
          <p:cNvPr id="8" name="Shape 5"/>
          <p:cNvSpPr/>
          <p:nvPr/>
        </p:nvSpPr>
        <p:spPr>
          <a:xfrm>
            <a:off x="3597211" y="1567790"/>
            <a:ext cx="2216295"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9" name="Text 6"/>
          <p:cNvSpPr/>
          <p:nvPr/>
        </p:nvSpPr>
        <p:spPr>
          <a:xfrm>
            <a:off x="3827237" y="1797814"/>
            <a:ext cx="1808932"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2</a:t>
            </a:r>
            <a:endParaRPr lang="en-US" sz="1200" dirty="0"/>
          </a:p>
        </p:txBody>
      </p:sp>
      <p:sp>
        <p:nvSpPr>
          <p:cNvPr id="10" name="Text 7"/>
          <p:cNvSpPr/>
          <p:nvPr/>
        </p:nvSpPr>
        <p:spPr>
          <a:xfrm>
            <a:off x="3827237" y="2087287"/>
            <a:ext cx="1808932"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Riproduci</a:t>
            </a:r>
            <a:endParaRPr lang="en-US" sz="2000" dirty="0"/>
          </a:p>
        </p:txBody>
      </p:sp>
      <p:sp>
        <p:nvSpPr>
          <p:cNvPr id="11" name="Text 8"/>
          <p:cNvSpPr/>
          <p:nvPr/>
        </p:nvSpPr>
        <p:spPr>
          <a:xfrm>
            <a:off x="3827237" y="2455556"/>
            <a:ext cx="1808932"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La stessa cosa in piccolo, in aula.</a:t>
            </a:r>
            <a:endParaRPr lang="en-US" sz="1400" dirty="0"/>
          </a:p>
        </p:txBody>
      </p:sp>
      <p:pic>
        <p:nvPicPr>
          <p:cNvPr id="12" name="Image 1" descr="arrow-right"/>
          <p:cNvPicPr>
            <a:picLocks noChangeAspect="1"/>
          </p:cNvPicPr>
          <p:nvPr/>
        </p:nvPicPr>
        <p:blipFill>
          <a:blip r:embed="rId3"/>
          <a:srcRect/>
          <a:stretch/>
        </p:blipFill>
        <p:spPr>
          <a:xfrm>
            <a:off x="5918217" y="2411160"/>
            <a:ext cx="355594" cy="177797"/>
          </a:xfrm>
          <a:prstGeom prst="rect">
            <a:avLst/>
          </a:prstGeom>
        </p:spPr>
      </p:pic>
      <p:sp>
        <p:nvSpPr>
          <p:cNvPr id="13" name="Shape 9"/>
          <p:cNvSpPr/>
          <p:nvPr/>
        </p:nvSpPr>
        <p:spPr>
          <a:xfrm>
            <a:off x="6378523" y="1567790"/>
            <a:ext cx="2216222"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4" name="Text 10"/>
          <p:cNvSpPr/>
          <p:nvPr/>
        </p:nvSpPr>
        <p:spPr>
          <a:xfrm>
            <a:off x="6608548" y="1797814"/>
            <a:ext cx="1808857"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3</a:t>
            </a:r>
            <a:endParaRPr lang="en-US" sz="1200" dirty="0"/>
          </a:p>
        </p:txBody>
      </p:sp>
      <p:sp>
        <p:nvSpPr>
          <p:cNvPr id="15" name="Text 11"/>
          <p:cNvSpPr/>
          <p:nvPr/>
        </p:nvSpPr>
        <p:spPr>
          <a:xfrm>
            <a:off x="6608548" y="2087287"/>
            <a:ext cx="1808857"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Applica</a:t>
            </a:r>
            <a:endParaRPr lang="en-US" sz="2000" dirty="0"/>
          </a:p>
        </p:txBody>
      </p:sp>
      <p:sp>
        <p:nvSpPr>
          <p:cNvPr id="16" name="Text 12"/>
          <p:cNvSpPr/>
          <p:nvPr/>
        </p:nvSpPr>
        <p:spPr>
          <a:xfrm>
            <a:off x="6608548" y="2455556"/>
            <a:ext cx="1808857"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La tecnica sulla tua collezione.</a:t>
            </a:r>
            <a:endParaRPr lang="en-US" sz="1400" dirty="0"/>
          </a:p>
        </p:txBody>
      </p:sp>
      <p:pic>
        <p:nvPicPr>
          <p:cNvPr id="17" name="Image 2" descr="arrow-right"/>
          <p:cNvPicPr>
            <a:picLocks noChangeAspect="1"/>
          </p:cNvPicPr>
          <p:nvPr/>
        </p:nvPicPr>
        <p:blipFill>
          <a:blip r:embed="rId3"/>
          <a:srcRect/>
          <a:stretch/>
        </p:blipFill>
        <p:spPr>
          <a:xfrm>
            <a:off x="8699457" y="2411160"/>
            <a:ext cx="355594" cy="177797"/>
          </a:xfrm>
          <a:prstGeom prst="rect">
            <a:avLst/>
          </a:prstGeom>
        </p:spPr>
      </p:pic>
      <p:sp>
        <p:nvSpPr>
          <p:cNvPr id="18" name="Shape 13"/>
          <p:cNvSpPr/>
          <p:nvPr/>
        </p:nvSpPr>
        <p:spPr>
          <a:xfrm>
            <a:off x="9159762" y="1567790"/>
            <a:ext cx="2216222"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9" name="Text 14"/>
          <p:cNvSpPr/>
          <p:nvPr/>
        </p:nvSpPr>
        <p:spPr>
          <a:xfrm>
            <a:off x="9389787" y="1797814"/>
            <a:ext cx="1808857"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4</a:t>
            </a:r>
            <a:endParaRPr lang="en-US" sz="1200" dirty="0"/>
          </a:p>
        </p:txBody>
      </p:sp>
      <p:sp>
        <p:nvSpPr>
          <p:cNvPr id="20" name="Text 15"/>
          <p:cNvSpPr/>
          <p:nvPr/>
        </p:nvSpPr>
        <p:spPr>
          <a:xfrm>
            <a:off x="9389787" y="2087287"/>
            <a:ext cx="1808857"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Documenta</a:t>
            </a:r>
            <a:endParaRPr lang="en-US" sz="2000" dirty="0"/>
          </a:p>
        </p:txBody>
      </p:sp>
      <p:sp>
        <p:nvSpPr>
          <p:cNvPr id="21" name="Text 16"/>
          <p:cNvSpPr/>
          <p:nvPr/>
        </p:nvSpPr>
        <p:spPr>
          <a:xfrm>
            <a:off x="9389787" y="2455556"/>
            <a:ext cx="1808857"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Nel diario: che cosa hai deciso e perché.</a:t>
            </a:r>
            <a:endParaRPr lang="en-US" sz="1400" dirty="0"/>
          </a:p>
        </p:txBody>
      </p:sp>
      <p:sp>
        <p:nvSpPr>
          <p:cNvPr id="22" name="Text 17"/>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
        <p:nvSpPr>
          <p:cNvPr id="23" name="Text 18"/>
          <p:cNvSpPr/>
          <p:nvPr/>
        </p:nvSpPr>
        <p:spPr>
          <a:xfrm>
            <a:off x="812797" y="812797"/>
            <a:ext cx="11379203" cy="47246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D2420"/>
                </a:solidFill>
                <a:latin typeface="Spectral" pitchFamily="18" charset="0"/>
                <a:ea typeface="Spectral" pitchFamily="18" charset="-122"/>
                <a:cs typeface="Spectral" pitchFamily="18" charset="-120"/>
              </a:rPr>
              <a:t>Il metodo: osservare, riprodurre, applicare, documentare</a:t>
            </a:r>
            <a:endParaRPr lang="en-US" sz="3200" dirty="0"/>
          </a:p>
        </p:txBody>
      </p:sp>
      <p:sp>
        <p:nvSpPr>
          <p:cNvPr id="24" name="Text 19"/>
          <p:cNvSpPr/>
          <p:nvPr/>
        </p:nvSpPr>
        <p:spPr>
          <a:xfrm>
            <a:off x="965174" y="3809059"/>
            <a:ext cx="10883353" cy="472464"/>
          </a:xfrm>
          <a:prstGeom prst="rect">
            <a:avLst/>
          </a:prstGeom>
          <a:noFill/>
          <a:ln/>
        </p:spPr>
        <p:txBody>
          <a:bodyPr wrap="square" lIns="0" tIns="0" rIns="0" bIns="0" rtlCol="0" anchor="t">
            <a:normAutofit/>
          </a:bodyPr>
          <a:lstStyle/>
          <a:p>
            <a:pPr marL="0" indent="0" algn="l">
              <a:lnSpc>
                <a:spcPts val="2112"/>
              </a:lnSpc>
              <a:buNone/>
            </a:pPr>
            <a:r>
              <a:rPr lang="en-US" sz="1920" dirty="0">
                <a:solidFill>
                  <a:srgbClr val="1D2420"/>
                </a:solidFill>
                <a:latin typeface="Spectral" pitchFamily="18" charset="0"/>
                <a:ea typeface="Spectral" pitchFamily="18" charset="-122"/>
                <a:cs typeface="Spectral" pitchFamily="18" charset="-120"/>
              </a:rPr>
              <a:t>Con l'analisi e l'esplorazione di un caso di studio disponibile attraverso un </a:t>
            </a:r>
            <a:r>
              <a:rPr lang="en-US" sz="1920" b="1" dirty="0">
                <a:solidFill>
                  <a:srgbClr val="1D2420"/>
                </a:solidFill>
                <a:latin typeface="Spectral" pitchFamily="18" charset="0"/>
                <a:ea typeface="Spectral" pitchFamily="18" charset="-122"/>
                <a:cs typeface="Spectral" pitchFamily="18" charset="-120"/>
              </a:rPr>
              <a:t>kit di lavoro</a:t>
            </a:r>
            <a:endParaRPr lang="en-US" sz="19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Cinque parti, quindici lezioni</a:t>
            </a:r>
            <a:endParaRPr lang="en-US" sz="3200" dirty="0"/>
          </a:p>
        </p:txBody>
      </p:sp>
      <p:sp>
        <p:nvSpPr>
          <p:cNvPr id="3" name="Shape 1"/>
          <p:cNvSpPr/>
          <p:nvPr/>
        </p:nvSpPr>
        <p:spPr>
          <a:xfrm>
            <a:off x="812797" y="1569250"/>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5"/>
            <a:ext cx="0" cy="3709333"/>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6367" y="1662785"/>
          <a:ext cx="10328492" cy="3522337"/>
        </p:xfrm>
        <a:graphic>
          <a:graphicData uri="http://schemas.openxmlformats.org/drawingml/2006/table">
            <a:tbl>
              <a:tblPr/>
              <a:tblGrid>
                <a:gridCol w="2788693">
                  <a:extLst>
                    <a:ext uri="{9D8B030D-6E8A-4147-A177-3AD203B41FA5}">
                      <a16:colId xmlns:a16="http://schemas.microsoft.com/office/drawing/2014/main" val="20000"/>
                    </a:ext>
                  </a:extLst>
                </a:gridCol>
                <a:gridCol w="1032849">
                  <a:extLst>
                    <a:ext uri="{9D8B030D-6E8A-4147-A177-3AD203B41FA5}">
                      <a16:colId xmlns:a16="http://schemas.microsoft.com/office/drawing/2014/main" val="20001"/>
                    </a:ext>
                  </a:extLst>
                </a:gridCol>
                <a:gridCol w="1859129">
                  <a:extLst>
                    <a:ext uri="{9D8B030D-6E8A-4147-A177-3AD203B41FA5}">
                      <a16:colId xmlns:a16="http://schemas.microsoft.com/office/drawing/2014/main" val="20002"/>
                    </a:ext>
                  </a:extLst>
                </a:gridCol>
                <a:gridCol w="722994">
                  <a:extLst>
                    <a:ext uri="{9D8B030D-6E8A-4147-A177-3AD203B41FA5}">
                      <a16:colId xmlns:a16="http://schemas.microsoft.com/office/drawing/2014/main" val="20003"/>
                    </a:ext>
                  </a:extLst>
                </a:gridCol>
                <a:gridCol w="3924827">
                  <a:extLst>
                    <a:ext uri="{9D8B030D-6E8A-4147-A177-3AD203B41FA5}">
                      <a16:colId xmlns:a16="http://schemas.microsoft.com/office/drawing/2014/main" val="20004"/>
                    </a:ext>
                  </a:extLst>
                </a:gridCol>
              </a:tblGrid>
              <a:tr h="355884">
                <a:tc>
                  <a:txBody>
                    <a:bodyPr/>
                    <a:lstStyle/>
                    <a:p>
                      <a:pPr marL="0" indent="0">
                        <a:lnSpc>
                          <a:spcPts val="1820"/>
                        </a:lnSpc>
                        <a:buNone/>
                      </a:pPr>
                      <a:r>
                        <a:rPr lang="en-US" sz="1300" b="1" dirty="0">
                          <a:solidFill>
                            <a:srgbClr val="1D2420"/>
                          </a:solidFill>
                          <a:latin typeface="Atkinson Hyperlegible" pitchFamily="34" charset="0"/>
                          <a:ea typeface="Atkinson Hyperlegible" pitchFamily="34" charset="-122"/>
                          <a:cs typeface="Atkinson Hyperlegible" pitchFamily="34" charset="-120"/>
                        </a:rPr>
                        <a:t>Parte</a:t>
                      </a:r>
                      <a:endParaRPr lang="en-US" sz="1300" dirty="0">
                        <a:latin typeface="Atkinson Hyperlegible" charset="0"/>
                        <a:ea typeface="Atkinson Hyperlegible" charset="0"/>
                        <a:cs typeface="Atkinson Hyperlegible" charset="0"/>
                      </a:endParaRPr>
                    </a:p>
                  </a:txBody>
                  <a:tcPr marL="57785" marR="57785" marT="57785" marB="57785">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820"/>
                        </a:lnSpc>
                        <a:buNone/>
                      </a:pPr>
                      <a:r>
                        <a:rPr lang="en-US" sz="1300" b="1" dirty="0">
                          <a:solidFill>
                            <a:srgbClr val="1D2420"/>
                          </a:solidFill>
                          <a:latin typeface="Atkinson Hyperlegible" pitchFamily="34" charset="0"/>
                          <a:ea typeface="Atkinson Hyperlegible" pitchFamily="34" charset="-122"/>
                          <a:cs typeface="Atkinson Hyperlegible" pitchFamily="34" charset="-120"/>
                        </a:rPr>
                        <a:t>Lezioni</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820"/>
                        </a:lnSpc>
                        <a:buNone/>
                      </a:pPr>
                      <a:r>
                        <a:rPr lang="en-US" sz="1300" b="1" dirty="0">
                          <a:solidFill>
                            <a:srgbClr val="1D2420"/>
                          </a:solidFill>
                          <a:latin typeface="Atkinson Hyperlegible" pitchFamily="34" charset="0"/>
                          <a:ea typeface="Atkinson Hyperlegible" pitchFamily="34" charset="-122"/>
                          <a:cs typeface="Atkinson Hyperlegible" pitchFamily="34" charset="-120"/>
                        </a:rPr>
                        <a:t>Date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820"/>
                        </a:lnSpc>
                        <a:buNone/>
                      </a:pPr>
                      <a:r>
                        <a:rPr lang="en-US" sz="1300" b="1" dirty="0">
                          <a:solidFill>
                            <a:srgbClr val="1D2420"/>
                          </a:solidFill>
                          <a:latin typeface="Atkinson Hyperlegible" pitchFamily="34" charset="0"/>
                          <a:ea typeface="Atkinson Hyperlegible" pitchFamily="34" charset="-122"/>
                          <a:cs typeface="Atkinson Hyperlegible" pitchFamily="34" charset="-120"/>
                        </a:rPr>
                        <a:t>Ore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820"/>
                        </a:lnSpc>
                        <a:buNone/>
                      </a:pPr>
                      <a:r>
                        <a:rPr lang="en-US" sz="1300" b="1" dirty="0">
                          <a:solidFill>
                            <a:srgbClr val="1D2420"/>
                          </a:solidFill>
                          <a:latin typeface="Atkinson Hyperlegible" pitchFamily="34" charset="0"/>
                          <a:ea typeface="Atkinson Hyperlegible" pitchFamily="34" charset="-122"/>
                          <a:cs typeface="Atkinson Hyperlegible" pitchFamily="34" charset="-120"/>
                        </a:rPr>
                        <a:t>Che cosa</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587056">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Introduzione</a:t>
                      </a:r>
                      <a:endParaRPr lang="en-US" sz="1300" dirty="0">
                        <a:latin typeface="Atkinson Hyperlegible" charset="0"/>
                        <a:ea typeface="Atkinson Hyperlegible" charset="0"/>
                        <a:cs typeface="Atkinson Hyperlegible" charset="0"/>
                      </a:endParaRPr>
                    </a:p>
                  </a:txBody>
                  <a:tcPr marL="57785" marR="57785" marT="57785" marB="57785">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1–2</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2 e 3 novembre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4</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Il corso, l’informatica umanistica, i progetti esistenti</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818229">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Modulo 1. Web e pubblicazione</a:t>
                      </a:r>
                      <a:endParaRPr lang="en-US" sz="1300" dirty="0">
                        <a:latin typeface="Atkinson Hyperlegible" charset="0"/>
                        <a:ea typeface="Atkinson Hyperlegible" charset="0"/>
                        <a:cs typeface="Atkinson Hyperlegible" charset="0"/>
                      </a:endParaRPr>
                    </a:p>
                  </a:txBody>
                  <a:tcPr marL="57785" marR="57785" marT="57785" marB="5778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3–5</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9, 10 e 16 novembre [attenzione saltiamo il 12 novembre]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6</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HTML, CSS, GitHub e i nomi degli indirizzi</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587056">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Modulo 2. Dati e modelli</a:t>
                      </a:r>
                      <a:endParaRPr lang="en-US" sz="1300" dirty="0">
                        <a:latin typeface="Atkinson Hyperlegible" charset="0"/>
                        <a:ea typeface="Atkinson Hyperlegible" charset="0"/>
                        <a:cs typeface="Atkinson Hyperlegible" charset="0"/>
                      </a:endParaRPr>
                    </a:p>
                  </a:txBody>
                  <a:tcPr marL="57785" marR="57785" marT="57785" marB="5778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6–9</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17, 19, 23 e 24 novembre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8</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Schema, formati, licenze, testo digitale, Linked Open Data</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587056">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Modulo 3. Leggere e adattare il codice</a:t>
                      </a:r>
                      <a:endParaRPr lang="en-US" sz="1300" dirty="0">
                        <a:latin typeface="Atkinson Hyperlegible" charset="0"/>
                        <a:ea typeface="Atkinson Hyperlegible" charset="0"/>
                        <a:cs typeface="Atkinson Hyperlegible" charset="0"/>
                      </a:endParaRPr>
                    </a:p>
                  </a:txBody>
                  <a:tcPr marL="57785" marR="57785" marT="57785" marB="5778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10–12</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26, 30 novembre e 1 dicembre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6</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Il kit, la collezione, visualizzazioni e accessibilità</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587056">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Modulo 4. Documentazione e progetto</a:t>
                      </a:r>
                      <a:endParaRPr lang="en-US" sz="1300" dirty="0">
                        <a:latin typeface="Atkinson Hyperlegible" charset="0"/>
                        <a:ea typeface="Atkinson Hyperlegible" charset="0"/>
                        <a:cs typeface="Atkinson Hyperlegible" charset="0"/>
                      </a:endParaRPr>
                    </a:p>
                  </a:txBody>
                  <a:tcPr marL="57785" marR="57785" marT="57785" marB="5778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13–15</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10, 14 e 15 dicembre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6</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820"/>
                        </a:lnSpc>
                        <a:buNone/>
                      </a:pPr>
                      <a:r>
                        <a:rPr lang="en-US" sz="1300" dirty="0">
                          <a:solidFill>
                            <a:srgbClr val="1D2420"/>
                          </a:solidFill>
                          <a:latin typeface="Atkinson Hyperlegible" pitchFamily="34" charset="0"/>
                          <a:ea typeface="Atkinson Hyperlegible" pitchFamily="34" charset="-122"/>
                          <a:cs typeface="Atkinson Hyperlegible" pitchFamily="34" charset="-120"/>
                        </a:rPr>
                        <a:t>Documentare, scrivere, preparare l’esame</a:t>
                      </a:r>
                      <a:endParaRPr lang="en-US" sz="1300" dirty="0">
                        <a:latin typeface="Atkinson Hyperlegible" charset="0"/>
                        <a:ea typeface="Atkinson Hyperlegible" charset="0"/>
                        <a:cs typeface="Atkinson Hyperlegible" charset="0"/>
                      </a:endParaRPr>
                    </a:p>
                  </a:txBody>
                  <a:tcPr marL="57785" marR="57785" marT="57785" marB="5778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
        <p:nvSpPr>
          <p:cNvPr id="7" name="Text 4"/>
          <p:cNvSpPr/>
          <p:nvPr/>
        </p:nvSpPr>
        <p:spPr>
          <a:xfrm>
            <a:off x="977848" y="5594344"/>
            <a:ext cx="9766590" cy="27431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1413"/>
                </a:solidFill>
                <a:latin typeface="Atkinson Hyperlegible" pitchFamily="34" charset="0"/>
                <a:ea typeface="Atkinson Hyperlegible" pitchFamily="34" charset="-122"/>
                <a:cs typeface="Atkinson Hyperlegible" pitchFamily="34" charset="-120"/>
              </a:rPr>
              <a:t>Se serve facciamo una lezione conclusiva di recap finale di tutto il lavoro il giorno </a:t>
            </a:r>
            <a:r>
              <a:rPr lang="en-US" sz="1400" b="1" dirty="0">
                <a:solidFill>
                  <a:srgbClr val="141413"/>
                </a:solidFill>
                <a:latin typeface="Atkinson Hyperlegible" pitchFamily="34" charset="0"/>
                <a:ea typeface="Atkinson Hyperlegible" pitchFamily="34" charset="-122"/>
                <a:cs typeface="Atkinson Hyperlegible" pitchFamily="34" charset="-120"/>
              </a:rPr>
              <a:t>17 dicembre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Il calendario</a:t>
            </a:r>
            <a:endParaRPr lang="en-US" sz="3200" dirty="0"/>
          </a:p>
        </p:txBody>
      </p:sp>
      <p:sp>
        <p:nvSpPr>
          <p:cNvPr id="3" name="Shape 1"/>
          <p:cNvSpPr/>
          <p:nvPr/>
        </p:nvSpPr>
        <p:spPr>
          <a:xfrm>
            <a:off x="812797" y="1569250"/>
            <a:ext cx="5156188"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5"/>
            <a:ext cx="0" cy="3149435"/>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6367" y="1662785"/>
          <a:ext cx="4918318" cy="2962440"/>
        </p:xfrm>
        <a:graphic>
          <a:graphicData uri="http://schemas.openxmlformats.org/drawingml/2006/table">
            <a:tbl>
              <a:tblPr/>
              <a:tblGrid>
                <a:gridCol w="590198">
                  <a:extLst>
                    <a:ext uri="{9D8B030D-6E8A-4147-A177-3AD203B41FA5}">
                      <a16:colId xmlns:a16="http://schemas.microsoft.com/office/drawing/2014/main" val="20000"/>
                    </a:ext>
                  </a:extLst>
                </a:gridCol>
                <a:gridCol w="4328120">
                  <a:extLst>
                    <a:ext uri="{9D8B030D-6E8A-4147-A177-3AD203B41FA5}">
                      <a16:colId xmlns:a16="http://schemas.microsoft.com/office/drawing/2014/main" val="20001"/>
                    </a:ext>
                  </a:extLst>
                </a:gridCol>
              </a:tblGrid>
              <a:tr h="329160">
                <a:tc>
                  <a:txBody>
                    <a:bodyPr/>
                    <a:lstStyle/>
                    <a:p>
                      <a:pPr marL="0" indent="0">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N.</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Lezione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1</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Presentazione del corso</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2</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Che cos’è l’informatica umanistica</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3</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Il web e HTML</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4</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CSS</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5</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GitHub e il nome delle cose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6</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Modellare una collezione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6"/>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7</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Formati, standard, licenze e diritti</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7"/>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8</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Il testo digitale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hape 3"/>
          <p:cNvSpPr/>
          <p:nvPr/>
        </p:nvSpPr>
        <p:spPr>
          <a:xfrm>
            <a:off x="6222971" y="1569250"/>
            <a:ext cx="5156188" cy="0"/>
          </a:xfrm>
          <a:prstGeom prst="line">
            <a:avLst/>
          </a:prstGeom>
          <a:noFill/>
          <a:ln w="9270">
            <a:solidFill>
              <a:srgbClr val="141413">
                <a:alpha val="22000"/>
              </a:srgbClr>
            </a:solidFill>
            <a:prstDash val="solid"/>
          </a:ln>
        </p:spPr>
        <p:txBody>
          <a:bodyPr/>
          <a:lstStyle/>
          <a:p>
            <a:endParaRPr lang="it-IT"/>
          </a:p>
        </p:txBody>
      </p:sp>
      <p:sp>
        <p:nvSpPr>
          <p:cNvPr id="7" name="Shape 4"/>
          <p:cNvSpPr/>
          <p:nvPr/>
        </p:nvSpPr>
        <p:spPr>
          <a:xfrm>
            <a:off x="6227606" y="1564615"/>
            <a:ext cx="0" cy="2820275"/>
          </a:xfrm>
          <a:prstGeom prst="line">
            <a:avLst/>
          </a:prstGeom>
          <a:noFill/>
          <a:ln w="9270">
            <a:solidFill>
              <a:srgbClr val="141413">
                <a:alpha val="22000"/>
              </a:srgbClr>
            </a:solidFill>
            <a:prstDash val="solid"/>
          </a:ln>
        </p:spPr>
        <p:txBody>
          <a:bodyPr/>
          <a:lstStyle/>
          <a:p>
            <a:endParaRPr lang="it-IT"/>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346541" y="1662785"/>
          <a:ext cx="4918318" cy="2633280"/>
        </p:xfrm>
        <a:graphic>
          <a:graphicData uri="http://schemas.openxmlformats.org/drawingml/2006/table">
            <a:tbl>
              <a:tblPr/>
              <a:tblGrid>
                <a:gridCol w="590198">
                  <a:extLst>
                    <a:ext uri="{9D8B030D-6E8A-4147-A177-3AD203B41FA5}">
                      <a16:colId xmlns:a16="http://schemas.microsoft.com/office/drawing/2014/main" val="20000"/>
                    </a:ext>
                  </a:extLst>
                </a:gridCol>
                <a:gridCol w="4328120">
                  <a:extLst>
                    <a:ext uri="{9D8B030D-6E8A-4147-A177-3AD203B41FA5}">
                      <a16:colId xmlns:a16="http://schemas.microsoft.com/office/drawing/2014/main" val="20001"/>
                    </a:ext>
                  </a:extLst>
                </a:gridCol>
              </a:tblGrid>
              <a:tr h="329160">
                <a:tc>
                  <a:txBody>
                    <a:bodyPr/>
                    <a:lstStyle/>
                    <a:p>
                      <a:pPr marL="0" indent="0">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N.</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Lezione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9</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Linked Open Data</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10</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Leggere il kit</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11</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Adattare il kit</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12</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Visualizzazioni e accessibilità</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13</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Che cosa significa documentare</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14</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Laboratorio di scrittura</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6"/>
                  </a:ext>
                </a:extLst>
              </a:tr>
              <a:tr h="329160">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15</a:t>
                      </a:r>
                      <a:endParaRPr lang="en-US" sz="1200" dirty="0">
                        <a:latin typeface="Atkinson Hyperlegible" charset="0"/>
                        <a:ea typeface="Atkinson Hyperlegible" charset="0"/>
                        <a:cs typeface="Atkinson Hyperlegible" charset="0"/>
                      </a:endParaRPr>
                    </a:p>
                  </a:txBody>
                  <a:tcPr marL="53340" marR="53340" marT="53340" marB="53340">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1680"/>
                        </a:lnSpc>
                        <a:buNone/>
                      </a:pPr>
                      <a:r>
                        <a:rPr lang="en-US" sz="1200" dirty="0">
                          <a:solidFill>
                            <a:srgbClr val="1D2420"/>
                          </a:solidFill>
                          <a:latin typeface="Atkinson Hyperlegible" pitchFamily="34" charset="0"/>
                          <a:ea typeface="Atkinson Hyperlegible" pitchFamily="34" charset="-122"/>
                          <a:cs typeface="Atkinson Hyperlegible" pitchFamily="34" charset="-120"/>
                        </a:rPr>
                        <a:t>Dal corso al progetto</a:t>
                      </a:r>
                      <a:endParaRPr lang="en-US" sz="1200" dirty="0">
                        <a:latin typeface="Atkinson Hyperlegible" charset="0"/>
                        <a:ea typeface="Atkinson Hyperlegible" charset="0"/>
                        <a:cs typeface="Atkinson Hyperlegible" charset="0"/>
                      </a:endParaRPr>
                    </a:p>
                  </a:txBody>
                  <a:tcPr marL="53340" marR="53340" marT="53340" marB="5334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Text 5"/>
          <p:cNvSpPr/>
          <p:nvPr/>
        </p:nvSpPr>
        <p:spPr>
          <a:xfrm>
            <a:off x="812797" y="6238326"/>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7"/>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Com’è fatta una lezione</a:t>
            </a:r>
            <a:endParaRPr lang="en-US" sz="3200" dirty="0"/>
          </a:p>
        </p:txBody>
      </p:sp>
      <p:sp>
        <p:nvSpPr>
          <p:cNvPr id="3" name="Shape 1"/>
          <p:cNvSpPr/>
          <p:nvPr/>
        </p:nvSpPr>
        <p:spPr>
          <a:xfrm>
            <a:off x="812797" y="1564615"/>
            <a:ext cx="4412555" cy="944606"/>
          </a:xfrm>
          <a:prstGeom prst="roundRect">
            <a:avLst>
              <a:gd name="adj" fmla="val 5378"/>
            </a:avLst>
          </a:prstGeom>
          <a:solidFill>
            <a:srgbClr val="2D4889"/>
          </a:solidFill>
          <a:ln/>
        </p:spPr>
        <p:txBody>
          <a:bodyPr/>
          <a:lstStyle/>
          <a:p>
            <a:endParaRPr lang="it-IT"/>
          </a:p>
        </p:txBody>
      </p:sp>
      <p:sp>
        <p:nvSpPr>
          <p:cNvPr id="4" name="Text 2"/>
          <p:cNvSpPr/>
          <p:nvPr/>
        </p:nvSpPr>
        <p:spPr>
          <a:xfrm>
            <a:off x="965174" y="1716990"/>
            <a:ext cx="4231035"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5F1"/>
                </a:solidFill>
                <a:latin typeface="Atkinson Hyperlegible" pitchFamily="34" charset="0"/>
                <a:ea typeface="Atkinson Hyperlegible" pitchFamily="34" charset="-122"/>
                <a:cs typeface="Atkinson Hyperlegible" pitchFamily="34" charset="-120"/>
              </a:rPr>
              <a:t>Teoria</a:t>
            </a:r>
            <a:endParaRPr lang="en-US" sz="1600" dirty="0"/>
          </a:p>
        </p:txBody>
      </p:sp>
      <p:sp>
        <p:nvSpPr>
          <p:cNvPr id="5" name="Text 3"/>
          <p:cNvSpPr/>
          <p:nvPr/>
        </p:nvSpPr>
        <p:spPr>
          <a:xfrm>
            <a:off x="965174" y="2039559"/>
            <a:ext cx="4231035"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ECE8"/>
                </a:solidFill>
                <a:latin typeface="Atkinson Hyperlegible" pitchFamily="34" charset="0"/>
                <a:ea typeface="Atkinson Hyperlegible" pitchFamily="34" charset="-122"/>
                <a:cs typeface="Atkinson Hyperlegible" pitchFamily="34" charset="-120"/>
              </a:rPr>
              <a:t>15–50 minuti, secondo l’argomento</a:t>
            </a:r>
            <a:endParaRPr lang="en-US" sz="1200" dirty="0"/>
          </a:p>
        </p:txBody>
      </p:sp>
      <p:sp>
        <p:nvSpPr>
          <p:cNvPr id="6" name="Shape 4"/>
          <p:cNvSpPr/>
          <p:nvPr/>
        </p:nvSpPr>
        <p:spPr>
          <a:xfrm>
            <a:off x="5276120" y="1564615"/>
            <a:ext cx="4925957" cy="944606"/>
          </a:xfrm>
          <a:prstGeom prst="roundRect">
            <a:avLst>
              <a:gd name="adj" fmla="val 5378"/>
            </a:avLst>
          </a:prstGeom>
          <a:solidFill>
            <a:srgbClr val="2A685A"/>
          </a:solidFill>
          <a:ln/>
        </p:spPr>
        <p:txBody>
          <a:bodyPr/>
          <a:lstStyle/>
          <a:p>
            <a:endParaRPr lang="it-IT"/>
          </a:p>
        </p:txBody>
      </p:sp>
      <p:sp>
        <p:nvSpPr>
          <p:cNvPr id="7" name="Text 5"/>
          <p:cNvSpPr/>
          <p:nvPr/>
        </p:nvSpPr>
        <p:spPr>
          <a:xfrm>
            <a:off x="5428497" y="1716990"/>
            <a:ext cx="4759840"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5F1"/>
                </a:solidFill>
                <a:latin typeface="Atkinson Hyperlegible" pitchFamily="34" charset="0"/>
                <a:ea typeface="Atkinson Hyperlegible" pitchFamily="34" charset="-122"/>
                <a:cs typeface="Atkinson Hyperlegible" pitchFamily="34" charset="-120"/>
              </a:rPr>
              <a:t>Pratica</a:t>
            </a:r>
            <a:endParaRPr lang="en-US" sz="1600" dirty="0"/>
          </a:p>
        </p:txBody>
      </p:sp>
      <p:sp>
        <p:nvSpPr>
          <p:cNvPr id="8" name="Text 6"/>
          <p:cNvSpPr/>
          <p:nvPr/>
        </p:nvSpPr>
        <p:spPr>
          <a:xfrm>
            <a:off x="5428497" y="2039559"/>
            <a:ext cx="4759840"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ECE8"/>
                </a:solidFill>
                <a:latin typeface="Atkinson Hyperlegible" pitchFamily="34" charset="0"/>
                <a:ea typeface="Atkinson Hyperlegible" pitchFamily="34" charset="-122"/>
                <a:cs typeface="Atkinson Hyperlegible" pitchFamily="34" charset="-120"/>
              </a:rPr>
              <a:t>35–70 minuti, attraverso il kit e sulla tua collezione</a:t>
            </a:r>
            <a:endParaRPr lang="en-US" sz="1200" dirty="0"/>
          </a:p>
        </p:txBody>
      </p:sp>
      <p:sp>
        <p:nvSpPr>
          <p:cNvPr id="9" name="Shape 7"/>
          <p:cNvSpPr/>
          <p:nvPr/>
        </p:nvSpPr>
        <p:spPr>
          <a:xfrm>
            <a:off x="10252845" y="1564615"/>
            <a:ext cx="1126314" cy="944606"/>
          </a:xfrm>
          <a:prstGeom prst="roundRect">
            <a:avLst>
              <a:gd name="adj" fmla="val 5378"/>
            </a:avLst>
          </a:prstGeom>
          <a:solidFill>
            <a:srgbClr val="A4761A"/>
          </a:solidFill>
          <a:ln/>
        </p:spPr>
        <p:txBody>
          <a:bodyPr/>
          <a:lstStyle/>
          <a:p>
            <a:endParaRPr lang="it-IT"/>
          </a:p>
        </p:txBody>
      </p:sp>
      <p:sp>
        <p:nvSpPr>
          <p:cNvPr id="10" name="Text 8"/>
          <p:cNvSpPr/>
          <p:nvPr/>
        </p:nvSpPr>
        <p:spPr>
          <a:xfrm>
            <a:off x="10405222" y="1716990"/>
            <a:ext cx="872360"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Atkinson Hyperlegible" pitchFamily="34" charset="0"/>
                <a:ea typeface="Atkinson Hyperlegible" pitchFamily="34" charset="-122"/>
                <a:cs typeface="Atkinson Hyperlegible" pitchFamily="34" charset="-120"/>
              </a:rPr>
              <a:t>Diario</a:t>
            </a:r>
            <a:endParaRPr lang="en-US" sz="1200" dirty="0"/>
          </a:p>
        </p:txBody>
      </p:sp>
      <p:sp>
        <p:nvSpPr>
          <p:cNvPr id="11" name="Text 9"/>
          <p:cNvSpPr/>
          <p:nvPr/>
        </p:nvSpPr>
        <p:spPr>
          <a:xfrm>
            <a:off x="10405222" y="1930276"/>
            <a:ext cx="872360" cy="45196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ECE8"/>
                </a:solidFill>
                <a:latin typeface="Atkinson Hyperlegible" pitchFamily="34" charset="0"/>
                <a:ea typeface="Atkinson Hyperlegible" pitchFamily="34" charset="-122"/>
                <a:cs typeface="Atkinson Hyperlegible" pitchFamily="34" charset="-120"/>
              </a:rPr>
              <a:t>5 minuti a fine lezione</a:t>
            </a:r>
            <a:endParaRPr lang="en-US" sz="1200" dirty="0"/>
          </a:p>
        </p:txBody>
      </p:sp>
      <p:sp>
        <p:nvSpPr>
          <p:cNvPr id="12" name="Text 10"/>
          <p:cNvSpPr/>
          <p:nvPr/>
        </p:nvSpPr>
        <p:spPr>
          <a:xfrm>
            <a:off x="812797" y="2813974"/>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90 minuti. Gli ultimi 5 minuti sono sempre per il diario di progetto.</a:t>
            </a:r>
            <a:endParaRPr lang="en-US" sz="1600" dirty="0"/>
          </a:p>
        </p:txBody>
      </p:sp>
      <p:sp>
        <p:nvSpPr>
          <p:cNvPr id="13" name="Text 11"/>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EE9"/>
        </a:solidFill>
        <a:effectLst/>
      </p:bgPr>
    </p:bg>
    <p:spTree>
      <p:nvGrpSpPr>
        <p:cNvPr id="1" name=""/>
        <p:cNvGrpSpPr/>
        <p:nvPr/>
      </p:nvGrpSpPr>
      <p:grpSpPr>
        <a:xfrm>
          <a:off x="0" y="0"/>
          <a:ext cx="0" cy="0"/>
          <a:chOff x="0" y="0"/>
          <a:chExt cx="0" cy="0"/>
        </a:xfrm>
      </p:grpSpPr>
      <p:sp>
        <p:nvSpPr>
          <p:cNvPr id="2" name="Text 0"/>
          <p:cNvSpPr/>
          <p:nvPr/>
        </p:nvSpPr>
        <p:spPr>
          <a:xfrm>
            <a:off x="812797" y="812797"/>
            <a:ext cx="1708011" cy="314820"/>
          </a:xfrm>
          <a:prstGeom prst="roundRect">
            <a:avLst>
              <a:gd name="adj" fmla="val 50000"/>
            </a:avLst>
          </a:prstGeom>
          <a:solidFill>
            <a:srgbClr val="2D4889"/>
          </a:solidFill>
          <a:ln/>
        </p:spPr>
        <p:txBody>
          <a:bodyPr wrap="none" lIns="0" tIns="0" rIns="0" bIns="0" rtlCol="0" anchor="ctr">
            <a:normAutofit/>
          </a:bodyPr>
          <a:lstStyle/>
          <a:p>
            <a:pPr marL="0" indent="0" algn="ctr">
              <a:lnSpc>
                <a:spcPts val="1680"/>
              </a:lnSpc>
              <a:buNone/>
            </a:pPr>
            <a:r>
              <a:rPr lang="en-US" sz="1200" b="1" dirty="0">
                <a:solidFill>
                  <a:srgbClr val="F3F5F1"/>
                </a:solidFill>
                <a:latin typeface="Atkinson Hyperlegible" pitchFamily="34" charset="0"/>
                <a:ea typeface="Atkinson Hyperlegible" pitchFamily="34" charset="-122"/>
                <a:cs typeface="Atkinson Hyperlegible" pitchFamily="34" charset="-120"/>
              </a:rPr>
              <a:t>Osserva in Scrinium</a:t>
            </a:r>
            <a:endParaRPr lang="en-US" sz="1200" dirty="0"/>
          </a:p>
        </p:txBody>
      </p:sp>
      <p:sp>
        <p:nvSpPr>
          <p:cNvPr id="3" name="Text 1"/>
          <p:cNvSpPr>
            <a:spLocks noGrp="1"/>
          </p:cNvSpPr>
          <p:nvPr>
            <p:ph type="title"/>
          </p:nvPr>
        </p:nvSpPr>
        <p:spPr>
          <a:xfrm>
            <a:off x="812797" y="1381602"/>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Scrinium: il modello del corso</a:t>
            </a:r>
            <a:endParaRPr lang="en-US" sz="3200" dirty="0"/>
          </a:p>
        </p:txBody>
      </p:sp>
      <p:sp>
        <p:nvSpPr>
          <p:cNvPr id="4" name="Text 2"/>
          <p:cNvSpPr/>
          <p:nvPr/>
        </p:nvSpPr>
        <p:spPr>
          <a:xfrm>
            <a:off x="812797" y="2082651"/>
            <a:ext cx="2524597" cy="63498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A685A"/>
                </a:solidFill>
                <a:latin typeface="Spectral" pitchFamily="18" charset="0"/>
                <a:ea typeface="Spectral" pitchFamily="18" charset="-122"/>
                <a:cs typeface="Spectral" pitchFamily="18" charset="-120"/>
              </a:rPr>
              <a:t>22</a:t>
            </a:r>
            <a:endParaRPr lang="en-US" sz="4800" dirty="0"/>
          </a:p>
        </p:txBody>
      </p:sp>
      <p:sp>
        <p:nvSpPr>
          <p:cNvPr id="5" name="Text 3"/>
          <p:cNvSpPr/>
          <p:nvPr/>
        </p:nvSpPr>
        <p:spPr>
          <a:xfrm>
            <a:off x="812797" y="2742998"/>
            <a:ext cx="2524597"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oggetti del patrimonio</a:t>
            </a:r>
            <a:endParaRPr lang="en-US" sz="1600" dirty="0"/>
          </a:p>
        </p:txBody>
      </p:sp>
      <p:sp>
        <p:nvSpPr>
          <p:cNvPr id="6" name="Text 4"/>
          <p:cNvSpPr/>
          <p:nvPr/>
        </p:nvSpPr>
        <p:spPr>
          <a:xfrm>
            <a:off x="3517848" y="2082651"/>
            <a:ext cx="2524672" cy="63498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D4889"/>
                </a:solidFill>
                <a:latin typeface="Spectral" pitchFamily="18" charset="0"/>
                <a:ea typeface="Spectral" pitchFamily="18" charset="-122"/>
                <a:cs typeface="Spectral" pitchFamily="18" charset="-120"/>
              </a:rPr>
              <a:t>10</a:t>
            </a:r>
            <a:endParaRPr lang="en-US" sz="4800" dirty="0"/>
          </a:p>
        </p:txBody>
      </p:sp>
      <p:sp>
        <p:nvSpPr>
          <p:cNvPr id="7" name="Text 5"/>
          <p:cNvSpPr/>
          <p:nvPr/>
        </p:nvSpPr>
        <p:spPr>
          <a:xfrm>
            <a:off x="3517848" y="2742998"/>
            <a:ext cx="2524672"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testi letterari integrali</a:t>
            </a:r>
            <a:endParaRPr lang="en-US" sz="1600" dirty="0"/>
          </a:p>
        </p:txBody>
      </p:sp>
      <p:sp>
        <p:nvSpPr>
          <p:cNvPr id="8" name="Text 6"/>
          <p:cNvSpPr/>
          <p:nvPr/>
        </p:nvSpPr>
        <p:spPr>
          <a:xfrm>
            <a:off x="6222971" y="2082651"/>
            <a:ext cx="2524597" cy="63498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7A560E"/>
                </a:solidFill>
                <a:latin typeface="Spectral" pitchFamily="18" charset="0"/>
                <a:ea typeface="Spectral" pitchFamily="18" charset="-122"/>
                <a:cs typeface="Spectral" pitchFamily="18" charset="-120"/>
              </a:rPr>
              <a:t>12</a:t>
            </a:r>
            <a:endParaRPr lang="en-US" sz="4800" dirty="0"/>
          </a:p>
        </p:txBody>
      </p:sp>
      <p:sp>
        <p:nvSpPr>
          <p:cNvPr id="9" name="Text 7"/>
          <p:cNvSpPr/>
          <p:nvPr/>
        </p:nvSpPr>
        <p:spPr>
          <a:xfrm>
            <a:off x="6222971" y="2742998"/>
            <a:ext cx="2524597" cy="59435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collegamenti tra testi e oggetti</a:t>
            </a:r>
            <a:endParaRPr lang="en-US" sz="1600" dirty="0"/>
          </a:p>
        </p:txBody>
      </p:sp>
      <p:sp>
        <p:nvSpPr>
          <p:cNvPr id="10" name="Text 8"/>
          <p:cNvSpPr/>
          <p:nvPr/>
        </p:nvSpPr>
        <p:spPr>
          <a:xfrm>
            <a:off x="8928022" y="2082651"/>
            <a:ext cx="2524672" cy="63498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D2420"/>
                </a:solidFill>
                <a:latin typeface="Spectral" pitchFamily="18" charset="0"/>
                <a:ea typeface="Spectral" pitchFamily="18" charset="-122"/>
                <a:cs typeface="Spectral" pitchFamily="18" charset="-120"/>
              </a:rPr>
              <a:t>6</a:t>
            </a:r>
            <a:endParaRPr lang="en-US" sz="4800" dirty="0"/>
          </a:p>
        </p:txBody>
      </p:sp>
      <p:sp>
        <p:nvSpPr>
          <p:cNvPr id="11" name="Text 9"/>
          <p:cNvSpPr/>
          <p:nvPr/>
        </p:nvSpPr>
        <p:spPr>
          <a:xfrm>
            <a:off x="8928022" y="2742998"/>
            <a:ext cx="2524672"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pagine, un solo file</a:t>
            </a:r>
            <a:endParaRPr lang="en-US" sz="1600" dirty="0"/>
          </a:p>
        </p:txBody>
      </p:sp>
      <p:sp>
        <p:nvSpPr>
          <p:cNvPr id="12" name="Text 10"/>
          <p:cNvSpPr/>
          <p:nvPr/>
        </p:nvSpPr>
        <p:spPr>
          <a:xfrm>
            <a:off x="812797" y="3565934"/>
            <a:ext cx="9810750"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Catalogo, ricerca, filtri, cronologia, mappa, concordanze, esportazione RDF. </a:t>
            </a:r>
            <a:r>
              <a:rPr lang="en-US" sz="1600" u="sng" dirty="0">
                <a:solidFill>
                  <a:srgbClr val="56605B"/>
                </a:solidFill>
                <a:latin typeface="Atkinson Hyperlegible" pitchFamily="34" charset="0"/>
                <a:ea typeface="Atkinson Hyperlegible" pitchFamily="34" charset="-122"/>
                <a:cs typeface="Atkinson Hyperlegible" pitchFamily="34" charset="-120"/>
                <a:hlinkClick r:id="rId3">
                  <a:extLst>
                    <a:ext uri="{A12FA001-AC4F-418D-AE19-62706E023703}">
                      <ahyp:hlinkClr xmlns:ahyp="http://schemas.microsoft.com/office/drawing/2018/hyperlinkcolor" val="tx"/>
                    </a:ext>
                  </a:extLst>
                </a:hlinkClick>
              </a:rPr>
              <a:t>Apri Scrinium</a:t>
            </a:r>
            <a:r>
              <a:rPr lang="en-US" sz="1600" dirty="0">
                <a:solidFill>
                  <a:srgbClr val="56605B"/>
                </a:solidFill>
                <a:latin typeface="Atkinson Hyperlegible" pitchFamily="34" charset="0"/>
                <a:ea typeface="Atkinson Hyperlegible" pitchFamily="34" charset="-122"/>
                <a:cs typeface="Atkinson Hyperlegible" pitchFamily="34" charset="-120"/>
              </a:rPr>
              <a:t>.</a:t>
            </a:r>
            <a:endParaRPr lang="en-US" sz="1600" dirty="0"/>
          </a:p>
        </p:txBody>
      </p:sp>
      <p:sp>
        <p:nvSpPr>
          <p:cNvPr id="13" name="Text 11"/>
          <p:cNvSpPr/>
          <p:nvPr/>
        </p:nvSpPr>
        <p:spPr>
          <a:xfrm>
            <a:off x="812797" y="6238320"/>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I materiali</a:t>
            </a:r>
            <a:endParaRPr lang="en-US" sz="3200" dirty="0"/>
          </a:p>
        </p:txBody>
      </p:sp>
      <p:sp>
        <p:nvSpPr>
          <p:cNvPr id="3" name="Shape 1"/>
          <p:cNvSpPr/>
          <p:nvPr/>
        </p:nvSpPr>
        <p:spPr>
          <a:xfrm>
            <a:off x="812797" y="1569246"/>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1"/>
            <a:ext cx="0" cy="2642116"/>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087059001"/>
              </p:ext>
            </p:extLst>
          </p:nvPr>
        </p:nvGraphicFramePr>
        <p:xfrm>
          <a:off x="936367" y="1662782"/>
          <a:ext cx="10328492" cy="2455122"/>
        </p:xfrm>
        <a:graphic>
          <a:graphicData uri="http://schemas.openxmlformats.org/drawingml/2006/table">
            <a:tbl>
              <a:tblPr/>
              <a:tblGrid>
                <a:gridCol w="3511687">
                  <a:extLst>
                    <a:ext uri="{9D8B030D-6E8A-4147-A177-3AD203B41FA5}">
                      <a16:colId xmlns:a16="http://schemas.microsoft.com/office/drawing/2014/main" val="20000"/>
                    </a:ext>
                  </a:extLst>
                </a:gridCol>
                <a:gridCol w="6816805">
                  <a:extLst>
                    <a:ext uri="{9D8B030D-6E8A-4147-A177-3AD203B41FA5}">
                      <a16:colId xmlns:a16="http://schemas.microsoft.com/office/drawing/2014/main" val="20001"/>
                    </a:ext>
                  </a:extLst>
                </a:gridCol>
              </a:tblGrid>
              <a:tr h="409187">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Materiale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A che cosa serve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Informatica </a:t>
                      </a:r>
                      <a:r>
                        <a:rPr lang="en-US" sz="1500" dirty="0" err="1">
                          <a:solidFill>
                            <a:srgbClr val="1D2420"/>
                          </a:solidFill>
                          <a:latin typeface="Atkinson Hyperlegible" pitchFamily="34" charset="0"/>
                          <a:ea typeface="Atkinson Hyperlegible" pitchFamily="34" charset="-122"/>
                          <a:cs typeface="Atkinson Hyperlegible" pitchFamily="34" charset="-120"/>
                        </a:rPr>
                        <a:t>umanistica</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Il modello completo, da osservare in tutto il corso</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Il kit di Scrinium</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Una versione ridotta, in cinque file: per gli esercizi e per il progetto finale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Scrinium completo</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Il file del sito intero, per chi sceglie il percorso avanzato</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La mappa «Dai dati al codice»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Mostra quali dati usa ogni parte del codice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Documentazione e slide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La storia del progetto e le slide di ogni lezione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Due percorsi per il </a:t>
            </a:r>
            <a:r>
              <a:rPr lang="en-US" b="1" dirty="0" err="1">
                <a:latin typeface="Spectral" pitchFamily="18" charset="0"/>
                <a:ea typeface="Spectral" pitchFamily="18" charset="-122"/>
                <a:cs typeface="Spectral" pitchFamily="18" charset="-120"/>
              </a:rPr>
              <a:t>p</a:t>
            </a:r>
            <a:r>
              <a:rPr lang="en-US" sz="3200" b="1" i="0" dirty="0" err="1">
                <a:solidFill>
                  <a:srgbClr val="1D2420"/>
                </a:solidFill>
                <a:latin typeface="Spectral" pitchFamily="18" charset="0"/>
                <a:ea typeface="Spectral" pitchFamily="18" charset="-122"/>
                <a:cs typeface="Spectral" pitchFamily="18" charset="-120"/>
              </a:rPr>
              <a:t>rogetto</a:t>
            </a:r>
            <a:r>
              <a:rPr lang="en-US" sz="3200" b="1" i="0" dirty="0">
                <a:solidFill>
                  <a:srgbClr val="1D2420"/>
                </a:solidFill>
                <a:latin typeface="Spectral" pitchFamily="18" charset="0"/>
                <a:ea typeface="Spectral" pitchFamily="18" charset="-122"/>
                <a:cs typeface="Spectral" pitchFamily="18" charset="-120"/>
              </a:rPr>
              <a:t> finale</a:t>
            </a:r>
            <a:endParaRPr lang="en-US" sz="3200" dirty="0"/>
          </a:p>
        </p:txBody>
      </p:sp>
      <p:sp>
        <p:nvSpPr>
          <p:cNvPr id="3" name="Shape 1"/>
          <p:cNvSpPr/>
          <p:nvPr/>
        </p:nvSpPr>
        <p:spPr>
          <a:xfrm>
            <a:off x="815972" y="1567786"/>
            <a:ext cx="5149838" cy="1615623"/>
          </a:xfrm>
          <a:prstGeom prst="roundRect">
            <a:avLst>
              <a:gd name="adj" fmla="val 4520"/>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3"/>
            <a:ext cx="4830481"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Per tutti</a:t>
            </a:r>
            <a:endParaRPr lang="en-US" sz="1200" dirty="0"/>
          </a:p>
        </p:txBody>
      </p:sp>
      <p:sp>
        <p:nvSpPr>
          <p:cNvPr id="5" name="Text 3"/>
          <p:cNvSpPr/>
          <p:nvPr/>
        </p:nvSpPr>
        <p:spPr>
          <a:xfrm>
            <a:off x="1045997" y="2087290"/>
            <a:ext cx="4830481"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Percorso base</a:t>
            </a:r>
            <a:endParaRPr lang="en-US" sz="2000" dirty="0"/>
          </a:p>
        </p:txBody>
      </p:sp>
      <p:sp>
        <p:nvSpPr>
          <p:cNvPr id="6" name="Text 4"/>
          <p:cNvSpPr/>
          <p:nvPr/>
        </p:nvSpPr>
        <p:spPr>
          <a:xfrm>
            <a:off x="1045997" y="2455552"/>
            <a:ext cx="4830481"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Parti dal kit e lo adatti alla tua collezione: dati, stile, presentazione, collegamenti.</a:t>
            </a:r>
            <a:endParaRPr lang="en-US" sz="1400" dirty="0"/>
          </a:p>
        </p:txBody>
      </p:sp>
      <p:sp>
        <p:nvSpPr>
          <p:cNvPr id="7" name="Shape 5"/>
          <p:cNvSpPr/>
          <p:nvPr/>
        </p:nvSpPr>
        <p:spPr>
          <a:xfrm>
            <a:off x="6226146" y="1567786"/>
            <a:ext cx="5149838" cy="1615623"/>
          </a:xfrm>
          <a:prstGeom prst="roundRect">
            <a:avLst>
              <a:gd name="adj" fmla="val 4520"/>
            </a:avLst>
          </a:prstGeom>
          <a:solidFill>
            <a:srgbClr val="F8F9F6"/>
          </a:solidFill>
          <a:ln w="6350">
            <a:solidFill>
              <a:srgbClr val="C6CDC6"/>
            </a:solidFill>
            <a:prstDash val="solid"/>
          </a:ln>
        </p:spPr>
        <p:txBody>
          <a:bodyPr/>
          <a:lstStyle/>
          <a:p>
            <a:endParaRPr lang="it-IT"/>
          </a:p>
        </p:txBody>
      </p:sp>
      <p:sp>
        <p:nvSpPr>
          <p:cNvPr id="8" name="Text 6"/>
          <p:cNvSpPr/>
          <p:nvPr/>
        </p:nvSpPr>
        <p:spPr>
          <a:xfrm>
            <a:off x="6456171" y="1797813"/>
            <a:ext cx="4830481"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4889"/>
                </a:solidFill>
                <a:latin typeface="Atkinson Hyperlegible" pitchFamily="34" charset="0"/>
                <a:ea typeface="Atkinson Hyperlegible" pitchFamily="34" charset="-122"/>
                <a:cs typeface="Atkinson Hyperlegible" pitchFamily="34" charset="-120"/>
              </a:rPr>
              <a:t>Per chi se la sente</a:t>
            </a:r>
            <a:endParaRPr lang="en-US" sz="1200" dirty="0"/>
          </a:p>
        </p:txBody>
      </p:sp>
      <p:sp>
        <p:nvSpPr>
          <p:cNvPr id="9" name="Text 7"/>
          <p:cNvSpPr/>
          <p:nvPr/>
        </p:nvSpPr>
        <p:spPr>
          <a:xfrm>
            <a:off x="6456171" y="2087290"/>
            <a:ext cx="4830481"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Percorso avanzato</a:t>
            </a:r>
            <a:endParaRPr lang="en-US" sz="2000" dirty="0"/>
          </a:p>
        </p:txBody>
      </p:sp>
      <p:sp>
        <p:nvSpPr>
          <p:cNvPr id="10" name="Text 8"/>
          <p:cNvSpPr/>
          <p:nvPr/>
        </p:nvSpPr>
        <p:spPr>
          <a:xfrm>
            <a:off x="6456171" y="2455552"/>
            <a:ext cx="4830481"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Parti da Scrinium completo: mappa, concordanze, RDF in CIDOC-CRM. Requisiti un po’ più ampi.</a:t>
            </a:r>
            <a:endParaRPr lang="en-US" sz="1400" dirty="0"/>
          </a:p>
        </p:txBody>
      </p:sp>
      <p:sp>
        <p:nvSpPr>
          <p:cNvPr id="11" name="Text 9"/>
          <p:cNvSpPr/>
          <p:nvPr/>
        </p:nvSpPr>
        <p:spPr>
          <a:xfrm>
            <a:off x="812797" y="3491340"/>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La griglia di valutazione è la stessa.</a:t>
            </a:r>
            <a:endParaRPr lang="en-US" sz="1600" dirty="0"/>
          </a:p>
        </p:txBody>
      </p:sp>
      <p:sp>
        <p:nvSpPr>
          <p:cNvPr id="12" name="Text 10"/>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800"/>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L’esame: cosa fare a casa e cosa portare all’orale</a:t>
            </a:r>
            <a:endParaRPr lang="en-US" sz="3200" dirty="0"/>
          </a:p>
        </p:txBody>
      </p:sp>
      <p:sp>
        <p:nvSpPr>
          <p:cNvPr id="3" name="Shape 1"/>
          <p:cNvSpPr/>
          <p:nvPr/>
        </p:nvSpPr>
        <p:spPr>
          <a:xfrm>
            <a:off x="815972" y="1567793"/>
            <a:ext cx="2216222" cy="2113455"/>
          </a:xfrm>
          <a:prstGeom prst="roundRect">
            <a:avLst>
              <a:gd name="adj" fmla="val 3455"/>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9"/>
            <a:ext cx="1808857"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1</a:t>
            </a:r>
            <a:endParaRPr lang="en-US" sz="1200" dirty="0"/>
          </a:p>
        </p:txBody>
      </p:sp>
      <p:sp>
        <p:nvSpPr>
          <p:cNvPr id="5" name="Text 3"/>
          <p:cNvSpPr/>
          <p:nvPr/>
        </p:nvSpPr>
        <p:spPr>
          <a:xfrm>
            <a:off x="1045997" y="2087290"/>
            <a:ext cx="1808857"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Collezione</a:t>
            </a:r>
            <a:endParaRPr lang="en-US" sz="2000" dirty="0"/>
          </a:p>
        </p:txBody>
      </p:sp>
      <p:sp>
        <p:nvSpPr>
          <p:cNvPr id="6" name="Text 4"/>
          <p:cNvSpPr/>
          <p:nvPr/>
        </p:nvSpPr>
        <p:spPr>
          <a:xfrm>
            <a:off x="1045997" y="2455559"/>
            <a:ext cx="1808857"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Individua la tua raccolta di oggetti e testi collegati </a:t>
            </a:r>
            <a:endParaRPr lang="en-US" sz="1400" dirty="0"/>
          </a:p>
        </p:txBody>
      </p:sp>
      <p:pic>
        <p:nvPicPr>
          <p:cNvPr id="7" name="Image 0" descr="arrow-right"/>
          <p:cNvPicPr>
            <a:picLocks noChangeAspect="1"/>
          </p:cNvPicPr>
          <p:nvPr/>
        </p:nvPicPr>
        <p:blipFill>
          <a:blip r:embed="rId3"/>
          <a:srcRect/>
          <a:stretch/>
        </p:blipFill>
        <p:spPr>
          <a:xfrm>
            <a:off x="3136906" y="2535585"/>
            <a:ext cx="355594" cy="177797"/>
          </a:xfrm>
          <a:prstGeom prst="rect">
            <a:avLst/>
          </a:prstGeom>
        </p:spPr>
      </p:pic>
      <p:sp>
        <p:nvSpPr>
          <p:cNvPr id="8" name="Shape 5"/>
          <p:cNvSpPr/>
          <p:nvPr/>
        </p:nvSpPr>
        <p:spPr>
          <a:xfrm>
            <a:off x="3597211" y="1567793"/>
            <a:ext cx="2216295" cy="2113455"/>
          </a:xfrm>
          <a:prstGeom prst="roundRect">
            <a:avLst>
              <a:gd name="adj" fmla="val 3455"/>
            </a:avLst>
          </a:prstGeom>
          <a:solidFill>
            <a:srgbClr val="F8F9F6"/>
          </a:solidFill>
          <a:ln w="6350">
            <a:solidFill>
              <a:srgbClr val="C6CDC6"/>
            </a:solidFill>
            <a:prstDash val="solid"/>
          </a:ln>
        </p:spPr>
        <p:txBody>
          <a:bodyPr/>
          <a:lstStyle/>
          <a:p>
            <a:endParaRPr lang="it-IT"/>
          </a:p>
        </p:txBody>
      </p:sp>
      <p:sp>
        <p:nvSpPr>
          <p:cNvPr id="9" name="Text 6"/>
          <p:cNvSpPr/>
          <p:nvPr/>
        </p:nvSpPr>
        <p:spPr>
          <a:xfrm>
            <a:off x="3827237" y="1797819"/>
            <a:ext cx="1808932"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2</a:t>
            </a:r>
            <a:endParaRPr lang="en-US" sz="1200" dirty="0"/>
          </a:p>
        </p:txBody>
      </p:sp>
      <p:sp>
        <p:nvSpPr>
          <p:cNvPr id="10" name="Text 7"/>
          <p:cNvSpPr/>
          <p:nvPr/>
        </p:nvSpPr>
        <p:spPr>
          <a:xfrm>
            <a:off x="3827237" y="2087290"/>
            <a:ext cx="1808932"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Sviluppo</a:t>
            </a:r>
            <a:endParaRPr lang="en-US" sz="2000" dirty="0"/>
          </a:p>
        </p:txBody>
      </p:sp>
      <p:sp>
        <p:nvSpPr>
          <p:cNvPr id="11" name="Text 8"/>
          <p:cNvSpPr/>
          <p:nvPr/>
        </p:nvSpPr>
        <p:spPr>
          <a:xfrm>
            <a:off x="3827237" y="2455559"/>
            <a:ext cx="1808932"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Crei modello dati e descrizioni, sito, collegamenti.</a:t>
            </a:r>
            <a:endParaRPr lang="en-US" sz="1400" dirty="0"/>
          </a:p>
        </p:txBody>
      </p:sp>
      <p:pic>
        <p:nvPicPr>
          <p:cNvPr id="12" name="Image 1" descr="arrow-right"/>
          <p:cNvPicPr>
            <a:picLocks noChangeAspect="1"/>
          </p:cNvPicPr>
          <p:nvPr/>
        </p:nvPicPr>
        <p:blipFill>
          <a:blip r:embed="rId3"/>
          <a:srcRect/>
          <a:stretch/>
        </p:blipFill>
        <p:spPr>
          <a:xfrm>
            <a:off x="5918217" y="2535585"/>
            <a:ext cx="355594" cy="177797"/>
          </a:xfrm>
          <a:prstGeom prst="rect">
            <a:avLst/>
          </a:prstGeom>
        </p:spPr>
      </p:pic>
      <p:sp>
        <p:nvSpPr>
          <p:cNvPr id="13" name="Shape 9"/>
          <p:cNvSpPr/>
          <p:nvPr/>
        </p:nvSpPr>
        <p:spPr>
          <a:xfrm>
            <a:off x="6378523" y="1567793"/>
            <a:ext cx="2216222" cy="2113455"/>
          </a:xfrm>
          <a:prstGeom prst="roundRect">
            <a:avLst>
              <a:gd name="adj" fmla="val 3455"/>
            </a:avLst>
          </a:prstGeom>
          <a:solidFill>
            <a:srgbClr val="F8F9F6"/>
          </a:solidFill>
          <a:ln w="6350">
            <a:solidFill>
              <a:srgbClr val="C6CDC6"/>
            </a:solidFill>
            <a:prstDash val="solid"/>
          </a:ln>
        </p:spPr>
        <p:txBody>
          <a:bodyPr/>
          <a:lstStyle/>
          <a:p>
            <a:endParaRPr lang="it-IT"/>
          </a:p>
        </p:txBody>
      </p:sp>
      <p:sp>
        <p:nvSpPr>
          <p:cNvPr id="14" name="Text 10"/>
          <p:cNvSpPr/>
          <p:nvPr/>
        </p:nvSpPr>
        <p:spPr>
          <a:xfrm>
            <a:off x="6608548" y="1797819"/>
            <a:ext cx="1808857"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3</a:t>
            </a:r>
            <a:endParaRPr lang="en-US" sz="1200" dirty="0"/>
          </a:p>
        </p:txBody>
      </p:sp>
      <p:sp>
        <p:nvSpPr>
          <p:cNvPr id="15" name="Text 11"/>
          <p:cNvSpPr/>
          <p:nvPr/>
        </p:nvSpPr>
        <p:spPr>
          <a:xfrm>
            <a:off x="6608548" y="2087290"/>
            <a:ext cx="1808857"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Pacchetto</a:t>
            </a:r>
            <a:endParaRPr lang="en-US" sz="2000" dirty="0"/>
          </a:p>
        </p:txBody>
      </p:sp>
      <p:sp>
        <p:nvSpPr>
          <p:cNvPr id="16" name="Text 12"/>
          <p:cNvSpPr/>
          <p:nvPr/>
        </p:nvSpPr>
        <p:spPr>
          <a:xfrm>
            <a:off x="6608548" y="2455559"/>
            <a:ext cx="1808857" cy="102106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Esercizi, applicazione, diario, README, scheda del dataset nel tuo repository.</a:t>
            </a:r>
            <a:endParaRPr lang="en-US" sz="1400" dirty="0"/>
          </a:p>
        </p:txBody>
      </p:sp>
      <p:pic>
        <p:nvPicPr>
          <p:cNvPr id="17" name="Image 2" descr="arrow-right"/>
          <p:cNvPicPr>
            <a:picLocks noChangeAspect="1"/>
          </p:cNvPicPr>
          <p:nvPr/>
        </p:nvPicPr>
        <p:blipFill>
          <a:blip r:embed="rId3"/>
          <a:srcRect/>
          <a:stretch/>
        </p:blipFill>
        <p:spPr>
          <a:xfrm>
            <a:off x="8699457" y="2535585"/>
            <a:ext cx="355594" cy="177797"/>
          </a:xfrm>
          <a:prstGeom prst="rect">
            <a:avLst/>
          </a:prstGeom>
        </p:spPr>
      </p:pic>
      <p:sp>
        <p:nvSpPr>
          <p:cNvPr id="18" name="Shape 13"/>
          <p:cNvSpPr/>
          <p:nvPr/>
        </p:nvSpPr>
        <p:spPr>
          <a:xfrm>
            <a:off x="9159762" y="1567793"/>
            <a:ext cx="2216222" cy="2113455"/>
          </a:xfrm>
          <a:prstGeom prst="roundRect">
            <a:avLst>
              <a:gd name="adj" fmla="val 3455"/>
            </a:avLst>
          </a:prstGeom>
          <a:solidFill>
            <a:srgbClr val="F8F9F6"/>
          </a:solidFill>
          <a:ln w="6350">
            <a:solidFill>
              <a:srgbClr val="C6CDC6"/>
            </a:solidFill>
            <a:prstDash val="solid"/>
          </a:ln>
        </p:spPr>
        <p:txBody>
          <a:bodyPr/>
          <a:lstStyle/>
          <a:p>
            <a:endParaRPr lang="it-IT"/>
          </a:p>
        </p:txBody>
      </p:sp>
      <p:sp>
        <p:nvSpPr>
          <p:cNvPr id="19" name="Text 14"/>
          <p:cNvSpPr/>
          <p:nvPr/>
        </p:nvSpPr>
        <p:spPr>
          <a:xfrm>
            <a:off x="9389787" y="1797819"/>
            <a:ext cx="1808857"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4</a:t>
            </a:r>
            <a:endParaRPr lang="en-US" sz="1200" dirty="0"/>
          </a:p>
        </p:txBody>
      </p:sp>
      <p:sp>
        <p:nvSpPr>
          <p:cNvPr id="20" name="Text 15"/>
          <p:cNvSpPr/>
          <p:nvPr/>
        </p:nvSpPr>
        <p:spPr>
          <a:xfrm>
            <a:off x="9389787" y="2087290"/>
            <a:ext cx="1808857"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Orale</a:t>
            </a:r>
            <a:endParaRPr lang="en-US" sz="2000" dirty="0"/>
          </a:p>
        </p:txBody>
      </p:sp>
      <p:sp>
        <p:nvSpPr>
          <p:cNvPr id="21" name="Text 16"/>
          <p:cNvSpPr/>
          <p:nvPr/>
        </p:nvSpPr>
        <p:spPr>
          <a:xfrm>
            <a:off x="9389787" y="2455559"/>
            <a:ext cx="1808857" cy="52323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Mostri tutto e spieghi le scelte.</a:t>
            </a:r>
            <a:endParaRPr lang="en-US" sz="1400" dirty="0"/>
          </a:p>
        </p:txBody>
      </p:sp>
      <p:sp>
        <p:nvSpPr>
          <p:cNvPr id="22" name="Text 17"/>
          <p:cNvSpPr/>
          <p:nvPr/>
        </p:nvSpPr>
        <p:spPr>
          <a:xfrm>
            <a:off x="812797" y="3989177"/>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6605B"/>
                </a:solidFill>
                <a:latin typeface="Atkinson Hyperlegible" pitchFamily="34" charset="0"/>
                <a:ea typeface="Atkinson Hyperlegible" pitchFamily="34" charset="-122"/>
                <a:cs typeface="Atkinson Hyperlegible" pitchFamily="34" charset="-120"/>
              </a:rPr>
              <a:t>Non si manda nulla prima.</a:t>
            </a:r>
            <a:r>
              <a:rPr lang="en-US" sz="1600" dirty="0">
                <a:solidFill>
                  <a:srgbClr val="56605B"/>
                </a:solidFill>
                <a:latin typeface="Atkinson Hyperlegible" pitchFamily="34" charset="0"/>
                <a:ea typeface="Atkinson Hyperlegible" pitchFamily="34" charset="-122"/>
                <a:cs typeface="Atkinson Hyperlegible" pitchFamily="34" charset="-120"/>
              </a:rPr>
              <a:t> Gli appelli sono circa uno al mese: scegli tu quando presentarti.</a:t>
            </a:r>
            <a:endParaRPr lang="en-US" sz="1600" dirty="0"/>
          </a:p>
        </p:txBody>
      </p:sp>
      <p:sp>
        <p:nvSpPr>
          <p:cNvPr id="23" name="Text 18"/>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794"/>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Come si valuta</a:t>
            </a:r>
            <a:endParaRPr lang="en-US" sz="3200" dirty="0"/>
          </a:p>
        </p:txBody>
      </p:sp>
      <p:sp>
        <p:nvSpPr>
          <p:cNvPr id="3" name="Shape 1"/>
          <p:cNvSpPr/>
          <p:nvPr/>
        </p:nvSpPr>
        <p:spPr>
          <a:xfrm>
            <a:off x="812797" y="1569246"/>
            <a:ext cx="10566362" cy="0"/>
          </a:xfrm>
          <a:prstGeom prst="line">
            <a:avLst/>
          </a:prstGeom>
          <a:noFill/>
          <a:ln w="9270">
            <a:solidFill>
              <a:srgbClr val="141413">
                <a:alpha val="22000"/>
              </a:srgbClr>
            </a:solidFill>
            <a:prstDash val="solid"/>
          </a:ln>
        </p:spPr>
        <p:txBody>
          <a:bodyPr/>
          <a:lstStyle/>
          <a:p>
            <a:endParaRPr lang="it-IT"/>
          </a:p>
        </p:txBody>
      </p:sp>
      <p:sp>
        <p:nvSpPr>
          <p:cNvPr id="4" name="Shape 2"/>
          <p:cNvSpPr/>
          <p:nvPr/>
        </p:nvSpPr>
        <p:spPr>
          <a:xfrm>
            <a:off x="817432" y="1564611"/>
            <a:ext cx="0" cy="2642116"/>
          </a:xfrm>
          <a:prstGeom prst="line">
            <a:avLst/>
          </a:prstGeom>
          <a:noFill/>
          <a:ln w="9270">
            <a:solidFill>
              <a:srgbClr val="141413">
                <a:alpha val="22000"/>
              </a:srgbClr>
            </a:solidFill>
            <a:prstDash val="solid"/>
          </a:ln>
        </p:spPr>
        <p:txBody>
          <a:bodyPr/>
          <a:lstStyle/>
          <a:p>
            <a:endParaRPr lang="it-IT"/>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6367" y="1662782"/>
          <a:ext cx="10328492" cy="2455122"/>
        </p:xfrm>
        <a:graphic>
          <a:graphicData uri="http://schemas.openxmlformats.org/drawingml/2006/table">
            <a:tbl>
              <a:tblPr/>
              <a:tblGrid>
                <a:gridCol w="3098548">
                  <a:extLst>
                    <a:ext uri="{9D8B030D-6E8A-4147-A177-3AD203B41FA5}">
                      <a16:colId xmlns:a16="http://schemas.microsoft.com/office/drawing/2014/main" val="20000"/>
                    </a:ext>
                  </a:extLst>
                </a:gridCol>
                <a:gridCol w="1239419">
                  <a:extLst>
                    <a:ext uri="{9D8B030D-6E8A-4147-A177-3AD203B41FA5}">
                      <a16:colId xmlns:a16="http://schemas.microsoft.com/office/drawing/2014/main" val="20001"/>
                    </a:ext>
                  </a:extLst>
                </a:gridCol>
                <a:gridCol w="5990525">
                  <a:extLst>
                    <a:ext uri="{9D8B030D-6E8A-4147-A177-3AD203B41FA5}">
                      <a16:colId xmlns:a16="http://schemas.microsoft.com/office/drawing/2014/main" val="20002"/>
                    </a:ext>
                  </a:extLst>
                </a:gridCol>
              </a:tblGrid>
              <a:tr h="409187">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Componente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Peso</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tc>
                  <a:txBody>
                    <a:bodyPr/>
                    <a:lstStyle/>
                    <a:p>
                      <a:pPr marL="0" indent="0">
                        <a:lnSpc>
                          <a:spcPts val="2100"/>
                        </a:lnSpc>
                        <a:buNone/>
                      </a:pPr>
                      <a:r>
                        <a:rPr lang="en-US" sz="1500" b="1" dirty="0">
                          <a:solidFill>
                            <a:srgbClr val="1D2420"/>
                          </a:solidFill>
                          <a:latin typeface="Atkinson Hyperlegible" pitchFamily="34" charset="0"/>
                          <a:ea typeface="Atkinson Hyperlegible" pitchFamily="34" charset="-122"/>
                          <a:cs typeface="Atkinson Hyperlegible" pitchFamily="34" charset="-120"/>
                        </a:rPr>
                        <a:t>Che cosa conta</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1B5B0"/>
                      </a:solidFill>
                      <a:prstDash val="solid"/>
                      <a:round/>
                      <a:headEnd type="none" w="med" len="med"/>
                      <a:tailEnd type="none" w="med" len="med"/>
                    </a:lnL>
                    <a:lnR w="12700" cap="flat" cmpd="sng" algn="ctr">
                      <a:solidFill>
                        <a:srgbClr val="B1B5B0"/>
                      </a:solidFill>
                      <a:prstDash val="solid"/>
                      <a:round/>
                      <a:headEnd type="none" w="med" len="med"/>
                      <a:tailEnd type="none" w="med" len="med"/>
                    </a:lnR>
                    <a:lnT w="0" cap="flat" cmpd="sng" algn="ctr">
                      <a:noFill/>
                    </a:lnT>
                    <a:lnB w="12700" cap="flat" cmpd="sng" algn="ctr">
                      <a:solidFill>
                        <a:srgbClr val="B1B5B0"/>
                      </a:solidFill>
                      <a:prstDash val="solid"/>
                      <a:round/>
                      <a:headEnd type="none" w="med" len="med"/>
                      <a:tailEnd type="none" w="med" len="med"/>
                    </a:lnB>
                    <a:solidFill>
                      <a:srgbClr val="DDE2DC"/>
                    </a:solidFill>
                  </a:tcPr>
                </a:tc>
                <a:extLst>
                  <a:ext uri="{0D108BD9-81ED-4DB2-BD59-A6C34878D82A}">
                    <a16:rowId xmlns:a16="http://schemas.microsoft.com/office/drawing/2014/main" val="10000"/>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Modello dei dati</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20%</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Campi coerenti, vocabolari, collegamenti</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1B5B0"/>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1"/>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Catalogo</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15%</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Funziona, è online, è accessibile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2"/>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Documentazione</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25%</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Scelte motivate, limiti dichiarati, uso dell’IA</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3"/>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Esercizi</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15%</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I quattro esercizi del corso</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4"/>
                  </a:ext>
                </a:extLst>
              </a:tr>
              <a:tr h="409187">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Presentazione e colloquio</a:t>
                      </a:r>
                      <a:endParaRPr lang="en-US" sz="1500" dirty="0">
                        <a:latin typeface="Atkinson Hyperlegible" charset="0"/>
                        <a:ea typeface="Atkinson Hyperlegible" charset="0"/>
                        <a:cs typeface="Atkinson Hyperlegible"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25%</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tc>
                  <a:txBody>
                    <a:bodyPr/>
                    <a:lstStyle/>
                    <a:p>
                      <a:pPr marL="0" indent="0">
                        <a:lnSpc>
                          <a:spcPts val="2100"/>
                        </a:lnSpc>
                        <a:buNone/>
                      </a:pPr>
                      <a:r>
                        <a:rPr lang="en-US" sz="1500" dirty="0">
                          <a:solidFill>
                            <a:srgbClr val="1D2420"/>
                          </a:solidFill>
                          <a:latin typeface="Atkinson Hyperlegible" pitchFamily="34" charset="0"/>
                          <a:ea typeface="Atkinson Hyperlegible" pitchFamily="34" charset="-122"/>
                          <a:cs typeface="Atkinson Hyperlegible" pitchFamily="34" charset="-120"/>
                        </a:rPr>
                        <a:t>Saper spiegare le scelte e una parte del codice</a:t>
                      </a:r>
                      <a:endParaRPr lang="en-US" sz="1500" dirty="0">
                        <a:latin typeface="Atkinson Hyperlegible" charset="0"/>
                        <a:ea typeface="Atkinson Hyperlegible" charset="0"/>
                        <a:cs typeface="Atkinson Hyperlegible"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BCBE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797" y="4511483"/>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All’orale circa 15 minuti di presentazione, poi le domande.</a:t>
            </a:r>
            <a:endParaRPr lang="en-US" sz="1600" dirty="0"/>
          </a:p>
        </p:txBody>
      </p:sp>
      <p:sp>
        <p:nvSpPr>
          <p:cNvPr id="7" name="Text 4"/>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D2420"/>
        </a:solidFill>
        <a:effectLst/>
      </p:bgPr>
    </p:bg>
    <p:spTree>
      <p:nvGrpSpPr>
        <p:cNvPr id="1" name=""/>
        <p:cNvGrpSpPr/>
        <p:nvPr/>
      </p:nvGrpSpPr>
      <p:grpSpPr>
        <a:xfrm>
          <a:off x="0" y="0"/>
          <a:ext cx="0" cy="0"/>
          <a:chOff x="0" y="0"/>
          <a:chExt cx="0" cy="0"/>
        </a:xfrm>
      </p:grpSpPr>
      <p:sp>
        <p:nvSpPr>
          <p:cNvPr id="2" name="Text 0"/>
          <p:cNvSpPr/>
          <p:nvPr/>
        </p:nvSpPr>
        <p:spPr>
          <a:xfrm>
            <a:off x="812797" y="2326642"/>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Sull’intelligenza artificiale</a:t>
            </a:r>
            <a:endParaRPr lang="en-US" sz="1600" dirty="0"/>
          </a:p>
        </p:txBody>
      </p:sp>
      <p:sp>
        <p:nvSpPr>
          <p:cNvPr id="3" name="Text 1"/>
          <p:cNvSpPr/>
          <p:nvPr/>
        </p:nvSpPr>
        <p:spPr>
          <a:xfrm>
            <a:off x="812797" y="2865103"/>
            <a:ext cx="9810750" cy="1488478"/>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E8ECE6"/>
                </a:solidFill>
                <a:latin typeface="Spectral" pitchFamily="18" charset="0"/>
                <a:ea typeface="Spectral" pitchFamily="18" charset="-122"/>
                <a:cs typeface="Spectral" pitchFamily="18" charset="-120"/>
              </a:rPr>
              <a:t>Puoi usare un assistente per scrivere codice, purché tu sappia spiegare ogni riga che mostri e dichiari come l’hai usato.</a:t>
            </a:r>
            <a:endParaRPr lang="en-US" sz="3200" dirty="0"/>
          </a:p>
        </p:txBody>
      </p:sp>
      <p:sp>
        <p:nvSpPr>
          <p:cNvPr id="4" name="Text 2"/>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EE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97" y="812800"/>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Prima delle prossime lezioni</a:t>
            </a:r>
            <a:endParaRPr lang="en-US" sz="3200" dirty="0"/>
          </a:p>
        </p:txBody>
      </p:sp>
      <p:sp>
        <p:nvSpPr>
          <p:cNvPr id="3" name="Shape 1"/>
          <p:cNvSpPr/>
          <p:nvPr/>
        </p:nvSpPr>
        <p:spPr>
          <a:xfrm>
            <a:off x="815972" y="1567793"/>
            <a:ext cx="3380341"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4" name="Text 2"/>
          <p:cNvSpPr/>
          <p:nvPr/>
        </p:nvSpPr>
        <p:spPr>
          <a:xfrm>
            <a:off x="1045997" y="1797819"/>
            <a:ext cx="300789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A685A"/>
                </a:solidFill>
                <a:latin typeface="Atkinson Hyperlegible" pitchFamily="34" charset="0"/>
                <a:ea typeface="Atkinson Hyperlegible" pitchFamily="34" charset="-122"/>
                <a:cs typeface="Atkinson Hyperlegible" pitchFamily="34" charset="-120"/>
              </a:rPr>
              <a:t>Entro la lezione 3</a:t>
            </a:r>
            <a:endParaRPr lang="en-US" sz="1200" dirty="0"/>
          </a:p>
        </p:txBody>
      </p:sp>
      <p:sp>
        <p:nvSpPr>
          <p:cNvPr id="5" name="Text 3"/>
          <p:cNvSpPr/>
          <p:nvPr/>
        </p:nvSpPr>
        <p:spPr>
          <a:xfrm>
            <a:off x="1045997" y="2087290"/>
            <a:ext cx="300789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Visual Studio Code</a:t>
            </a:r>
            <a:endParaRPr lang="en-US" sz="2000" dirty="0"/>
          </a:p>
        </p:txBody>
      </p:sp>
      <p:sp>
        <p:nvSpPr>
          <p:cNvPr id="6" name="Text 4"/>
          <p:cNvSpPr/>
          <p:nvPr/>
        </p:nvSpPr>
        <p:spPr>
          <a:xfrm>
            <a:off x="1045997" y="2455559"/>
            <a:ext cx="3007899" cy="27431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Installa l’editor gratuito.</a:t>
            </a:r>
            <a:endParaRPr lang="en-US" sz="1400" dirty="0"/>
          </a:p>
        </p:txBody>
      </p:sp>
      <p:sp>
        <p:nvSpPr>
          <p:cNvPr id="7" name="Shape 5"/>
          <p:cNvSpPr/>
          <p:nvPr/>
        </p:nvSpPr>
        <p:spPr>
          <a:xfrm>
            <a:off x="4405808" y="1567793"/>
            <a:ext cx="3380341"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8" name="Text 6"/>
          <p:cNvSpPr/>
          <p:nvPr/>
        </p:nvSpPr>
        <p:spPr>
          <a:xfrm>
            <a:off x="4635833" y="1797819"/>
            <a:ext cx="300789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4889"/>
                </a:solidFill>
                <a:latin typeface="Atkinson Hyperlegible" pitchFamily="34" charset="0"/>
                <a:ea typeface="Atkinson Hyperlegible" pitchFamily="34" charset="-122"/>
                <a:cs typeface="Atkinson Hyperlegible" pitchFamily="34" charset="-120"/>
              </a:rPr>
              <a:t>Entro la lezione 5</a:t>
            </a:r>
            <a:endParaRPr lang="en-US" sz="1200" dirty="0"/>
          </a:p>
        </p:txBody>
      </p:sp>
      <p:sp>
        <p:nvSpPr>
          <p:cNvPr id="9" name="Text 7"/>
          <p:cNvSpPr/>
          <p:nvPr/>
        </p:nvSpPr>
        <p:spPr>
          <a:xfrm>
            <a:off x="4635833" y="2087290"/>
            <a:ext cx="300789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Un account GitHub</a:t>
            </a:r>
            <a:endParaRPr lang="en-US" sz="2000" dirty="0"/>
          </a:p>
        </p:txBody>
      </p:sp>
      <p:sp>
        <p:nvSpPr>
          <p:cNvPr id="10" name="Text 8"/>
          <p:cNvSpPr/>
          <p:nvPr/>
        </p:nvSpPr>
        <p:spPr>
          <a:xfrm>
            <a:off x="4635833" y="2455559"/>
            <a:ext cx="3007899"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Scegli un nome utente che potresti mettere in un curriculum: comparirà in tutti i tuoi indirizzi.</a:t>
            </a:r>
            <a:endParaRPr lang="en-US" sz="1400" dirty="0"/>
          </a:p>
        </p:txBody>
      </p:sp>
      <p:sp>
        <p:nvSpPr>
          <p:cNvPr id="11" name="Shape 9"/>
          <p:cNvSpPr/>
          <p:nvPr/>
        </p:nvSpPr>
        <p:spPr>
          <a:xfrm>
            <a:off x="7995644" y="1567793"/>
            <a:ext cx="3380341" cy="1864539"/>
          </a:xfrm>
          <a:prstGeom prst="roundRect">
            <a:avLst>
              <a:gd name="adj" fmla="val 3917"/>
            </a:avLst>
          </a:prstGeom>
          <a:solidFill>
            <a:srgbClr val="F8F9F6"/>
          </a:solidFill>
          <a:ln w="6350">
            <a:solidFill>
              <a:srgbClr val="C6CDC6"/>
            </a:solidFill>
            <a:prstDash val="solid"/>
          </a:ln>
        </p:spPr>
        <p:txBody>
          <a:bodyPr/>
          <a:lstStyle/>
          <a:p>
            <a:endParaRPr lang="it-IT"/>
          </a:p>
        </p:txBody>
      </p:sp>
      <p:sp>
        <p:nvSpPr>
          <p:cNvPr id="12" name="Text 10"/>
          <p:cNvSpPr/>
          <p:nvPr/>
        </p:nvSpPr>
        <p:spPr>
          <a:xfrm>
            <a:off x="8225669" y="1797819"/>
            <a:ext cx="3007899" cy="2386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761A"/>
                </a:solidFill>
                <a:latin typeface="Atkinson Hyperlegible" pitchFamily="34" charset="0"/>
                <a:ea typeface="Atkinson Hyperlegible" pitchFamily="34" charset="-122"/>
                <a:cs typeface="Atkinson Hyperlegible" pitchFamily="34" charset="-120"/>
              </a:rPr>
              <a:t>Durante il modulo 2</a:t>
            </a:r>
            <a:endParaRPr lang="en-US" sz="1200" dirty="0"/>
          </a:p>
        </p:txBody>
      </p:sp>
      <p:sp>
        <p:nvSpPr>
          <p:cNvPr id="13" name="Text 11"/>
          <p:cNvSpPr/>
          <p:nvPr/>
        </p:nvSpPr>
        <p:spPr>
          <a:xfrm>
            <a:off x="8225669" y="2087290"/>
            <a:ext cx="3007899"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Una collezione</a:t>
            </a:r>
            <a:endParaRPr lang="en-US" sz="2000" dirty="0"/>
          </a:p>
        </p:txBody>
      </p:sp>
      <p:sp>
        <p:nvSpPr>
          <p:cNvPr id="14" name="Text 12"/>
          <p:cNvSpPr/>
          <p:nvPr/>
        </p:nvSpPr>
        <p:spPr>
          <a:xfrm>
            <a:off x="8225669" y="2455559"/>
            <a:ext cx="3007899" cy="77214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Comincia a pensare a una raccolta che ti incuriosisce: oggetti e testi da collegare.</a:t>
            </a:r>
            <a:endParaRPr lang="en-US" sz="1400" dirty="0"/>
          </a:p>
        </p:txBody>
      </p:sp>
      <p:sp>
        <p:nvSpPr>
          <p:cNvPr id="15" name="Text 13"/>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6"/>
        </a:solidFill>
        <a:effectLst/>
      </p:bgPr>
    </p:bg>
    <p:spTree>
      <p:nvGrpSpPr>
        <p:cNvPr id="1" name=""/>
        <p:cNvGrpSpPr/>
        <p:nvPr/>
      </p:nvGrpSpPr>
      <p:grpSpPr>
        <a:xfrm>
          <a:off x="0" y="0"/>
          <a:ext cx="0" cy="0"/>
          <a:chOff x="0" y="0"/>
          <a:chExt cx="0" cy="0"/>
        </a:xfrm>
      </p:grpSpPr>
      <p:sp>
        <p:nvSpPr>
          <p:cNvPr id="2" name="Shape 0"/>
          <p:cNvSpPr/>
          <p:nvPr/>
        </p:nvSpPr>
        <p:spPr>
          <a:xfrm>
            <a:off x="0" y="0"/>
            <a:ext cx="152377" cy="6857971"/>
          </a:xfrm>
          <a:prstGeom prst="rect">
            <a:avLst/>
          </a:prstGeom>
          <a:solidFill>
            <a:srgbClr val="A4761A"/>
          </a:solidFill>
          <a:ln/>
        </p:spPr>
        <p:txBody>
          <a:bodyPr/>
          <a:lstStyle/>
          <a:p>
            <a:endParaRPr lang="it-IT"/>
          </a:p>
        </p:txBody>
      </p:sp>
      <p:sp>
        <p:nvSpPr>
          <p:cNvPr id="3" name="Text 1"/>
          <p:cNvSpPr/>
          <p:nvPr/>
        </p:nvSpPr>
        <p:spPr>
          <a:xfrm>
            <a:off x="812797" y="812794"/>
            <a:ext cx="2297168" cy="314820"/>
          </a:xfrm>
          <a:prstGeom prst="roundRect">
            <a:avLst>
              <a:gd name="adj" fmla="val 50000"/>
            </a:avLst>
          </a:prstGeom>
          <a:solidFill>
            <a:srgbClr val="F1D57E"/>
          </a:solidFill>
          <a:ln/>
        </p:spPr>
        <p:txBody>
          <a:bodyPr wrap="none" lIns="0" tIns="0" rIns="0" bIns="0" rtlCol="0" anchor="ctr">
            <a:normAutofit/>
          </a:bodyPr>
          <a:lstStyle/>
          <a:p>
            <a:pPr marL="0" indent="0" algn="ctr">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In aula, in coppia, 35 minuti</a:t>
            </a:r>
            <a:endParaRPr lang="en-US" sz="1200" dirty="0"/>
          </a:p>
        </p:txBody>
      </p:sp>
      <p:sp>
        <p:nvSpPr>
          <p:cNvPr id="4" name="Text 2"/>
          <p:cNvSpPr>
            <a:spLocks noGrp="1"/>
          </p:cNvSpPr>
          <p:nvPr>
            <p:ph type="title"/>
          </p:nvPr>
        </p:nvSpPr>
        <p:spPr>
          <a:xfrm>
            <a:off x="812797" y="1381602"/>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Esplora Scrinium</a:t>
            </a:r>
            <a:endParaRPr lang="en-US" sz="3200" dirty="0"/>
          </a:p>
        </p:txBody>
      </p:sp>
      <p:sp>
        <p:nvSpPr>
          <p:cNvPr id="5" name="Text 3"/>
          <p:cNvSpPr/>
          <p:nvPr/>
        </p:nvSpPr>
        <p:spPr>
          <a:xfrm>
            <a:off x="852644" y="2082651"/>
            <a:ext cx="6262758" cy="2024400"/>
          </a:xfrm>
          <a:prstGeom prst="rect">
            <a:avLst/>
          </a:prstGeom>
          <a:noFill/>
          <a:ln/>
        </p:spPr>
        <p:txBody>
          <a:bodyPr wrap="square" lIns="0" tIns="0" rIns="0" bIns="0" rtlCol="0" anchor="t">
            <a:normAutofit/>
          </a:bodyPr>
          <a:lstStyle/>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Dalla Home seleziona una parola dei versi: dove ti porta?</a:t>
            </a:r>
            <a:endParaRPr lang="en-US" sz="1500" dirty="0"/>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Nel </a:t>
            </a:r>
            <a:r>
              <a:rPr lang="en-US" sz="1500" dirty="0" err="1">
                <a:solidFill>
                  <a:srgbClr val="1D2420"/>
                </a:solidFill>
                <a:latin typeface="Atkinson Hyperlegible" pitchFamily="34" charset="0"/>
                <a:ea typeface="Atkinson Hyperlegible" pitchFamily="34" charset="-122"/>
                <a:cs typeface="Atkinson Hyperlegible" pitchFamily="34" charset="-120"/>
              </a:rPr>
              <a:t>Catalogo</a:t>
            </a:r>
            <a:r>
              <a:rPr lang="en-US" sz="1500" dirty="0">
                <a:solidFill>
                  <a:srgbClr val="1D2420"/>
                </a:solidFill>
                <a:latin typeface="Atkinson Hyperlegible" pitchFamily="34" charset="0"/>
                <a:ea typeface="Atkinson Hyperlegible" pitchFamily="34" charset="-122"/>
                <a:cs typeface="Atkinson Hyperlegible" pitchFamily="34" charset="-120"/>
              </a:rPr>
              <a:t> combina due filtri e guarda come cambiano i numeri.</a:t>
            </a:r>
            <a:endParaRPr lang="en-US" sz="1500" dirty="0"/>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Apri un testo, cerca una parola, </a:t>
            </a:r>
            <a:r>
              <a:rPr lang="en-US" sz="1500" dirty="0" err="1">
                <a:solidFill>
                  <a:srgbClr val="1D2420"/>
                </a:solidFill>
                <a:latin typeface="Atkinson Hyperlegible" pitchFamily="34" charset="0"/>
                <a:ea typeface="Atkinson Hyperlegible" pitchFamily="34" charset="-122"/>
                <a:cs typeface="Atkinson Hyperlegible" pitchFamily="34" charset="-120"/>
              </a:rPr>
              <a:t>guarda</a:t>
            </a:r>
            <a:r>
              <a:rPr lang="en-US" sz="1500" dirty="0">
                <a:solidFill>
                  <a:srgbClr val="1D2420"/>
                </a:solidFill>
                <a:latin typeface="Atkinson Hyperlegible" pitchFamily="34" charset="0"/>
                <a:ea typeface="Atkinson Hyperlegible" pitchFamily="34" charset="-122"/>
                <a:cs typeface="Atkinson Hyperlegible" pitchFamily="34" charset="-120"/>
              </a:rPr>
              <a:t> i </a:t>
            </a:r>
            <a:r>
              <a:rPr lang="en-US" sz="1500" dirty="0" err="1">
                <a:solidFill>
                  <a:srgbClr val="1D2420"/>
                </a:solidFill>
                <a:latin typeface="Atkinson Hyperlegible" pitchFamily="34" charset="0"/>
                <a:ea typeface="Atkinson Hyperlegible" pitchFamily="34" charset="-122"/>
                <a:cs typeface="Atkinson Hyperlegible" pitchFamily="34" charset="-120"/>
              </a:rPr>
              <a:t>collegamenti</a:t>
            </a:r>
            <a:r>
              <a:rPr lang="en-US" sz="1500" dirty="0">
                <a:solidFill>
                  <a:srgbClr val="1D2420"/>
                </a:solidFill>
                <a:latin typeface="Atkinson Hyperlegible" pitchFamily="34" charset="0"/>
                <a:ea typeface="Atkinson Hyperlegible" pitchFamily="34" charset="-122"/>
                <a:cs typeface="Atkinson Hyperlegible" pitchFamily="34" charset="-120"/>
              </a:rPr>
              <a:t>.</a:t>
            </a:r>
            <a:endParaRPr lang="en-US" sz="1500" dirty="0"/>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In </a:t>
            </a:r>
            <a:r>
              <a:rPr lang="en-US" sz="1500" dirty="0" err="1">
                <a:solidFill>
                  <a:srgbClr val="1D2420"/>
                </a:solidFill>
                <a:latin typeface="Atkinson Hyperlegible" pitchFamily="34" charset="0"/>
                <a:ea typeface="Atkinson Hyperlegible" pitchFamily="34" charset="-122"/>
                <a:cs typeface="Atkinson Hyperlegible" pitchFamily="34" charset="-120"/>
              </a:rPr>
              <a:t>Esplora</a:t>
            </a:r>
            <a:r>
              <a:rPr lang="en-US" sz="1500" dirty="0">
                <a:solidFill>
                  <a:srgbClr val="1D2420"/>
                </a:solidFill>
                <a:latin typeface="Atkinson Hyperlegible" pitchFamily="34" charset="0"/>
                <a:ea typeface="Atkinson Hyperlegible" pitchFamily="34" charset="-122"/>
                <a:cs typeface="Atkinson Hyperlegible" pitchFamily="34" charset="-120"/>
              </a:rPr>
              <a:t> </a:t>
            </a:r>
            <a:r>
              <a:rPr lang="en-US" sz="1500" dirty="0" err="1">
                <a:solidFill>
                  <a:srgbClr val="1D2420"/>
                </a:solidFill>
                <a:latin typeface="Atkinson Hyperlegible" pitchFamily="34" charset="0"/>
                <a:ea typeface="Atkinson Hyperlegible" pitchFamily="34" charset="-122"/>
                <a:cs typeface="Atkinson Hyperlegible" pitchFamily="34" charset="-120"/>
              </a:rPr>
              <a:t>naviga</a:t>
            </a:r>
            <a:r>
              <a:rPr lang="en-US" sz="1500" dirty="0">
                <a:solidFill>
                  <a:srgbClr val="1D2420"/>
                </a:solidFill>
                <a:latin typeface="Atkinson Hyperlegible" pitchFamily="34" charset="0"/>
                <a:ea typeface="Atkinson Hyperlegible" pitchFamily="34" charset="-122"/>
                <a:cs typeface="Atkinson Hyperlegible" pitchFamily="34" charset="-120"/>
              </a:rPr>
              <a:t> tutti i </a:t>
            </a:r>
            <a:r>
              <a:rPr lang="en-US" sz="1500" dirty="0" err="1">
                <a:solidFill>
                  <a:srgbClr val="1D2420"/>
                </a:solidFill>
                <a:latin typeface="Atkinson Hyperlegible" pitchFamily="34" charset="0"/>
                <a:ea typeface="Atkinson Hyperlegible" pitchFamily="34" charset="-122"/>
                <a:cs typeface="Atkinson Hyperlegible" pitchFamily="34" charset="-120"/>
              </a:rPr>
              <a:t>servizi</a:t>
            </a:r>
            <a:r>
              <a:rPr lang="en-US" sz="1500" dirty="0">
                <a:solidFill>
                  <a:srgbClr val="1D2420"/>
                </a:solidFill>
                <a:latin typeface="Atkinson Hyperlegible" pitchFamily="34" charset="0"/>
                <a:ea typeface="Atkinson Hyperlegible" pitchFamily="34" charset="-122"/>
                <a:cs typeface="Atkinson Hyperlegible" pitchFamily="34" charset="-120"/>
              </a:rPr>
              <a:t> </a:t>
            </a:r>
            <a:r>
              <a:rPr lang="en-US" sz="1500" dirty="0" err="1">
                <a:solidFill>
                  <a:srgbClr val="1D2420"/>
                </a:solidFill>
                <a:latin typeface="Atkinson Hyperlegible" pitchFamily="34" charset="0"/>
                <a:ea typeface="Atkinson Hyperlegible" pitchFamily="34" charset="-122"/>
                <a:cs typeface="Atkinson Hyperlegible" pitchFamily="34" charset="-120"/>
              </a:rPr>
              <a:t>offerti</a:t>
            </a:r>
            <a:r>
              <a:rPr lang="en-US" sz="1500" dirty="0">
                <a:solidFill>
                  <a:srgbClr val="1D2420"/>
                </a:solidFill>
                <a:latin typeface="Atkinson Hyperlegible" pitchFamily="34" charset="0"/>
                <a:ea typeface="Atkinson Hyperlegible" pitchFamily="34" charset="-122"/>
                <a:cs typeface="Atkinson Hyperlegible" pitchFamily="34" charset="-120"/>
              </a:rPr>
              <a:t>.</a:t>
            </a:r>
          </a:p>
          <a:p>
            <a:pPr marL="214153" indent="-214153" algn="l">
              <a:lnSpc>
                <a:spcPts val="2175"/>
              </a:lnSpc>
              <a:buSzPct val="100000"/>
              <a:buFontTx/>
              <a:buAutoNum type="arabicPeriod"/>
            </a:pPr>
            <a:r>
              <a:rPr lang="en-US" sz="1500" dirty="0"/>
              <a:t>In </a:t>
            </a:r>
            <a:r>
              <a:rPr lang="en-US" sz="1500" dirty="0" err="1"/>
              <a:t>Contribuisci</a:t>
            </a:r>
            <a:r>
              <a:rPr lang="en-US" sz="1500" dirty="0"/>
              <a:t>, </a:t>
            </a:r>
            <a:r>
              <a:rPr lang="en-US" sz="1500" dirty="0" err="1"/>
              <a:t>prova</a:t>
            </a:r>
            <a:r>
              <a:rPr lang="en-US" sz="1500" dirty="0"/>
              <a:t> ad </a:t>
            </a:r>
            <a:r>
              <a:rPr lang="en-US" sz="1500" dirty="0" err="1"/>
              <a:t>inserire</a:t>
            </a:r>
            <a:r>
              <a:rPr lang="en-US" sz="1500" dirty="0"/>
              <a:t> </a:t>
            </a:r>
            <a:r>
              <a:rPr lang="en-US" sz="1500" dirty="0" err="1"/>
              <a:t>dati</a:t>
            </a:r>
            <a:r>
              <a:rPr lang="en-US" sz="1500" dirty="0"/>
              <a:t> di fantasia</a:t>
            </a:r>
          </a:p>
          <a:p>
            <a:pPr marL="214153" indent="-214153" algn="l">
              <a:lnSpc>
                <a:spcPts val="2175"/>
              </a:lnSpc>
              <a:buSzPct val="100000"/>
              <a:buFontTx/>
              <a:buAutoNum type="arabicPeriod"/>
            </a:pPr>
            <a:r>
              <a:rPr lang="en-US" sz="1500" dirty="0">
                <a:solidFill>
                  <a:srgbClr val="1D2420"/>
                </a:solidFill>
                <a:latin typeface="Atkinson Hyperlegible" pitchFamily="34" charset="0"/>
                <a:ea typeface="Atkinson Hyperlegible" pitchFamily="34" charset="-122"/>
                <a:cs typeface="Atkinson Hyperlegible" pitchFamily="34" charset="-120"/>
              </a:rPr>
              <a:t>Scrivi tre cose che vorresti saper fare alla fine del corso.</a:t>
            </a:r>
            <a:endParaRPr lang="en-US" sz="1500" dirty="0"/>
          </a:p>
        </p:txBody>
      </p:sp>
      <p:sp>
        <p:nvSpPr>
          <p:cNvPr id="6" name="Shape 4"/>
          <p:cNvSpPr/>
          <p:nvPr/>
        </p:nvSpPr>
        <p:spPr>
          <a:xfrm>
            <a:off x="7297998" y="2085826"/>
            <a:ext cx="4077986" cy="1575067"/>
          </a:xfrm>
          <a:prstGeom prst="roundRect">
            <a:avLst>
              <a:gd name="adj" fmla="val 4636"/>
            </a:avLst>
          </a:prstGeom>
          <a:solidFill>
            <a:srgbClr val="ECEEE9"/>
          </a:solidFill>
          <a:ln w="6350">
            <a:solidFill>
              <a:srgbClr val="C6CDC6"/>
            </a:solidFill>
            <a:prstDash val="solid"/>
          </a:ln>
        </p:spPr>
        <p:txBody>
          <a:bodyPr/>
          <a:lstStyle/>
          <a:p>
            <a:endParaRPr lang="it-IT"/>
          </a:p>
        </p:txBody>
      </p:sp>
      <p:sp>
        <p:nvSpPr>
          <p:cNvPr id="7" name="Text 5"/>
          <p:cNvSpPr/>
          <p:nvPr/>
        </p:nvSpPr>
        <p:spPr>
          <a:xfrm>
            <a:off x="7528023" y="2315852"/>
            <a:ext cx="3726474" cy="31748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D2420"/>
                </a:solidFill>
                <a:latin typeface="Spectral" pitchFamily="18" charset="0"/>
                <a:ea typeface="Spectral" pitchFamily="18" charset="-122"/>
                <a:cs typeface="Spectral" pitchFamily="18" charset="-120"/>
              </a:rPr>
              <a:t>Risultato atteso</a:t>
            </a:r>
            <a:endParaRPr lang="en-US" sz="2000" dirty="0"/>
          </a:p>
        </p:txBody>
      </p:sp>
      <p:sp>
        <p:nvSpPr>
          <p:cNvPr id="8" name="Text 6"/>
          <p:cNvSpPr/>
          <p:nvPr/>
        </p:nvSpPr>
        <p:spPr>
          <a:xfrm>
            <a:off x="7528023" y="2684115"/>
            <a:ext cx="3726474" cy="772148"/>
          </a:xfrm>
          <a:prstGeom prst="rect">
            <a:avLst/>
          </a:prstGeom>
          <a:noFill/>
          <a:ln/>
        </p:spPr>
        <p:txBody>
          <a:bodyPr wrap="square" lIns="0" tIns="0" rIns="0" bIns="0" rtlCol="0" anchor="t">
            <a:normAutofit fontScale="92500"/>
          </a:bodyPr>
          <a:lstStyle/>
          <a:p>
            <a:pPr marL="0" indent="0" algn="l">
              <a:lnSpc>
                <a:spcPts val="1960"/>
              </a:lnSpc>
              <a:buNone/>
            </a:pPr>
            <a:r>
              <a:rPr lang="en-US" sz="1400" dirty="0">
                <a:solidFill>
                  <a:srgbClr val="56605B"/>
                </a:solidFill>
                <a:latin typeface="Atkinson Hyperlegible" pitchFamily="34" charset="0"/>
                <a:ea typeface="Atkinson Hyperlegible" pitchFamily="34" charset="-122"/>
                <a:cs typeface="Atkinson Hyperlegible" pitchFamily="34" charset="-120"/>
              </a:rPr>
              <a:t>Un elenco di desideri: lo riprenderemo all’ultima lezione per vedere quanti si sono </a:t>
            </a:r>
            <a:r>
              <a:rPr lang="en-US" sz="1400" dirty="0" err="1">
                <a:solidFill>
                  <a:srgbClr val="56605B"/>
                </a:solidFill>
                <a:latin typeface="Atkinson Hyperlegible" pitchFamily="34" charset="0"/>
                <a:ea typeface="Atkinson Hyperlegible" pitchFamily="34" charset="-122"/>
                <a:cs typeface="Atkinson Hyperlegible" pitchFamily="34" charset="-120"/>
              </a:rPr>
              <a:t>realizzati</a:t>
            </a:r>
            <a:r>
              <a:rPr lang="en-US" sz="1400" dirty="0">
                <a:solidFill>
                  <a:srgbClr val="56605B"/>
                </a:solidFill>
                <a:latin typeface="Atkinson Hyperlegible" pitchFamily="34" charset="0"/>
                <a:ea typeface="Atkinson Hyperlegible" pitchFamily="34" charset="-122"/>
                <a:cs typeface="Atkinson Hyperlegible" pitchFamily="34" charset="-120"/>
              </a:rPr>
              <a:t>. Lo </a:t>
            </a:r>
            <a:r>
              <a:rPr lang="en-US" sz="1400" dirty="0" err="1">
                <a:solidFill>
                  <a:srgbClr val="56605B"/>
                </a:solidFill>
                <a:latin typeface="Atkinson Hyperlegible" pitchFamily="34" charset="0"/>
                <a:ea typeface="Atkinson Hyperlegible" pitchFamily="34" charset="-122"/>
                <a:cs typeface="Atkinson Hyperlegible" pitchFamily="34" charset="-120"/>
              </a:rPr>
              <a:t>inseriamo</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nel</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diaro</a:t>
            </a:r>
            <a:r>
              <a:rPr lang="en-US" sz="1400" dirty="0">
                <a:solidFill>
                  <a:srgbClr val="56605B"/>
                </a:solidFill>
                <a:latin typeface="Atkinson Hyperlegible" pitchFamily="34" charset="0"/>
                <a:ea typeface="Atkinson Hyperlegible" pitchFamily="34" charset="-122"/>
                <a:cs typeface="Atkinson Hyperlegible" pitchFamily="34" charset="-120"/>
              </a:rPr>
              <a:t> (</a:t>
            </a:r>
            <a:r>
              <a:rPr lang="en-US" sz="1400" dirty="0" err="1">
                <a:solidFill>
                  <a:srgbClr val="56605B"/>
                </a:solidFill>
                <a:latin typeface="Atkinson Hyperlegible" pitchFamily="34" charset="0"/>
                <a:ea typeface="Atkinson Hyperlegible" pitchFamily="34" charset="-122"/>
                <a:cs typeface="Atkinson Hyperlegible" pitchFamily="34" charset="-120"/>
              </a:rPr>
              <a:t>cfr</a:t>
            </a:r>
            <a:r>
              <a:rPr lang="en-US" sz="1400" dirty="0">
                <a:solidFill>
                  <a:srgbClr val="56605B"/>
                </a:solidFill>
                <a:latin typeface="Atkinson Hyperlegible" pitchFamily="34" charset="0"/>
                <a:ea typeface="Atkinson Hyperlegible" pitchFamily="34" charset="-122"/>
                <a:cs typeface="Atkinson Hyperlegible" pitchFamily="34" charset="-120"/>
              </a:rPr>
              <a:t>. slide </a:t>
            </a:r>
            <a:r>
              <a:rPr lang="en-US" sz="1400" dirty="0" err="1">
                <a:solidFill>
                  <a:srgbClr val="56605B"/>
                </a:solidFill>
                <a:latin typeface="Atkinson Hyperlegible" pitchFamily="34" charset="0"/>
                <a:ea typeface="Atkinson Hyperlegible" pitchFamily="34" charset="-122"/>
                <a:cs typeface="Atkinson Hyperlegible" pitchFamily="34" charset="-120"/>
              </a:rPr>
              <a:t>successiva</a:t>
            </a:r>
            <a:r>
              <a:rPr lang="en-US" sz="1400" dirty="0">
                <a:solidFill>
                  <a:srgbClr val="56605B"/>
                </a:solidFill>
                <a:latin typeface="Atkinson Hyperlegible" pitchFamily="34" charset="0"/>
                <a:ea typeface="Atkinson Hyperlegible" pitchFamily="34" charset="-122"/>
                <a:cs typeface="Atkinson Hyperlegible" pitchFamily="34" charset="-120"/>
              </a:rPr>
              <a:t>)</a:t>
            </a:r>
            <a:endParaRPr lang="en-US" sz="1400" dirty="0"/>
          </a:p>
        </p:txBody>
      </p:sp>
      <p:sp>
        <p:nvSpPr>
          <p:cNvPr id="9" name="Text 7"/>
          <p:cNvSpPr/>
          <p:nvPr/>
        </p:nvSpPr>
        <p:spPr>
          <a:xfrm>
            <a:off x="812797" y="6238323"/>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6"/>
        </a:solidFill>
        <a:effectLst/>
      </p:bgPr>
    </p:bg>
    <p:spTree>
      <p:nvGrpSpPr>
        <p:cNvPr id="1" name=""/>
        <p:cNvGrpSpPr/>
        <p:nvPr/>
      </p:nvGrpSpPr>
      <p:grpSpPr>
        <a:xfrm>
          <a:off x="0" y="0"/>
          <a:ext cx="0" cy="0"/>
          <a:chOff x="0" y="0"/>
          <a:chExt cx="0" cy="0"/>
        </a:xfrm>
      </p:grpSpPr>
      <p:sp>
        <p:nvSpPr>
          <p:cNvPr id="2" name="Shape 0"/>
          <p:cNvSpPr/>
          <p:nvPr/>
        </p:nvSpPr>
        <p:spPr>
          <a:xfrm>
            <a:off x="0" y="0"/>
            <a:ext cx="152377" cy="6857971"/>
          </a:xfrm>
          <a:prstGeom prst="rect">
            <a:avLst/>
          </a:prstGeom>
          <a:solidFill>
            <a:srgbClr val="2A685A"/>
          </a:solidFill>
          <a:ln/>
        </p:spPr>
        <p:txBody>
          <a:bodyPr/>
          <a:lstStyle/>
          <a:p>
            <a:endParaRPr lang="it-IT"/>
          </a:p>
        </p:txBody>
      </p:sp>
      <p:sp>
        <p:nvSpPr>
          <p:cNvPr id="3" name="Text 1"/>
          <p:cNvSpPr/>
          <p:nvPr/>
        </p:nvSpPr>
        <p:spPr>
          <a:xfrm>
            <a:off x="812797" y="812794"/>
            <a:ext cx="2224817" cy="314820"/>
          </a:xfrm>
          <a:prstGeom prst="roundRect">
            <a:avLst>
              <a:gd name="adj" fmla="val 50000"/>
            </a:avLst>
          </a:prstGeom>
          <a:solidFill>
            <a:srgbClr val="D7E6E0"/>
          </a:solidFill>
          <a:ln/>
        </p:spPr>
        <p:txBody>
          <a:bodyPr wrap="none" lIns="0" tIns="0" rIns="0" bIns="0" rtlCol="0" anchor="ctr">
            <a:normAutofit/>
          </a:bodyPr>
          <a:lstStyle/>
          <a:p>
            <a:pPr marL="0" indent="0" algn="ctr">
              <a:lnSpc>
                <a:spcPts val="1680"/>
              </a:lnSpc>
              <a:buNone/>
            </a:pPr>
            <a:r>
              <a:rPr lang="en-US" sz="1200" b="1" dirty="0">
                <a:solidFill>
                  <a:srgbClr val="1D2420"/>
                </a:solidFill>
                <a:latin typeface="Atkinson Hyperlegible" pitchFamily="34" charset="0"/>
                <a:ea typeface="Atkinson Hyperlegible" pitchFamily="34" charset="-122"/>
                <a:cs typeface="Atkinson Hyperlegible" pitchFamily="34" charset="-120"/>
              </a:rPr>
              <a:t>Diario di progetto, 5 minuti</a:t>
            </a:r>
            <a:endParaRPr lang="en-US" sz="1200" dirty="0"/>
          </a:p>
        </p:txBody>
      </p:sp>
      <p:sp>
        <p:nvSpPr>
          <p:cNvPr id="4" name="Text 2"/>
          <p:cNvSpPr>
            <a:spLocks noGrp="1"/>
          </p:cNvSpPr>
          <p:nvPr>
            <p:ph type="title"/>
          </p:nvPr>
        </p:nvSpPr>
        <p:spPr>
          <a:xfrm>
            <a:off x="812797" y="1381596"/>
            <a:ext cx="10883353" cy="47246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2420"/>
                </a:solidFill>
                <a:latin typeface="Spectral" pitchFamily="18" charset="0"/>
                <a:ea typeface="Spectral" pitchFamily="18" charset="-122"/>
                <a:cs typeface="Spectral" pitchFamily="18" charset="-120"/>
              </a:rPr>
              <a:t>Che cosa hai deciso oggi, e perché?</a:t>
            </a:r>
            <a:endParaRPr lang="en-US" sz="3200" dirty="0"/>
          </a:p>
        </p:txBody>
      </p:sp>
      <p:sp>
        <p:nvSpPr>
          <p:cNvPr id="5" name="Text 3"/>
          <p:cNvSpPr/>
          <p:nvPr/>
        </p:nvSpPr>
        <p:spPr>
          <a:xfrm>
            <a:off x="812797" y="2082651"/>
            <a:ext cx="9156700" cy="368248"/>
          </a:xfrm>
          <a:prstGeom prst="rect">
            <a:avLst/>
          </a:prstGeom>
          <a:noFill/>
          <a:ln/>
        </p:spPr>
        <p:txBody>
          <a:bodyPr wrap="square" lIns="0" tIns="0" rIns="0" bIns="0" rtlCol="0" anchor="t">
            <a:normAutofit/>
          </a:bodyPr>
          <a:lstStyle/>
          <a:p>
            <a:pPr marL="0" indent="0" algn="l">
              <a:lnSpc>
                <a:spcPts val="2700"/>
              </a:lnSpc>
              <a:buNone/>
            </a:pPr>
            <a:r>
              <a:rPr lang="en-US" sz="2000" i="1" dirty="0">
                <a:solidFill>
                  <a:srgbClr val="1D2420"/>
                </a:solidFill>
                <a:latin typeface="Spectral" pitchFamily="18" charset="0"/>
                <a:ea typeface="Spectral" pitchFamily="18" charset="-122"/>
                <a:cs typeface="Spectral" pitchFamily="18" charset="-120"/>
              </a:rPr>
              <a:t>Prima riga del diario: che cosa ti aspetti da questo corso?</a:t>
            </a:r>
            <a:endParaRPr lang="en-US" sz="2000" dirty="0"/>
          </a:p>
        </p:txBody>
      </p:sp>
      <p:sp>
        <p:nvSpPr>
          <p:cNvPr id="6" name="Text 4"/>
          <p:cNvSpPr/>
          <p:nvPr/>
        </p:nvSpPr>
        <p:spPr>
          <a:xfrm>
            <a:off x="812797" y="2679489"/>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Scrivi una riga nel file </a:t>
            </a:r>
            <a:r>
              <a:rPr lang="en-US" sz="1600" b="1" dirty="0">
                <a:solidFill>
                  <a:srgbClr val="56605B"/>
                </a:solidFill>
                <a:latin typeface="Atkinson Hyperlegible" pitchFamily="34" charset="0"/>
                <a:ea typeface="Atkinson Hyperlegible" pitchFamily="34" charset="-122"/>
                <a:cs typeface="Atkinson Hyperlegible" pitchFamily="34" charset="-120"/>
              </a:rPr>
              <a:t>diario.md</a:t>
            </a:r>
            <a:r>
              <a:rPr lang="en-US" sz="1600" dirty="0">
                <a:solidFill>
                  <a:srgbClr val="56605B"/>
                </a:solidFill>
                <a:latin typeface="Atkinson Hyperlegible" pitchFamily="34" charset="0"/>
                <a:ea typeface="Atkinson Hyperlegible" pitchFamily="34" charset="-122"/>
                <a:cs typeface="Atkinson Hyperlegible" pitchFamily="34" charset="-120"/>
              </a:rPr>
              <a:t>: data, lezione, decisione, motivo.</a:t>
            </a:r>
            <a:endParaRPr lang="en-US" sz="1600" dirty="0"/>
          </a:p>
        </p:txBody>
      </p:sp>
      <p:sp>
        <p:nvSpPr>
          <p:cNvPr id="7" name="Text 5"/>
          <p:cNvSpPr/>
          <p:nvPr/>
        </p:nvSpPr>
        <p:spPr>
          <a:xfrm>
            <a:off x="812797" y="6238329"/>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B"/>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
        <p:nvSpPr>
          <p:cNvPr id="8" name="Text 6"/>
          <p:cNvSpPr/>
          <p:nvPr/>
        </p:nvSpPr>
        <p:spPr>
          <a:xfrm>
            <a:off x="812797" y="2679626"/>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Scrivi una riga nel file </a:t>
            </a:r>
            <a:r>
              <a:rPr lang="en-US" sz="1600" b="1" dirty="0">
                <a:solidFill>
                  <a:srgbClr val="56605B"/>
                </a:solidFill>
                <a:latin typeface="Atkinson Hyperlegible" pitchFamily="34" charset="0"/>
                <a:ea typeface="Atkinson Hyperlegible" pitchFamily="34" charset="-122"/>
                <a:cs typeface="Atkinson Hyperlegible" pitchFamily="34" charset="-120"/>
              </a:rPr>
              <a:t>diario.md</a:t>
            </a:r>
            <a:r>
              <a:rPr lang="en-US" sz="1600" dirty="0">
                <a:solidFill>
                  <a:srgbClr val="56605B"/>
                </a:solidFill>
                <a:latin typeface="Atkinson Hyperlegible" pitchFamily="34" charset="0"/>
                <a:ea typeface="Atkinson Hyperlegible" pitchFamily="34" charset="-122"/>
                <a:cs typeface="Atkinson Hyperlegible" pitchFamily="34" charset="-120"/>
              </a:rPr>
              <a:t>: data, lezione, decisione, motivo.</a:t>
            </a:r>
            <a:endParaRPr lang="en-US" sz="1600" dirty="0"/>
          </a:p>
        </p:txBody>
      </p:sp>
      <p:sp>
        <p:nvSpPr>
          <p:cNvPr id="9" name="Text 7"/>
          <p:cNvSpPr/>
          <p:nvPr/>
        </p:nvSpPr>
        <p:spPr>
          <a:xfrm>
            <a:off x="812761" y="4041676"/>
            <a:ext cx="10883353" cy="30987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6605B"/>
                </a:solidFill>
                <a:latin typeface="Atkinson Hyperlegible" pitchFamily="34" charset="0"/>
                <a:ea typeface="Atkinson Hyperlegible" pitchFamily="34" charset="-122"/>
                <a:cs typeface="Atkinson Hyperlegible" pitchFamily="34" charset="-120"/>
              </a:rPr>
              <a:t>md sta per Markdown. Brevi cenni da </a:t>
            </a:r>
            <a:r>
              <a:rPr lang="en-US" sz="1600" u="sng" dirty="0">
                <a:solidFill>
                  <a:srgbClr val="56605B"/>
                </a:solidFill>
                <a:latin typeface="Atkinson Hyperlegible" pitchFamily="34" charset="0"/>
                <a:ea typeface="Atkinson Hyperlegible" pitchFamily="34" charset="-122"/>
                <a:cs typeface="Atkinson Hyperlegible" pitchFamily="34" charset="-120"/>
                <a:hlinkClick r:id="rId3">
                  <a:extLst>
                    <a:ext uri="{A12FA001-AC4F-418D-AE19-62706E023703}">
                      <ahyp:hlinkClr xmlns:ahyp="http://schemas.microsoft.com/office/drawing/2018/hyperlinkcolor" val="tx"/>
                    </a:ext>
                  </a:extLst>
                </a:hlinkClick>
              </a:rPr>
              <a:t>Wikipedia</a:t>
            </a:r>
            <a:r>
              <a:rPr lang="en-US" sz="1600" dirty="0">
                <a:solidFill>
                  <a:srgbClr val="56605B"/>
                </a:solidFill>
                <a:latin typeface="Atkinson Hyperlegible" pitchFamily="34" charset="0"/>
                <a:ea typeface="Atkinson Hyperlegible" pitchFamily="34" charset="-122"/>
                <a:cs typeface="Atkinson Hyperlegible" pitchFamily="34" charset="-120"/>
              </a:rPr>
              <a:t> </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D2420"/>
        </a:solidFill>
        <a:effectLst/>
      </p:bgPr>
    </p:bg>
    <p:spTree>
      <p:nvGrpSpPr>
        <p:cNvPr id="1" name=""/>
        <p:cNvGrpSpPr/>
        <p:nvPr/>
      </p:nvGrpSpPr>
      <p:grpSpPr>
        <a:xfrm>
          <a:off x="0" y="0"/>
          <a:ext cx="0" cy="0"/>
          <a:chOff x="0" y="0"/>
          <a:chExt cx="0" cy="0"/>
        </a:xfrm>
      </p:grpSpPr>
      <p:sp>
        <p:nvSpPr>
          <p:cNvPr id="2" name="Text 0"/>
          <p:cNvSpPr/>
          <p:nvPr/>
        </p:nvSpPr>
        <p:spPr>
          <a:xfrm>
            <a:off x="812797" y="2570485"/>
            <a:ext cx="10883353" cy="309875"/>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1D57E"/>
                </a:solidFill>
                <a:latin typeface="Atkinson Hyperlegible" pitchFamily="34" charset="0"/>
                <a:ea typeface="Atkinson Hyperlegible" pitchFamily="34" charset="-122"/>
                <a:cs typeface="Atkinson Hyperlegible" pitchFamily="34" charset="-120"/>
              </a:rPr>
              <a:t>Prossima lezione</a:t>
            </a:r>
            <a:endParaRPr lang="en-US" sz="1600" dirty="0"/>
          </a:p>
        </p:txBody>
      </p:sp>
      <p:sp>
        <p:nvSpPr>
          <p:cNvPr id="3" name="Text 1"/>
          <p:cNvSpPr/>
          <p:nvPr/>
        </p:nvSpPr>
        <p:spPr>
          <a:xfrm>
            <a:off x="812797" y="3108945"/>
            <a:ext cx="9810750" cy="1000786"/>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E8ECE6"/>
                </a:solidFill>
                <a:latin typeface="Spectral" pitchFamily="18" charset="0"/>
                <a:ea typeface="Spectral" pitchFamily="18" charset="-122"/>
                <a:cs typeface="Spectral" pitchFamily="18" charset="-120"/>
              </a:rPr>
              <a:t>Che cos’è l’informatica umanistica: due direzioni, una storia, i linguaggi, i progetti che esistono già.</a:t>
            </a:r>
            <a:endParaRPr lang="en-US" sz="3200" dirty="0"/>
          </a:p>
        </p:txBody>
      </p:sp>
      <p:sp>
        <p:nvSpPr>
          <p:cNvPr id="4" name="Text 2"/>
          <p:cNvSpPr/>
          <p:nvPr/>
        </p:nvSpPr>
        <p:spPr>
          <a:xfrm>
            <a:off x="812797" y="6238317"/>
            <a:ext cx="10883353" cy="23868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3AD"/>
                </a:solidFill>
                <a:latin typeface="Atkinson Hyperlegible" pitchFamily="34" charset="0"/>
                <a:ea typeface="Atkinson Hyperlegible" pitchFamily="34" charset="-122"/>
                <a:cs typeface="Atkinson Hyperlegible" pitchFamily="34" charset="-120"/>
              </a:rPr>
              <a:t>Lezione 1: presentazione del corso</a:t>
            </a:r>
            <a:endParaRPr lang="en-US" sz="1200" dirty="0"/>
          </a:p>
        </p:txBody>
      </p:sp>
    </p:spTree>
  </p:cSld>
  <p:clrMapOvr>
    <a:masterClrMapping/>
  </p:clrMapOvr>
</p:sld>
</file>

<file path=ppt/theme/theme1.xml><?xml version="1.0" encoding="utf-8"?>
<a:theme xmlns:a="http://schemas.openxmlformats.org/drawingml/2006/main" name="Lezione 1. Presentazione del corso">
  <a:themeElements>
    <a:clrScheme name="Lezione 1. Presentazione del corso">
      <a:dk1>
        <a:srgbClr val="1D2420"/>
      </a:dk1>
      <a:lt1>
        <a:srgbClr val="ECEEE9"/>
      </a:lt1>
      <a:dk2>
        <a:srgbClr val="515752"/>
      </a:dk2>
      <a:lt2>
        <a:srgbClr val="D7DAD5"/>
      </a:lt2>
      <a:accent1>
        <a:srgbClr val="2A685A"/>
      </a:accent1>
      <a:accent2>
        <a:srgbClr val="A4761A"/>
      </a:accent2>
      <a:accent3>
        <a:srgbClr val="2D4889"/>
      </a:accent3>
      <a:accent4>
        <a:srgbClr val="F1D57E"/>
      </a:accent4>
      <a:accent5>
        <a:srgbClr val="7A560E"/>
      </a:accent5>
      <a:accent6>
        <a:srgbClr val="56605B"/>
      </a:accent6>
      <a:hlink>
        <a:srgbClr val="0563C1"/>
      </a:hlink>
      <a:folHlink>
        <a:srgbClr val="954F72"/>
      </a:folHlink>
    </a:clrScheme>
    <a:fontScheme name="Lezione 1. Presentazione del corso">
      <a:majorFont>
        <a:latin typeface="Spectr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tkinson Hyperlegi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1570</Words>
  <Application>Microsoft Office PowerPoint</Application>
  <PresentationFormat>Widescreen</PresentationFormat>
  <Paragraphs>255</Paragraphs>
  <Slides>17</Slides>
  <Notes>17</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17</vt:i4>
      </vt:variant>
    </vt:vector>
  </HeadingPairs>
  <TitlesOfParts>
    <vt:vector size="21" baseType="lpstr">
      <vt:lpstr>Spectral</vt:lpstr>
      <vt:lpstr>Atkinson Hyperlegible</vt:lpstr>
      <vt:lpstr>Arial</vt:lpstr>
      <vt:lpstr>Lezione 1. Presentazione del corso</vt:lpstr>
      <vt:lpstr>Presentazione del corso</vt:lpstr>
      <vt:lpstr>Presentazione standard di PowerPoint</vt:lpstr>
      <vt:lpstr>Che cosa saprai fare alla fine</vt:lpstr>
      <vt:lpstr>Presentazione standard di PowerPoint</vt:lpstr>
      <vt:lpstr>Cinque parti, quindici lezioni</vt:lpstr>
      <vt:lpstr>Il calendario</vt:lpstr>
      <vt:lpstr>Com’è fatta una lezione</vt:lpstr>
      <vt:lpstr>Scrinium: il modello del corso</vt:lpstr>
      <vt:lpstr>I materiali</vt:lpstr>
      <vt:lpstr>Due percorsi per il progetto finale</vt:lpstr>
      <vt:lpstr>L’esame: cosa fare a casa e cosa portare all’orale</vt:lpstr>
      <vt:lpstr>Come si valuta</vt:lpstr>
      <vt:lpstr>Presentazione standard di PowerPoint</vt:lpstr>
      <vt:lpstr>Prima delle prossime lezioni</vt:lpstr>
      <vt:lpstr>Esplora Scrinium</vt:lpstr>
      <vt:lpstr>Che cosa hai deciso oggi, e perché?</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Lezione 1. Presentazione del corso</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Atkinson Hyperlegible
Copyright 2020 Braille Institute of America, Inc.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Spectral
Copyright 2017 The Spectral Project Authors (https://github.com/productiontype/Spectral)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Francesca Tomasi</cp:lastModifiedBy>
  <cp:revision>2</cp:revision>
  <dcterms:created xsi:type="dcterms:W3CDTF">2026-10-27T11:28:33Z</dcterms:created>
  <dcterms:modified xsi:type="dcterms:W3CDTF">2026-10-27T14:25:51Z</dcterms:modified>
</cp:coreProperties>
</file>